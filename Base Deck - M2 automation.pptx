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  <p:sldMasterId id="2147483662" r:id="rId2"/>
  </p:sldMasterIdLst>
  <p:notesMasterIdLst>
    <p:notesMasterId r:id="rId4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329" r:id="rId35"/>
    <p:sldId id="330" r:id="rId36"/>
    <p:sldId id="331" r:id="rId37"/>
    <p:sldId id="332" r:id="rId38"/>
    <p:sldId id="333" r:id="rId39"/>
    <p:sldId id="298" r:id="rId40"/>
    <p:sldId id="299" r:id="rId41"/>
  </p:sldIdLst>
  <p:sldSz cx="9144000" cy="5143500" type="screen16x9"/>
  <p:notesSz cx="6858000" cy="9144000"/>
  <p:embeddedFontLst>
    <p:embeddedFont>
      <p:font typeface="DM Sans" pitchFamily="2" charset="0"/>
      <p:regular r:id="rId43"/>
      <p:bold r:id="rId44"/>
      <p:italic r:id="rId45"/>
      <p:boldItalic r:id="rId46"/>
    </p:embeddedFont>
    <p:embeddedFont>
      <p:font typeface="IBM Plex Sans" panose="020B0503050203000203" pitchFamily="34" charset="0"/>
      <p:regular r:id="rId47"/>
      <p:bold r:id="rId48"/>
      <p:italic r:id="rId49"/>
      <p:boldItalic r:id="rId50"/>
    </p:embeddedFont>
    <p:embeddedFont>
      <p:font typeface="IBM Plex Sans Light" panose="020B0403050203000203" pitchFamily="34" charset="0"/>
      <p:regular r:id="rId51"/>
      <p:bold r:id="rId52"/>
      <p:italic r:id="rId53"/>
      <p:boldItalic r:id="rId54"/>
    </p:embeddedFont>
    <p:embeddedFont>
      <p:font typeface="IBM Plex Sans Medium" panose="020B0603050203000203" pitchFamily="34" charset="0"/>
      <p:regular r:id="rId55"/>
      <p:bold r:id="rId56"/>
      <p:italic r:id="rId57"/>
      <p:boldItalic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814604F-D367-480A-A2B5-85DE3EB964CA}">
  <a:tblStyle styleId="{E814604F-D367-480A-A2B5-85DE3EB964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EABC32E-16CD-4B5A-B3C5-FD2C3B43ADC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2" d="100"/>
          <a:sy n="202" d="100"/>
        </p:scale>
        <p:origin x="620" y="1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font" Target="fonts/font13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58" Type="http://schemas.openxmlformats.org/officeDocument/2006/relationships/font" Target="fonts/font16.fntdata"/><Relationship Id="rId5" Type="http://schemas.openxmlformats.org/officeDocument/2006/relationships/slide" Target="slides/slide3.xml"/><Relationship Id="rId61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font" Target="fonts/font14.fntdata"/><Relationship Id="rId8" Type="http://schemas.openxmlformats.org/officeDocument/2006/relationships/slide" Target="slides/slide6.xml"/><Relationship Id="rId51" Type="http://schemas.openxmlformats.org/officeDocument/2006/relationships/font" Target="fonts/font9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4.fntdata"/><Relationship Id="rId59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12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7.fntdata"/><Relationship Id="rId57" Type="http://schemas.openxmlformats.org/officeDocument/2006/relationships/font" Target="fonts/font15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font" Target="fonts/font2.fntdata"/><Relationship Id="rId52" Type="http://schemas.openxmlformats.org/officeDocument/2006/relationships/font" Target="fonts/font10.fntdata"/><Relationship Id="rId6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6452823a3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3a6452823a3_2_2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g3a6452823a3_2_2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748d09f7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g3a748d09f70_0_0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g3a748d09f70_0_0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6452823a3_2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a6452823a3_2_43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Current Age - 48</a:t>
            </a:r>
            <a:endParaRPr dirty="0"/>
          </a:p>
        </p:txBody>
      </p:sp>
      <p:sp>
        <p:nvSpPr>
          <p:cNvPr id="106" name="Google Shape;106;g3a6452823a3_2_43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6452823a3_2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3a6452823a3_2_73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3a6452823a3_2_73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08dd165bc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g3b08dd165bc_0_68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g3b08dd165bc_0_68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6452823a3_2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g3a6452823a3_2_145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g3a6452823a3_2_145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b08dd165bc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g3b08dd165bc_0_81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3b08dd165bc_0_81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6452823a3_2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g3a6452823a3_2_195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g3a6452823a3_2_195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c4d014510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g3c4d014510e_0_1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c4d014510e_0_1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c4d014510e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6" name="Google Shape;276;g3c4d014510e_0_19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g3c4d014510e_0_19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a6452823a3_2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g3a6452823a3_2_217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g3a6452823a3_2_217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b08dd165bc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g3b08dd165bc_0_96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g3b08dd165bc_0_96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b08dd165bc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g3b08dd165bc_0_109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g3b08dd165bc_0_109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b08dd165bc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g3b08dd165bc_0_132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g3b08dd165bc_0_132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c4d014510e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9" name="Google Shape;349;g3c4d014510e_0_44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Ascend</a:t>
            </a:r>
            <a:r>
              <a:rPr lang="en-GB">
                <a:solidFill>
                  <a:schemeClr val="dk1"/>
                </a:solidFill>
              </a:rPr>
              <a:t> (Very Aggressive)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Propel</a:t>
            </a:r>
            <a:r>
              <a:rPr lang="en-GB">
                <a:solidFill>
                  <a:schemeClr val="dk1"/>
                </a:solidFill>
              </a:rPr>
              <a:t> (Aggressive)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Core</a:t>
            </a:r>
            <a:r>
              <a:rPr lang="en-GB">
                <a:solidFill>
                  <a:schemeClr val="dk1"/>
                </a:solidFill>
              </a:rPr>
              <a:t> (Balanced)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Secure</a:t>
            </a:r>
            <a:r>
              <a:rPr lang="en-GB">
                <a:solidFill>
                  <a:schemeClr val="dk1"/>
                </a:solidFill>
              </a:rPr>
              <a:t> (Conservative)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b="1">
                <a:solidFill>
                  <a:schemeClr val="dk1"/>
                </a:solidFill>
              </a:rPr>
              <a:t>Infinite Anchor</a:t>
            </a:r>
            <a:r>
              <a:rPr lang="en-GB">
                <a:solidFill>
                  <a:schemeClr val="dk1"/>
                </a:solidFill>
              </a:rPr>
              <a:t> (Very Conservative)</a:t>
            </a:r>
            <a:endParaRPr/>
          </a:p>
        </p:txBody>
      </p:sp>
      <p:sp>
        <p:nvSpPr>
          <p:cNvPr id="350" name="Google Shape;350;g3c4d014510e_0_44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c4d014510e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c4d014510e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c4d014510e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7" name="Google Shape;407;g3c4d014510e_0_100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Ascend</a:t>
            </a:r>
            <a:r>
              <a:rPr lang="en-GB">
                <a:solidFill>
                  <a:schemeClr val="dk1"/>
                </a:solidFill>
              </a:rPr>
              <a:t> (Very Aggressive)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Propel</a:t>
            </a:r>
            <a:r>
              <a:rPr lang="en-GB">
                <a:solidFill>
                  <a:schemeClr val="dk1"/>
                </a:solidFill>
              </a:rPr>
              <a:t> (Aggressive)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Core</a:t>
            </a:r>
            <a:r>
              <a:rPr lang="en-GB">
                <a:solidFill>
                  <a:schemeClr val="dk1"/>
                </a:solidFill>
              </a:rPr>
              <a:t> (Balanced)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Secure</a:t>
            </a:r>
            <a:r>
              <a:rPr lang="en-GB">
                <a:solidFill>
                  <a:schemeClr val="dk1"/>
                </a:solidFill>
              </a:rPr>
              <a:t> (Conservative)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b="1">
                <a:solidFill>
                  <a:schemeClr val="dk1"/>
                </a:solidFill>
              </a:rPr>
              <a:t>Infinite Anchor</a:t>
            </a:r>
            <a:r>
              <a:rPr lang="en-GB">
                <a:solidFill>
                  <a:schemeClr val="dk1"/>
                </a:solidFill>
              </a:rPr>
              <a:t> (Very Conservative)</a:t>
            </a:r>
            <a:endParaRPr/>
          </a:p>
        </p:txBody>
      </p:sp>
      <p:sp>
        <p:nvSpPr>
          <p:cNvPr id="408" name="Google Shape;408;g3c4d014510e_0_100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c4d014510e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c4d014510e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aae6b4b7d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0" name="Google Shape;470;g3aae6b4b7d4_0_3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g3aae6b4b7d4_0_3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aae6b4b7d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aae6b4b7d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 175000 SIP is managed by us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aae6b4b7d4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0" name="Google Shape;490;g3aae6b4b7d4_0_88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g3aae6b4b7d4_0_88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b08dd165bc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6" name="Google Shape;506;g3b08dd165bc_0_272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g3b08dd165bc_0_272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b3101c197a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4" name="Google Shape;514;g3b3101c197a_0_205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g3b3101c197a_0_205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b2e19013e6_0_2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0" name="Google Shape;570;g3b2e19013e6_0_299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g3b2e19013e6_0_299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b3101c197a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2" name="Google Shape;622;g3b3101c197a_0_93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g3b3101c197a_0_93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dc773464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7" name="Google Shape;667;g3dc77346427_0_0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g3dc77346427_0_0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aae6b4b7d4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6" name="Google Shape;706;g3aae6b4b7d4_0_109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g3aae6b4b7d4_0_109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b8b2093e7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5" name="Google Shape;725;g3b8b2093e75_0_1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g3b8b2093e75_0_1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aae6b4b7d4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4" name="Google Shape;744;g3aae6b4b7d4_0_145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g3aae6b4b7d4_0_145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aae6b4b7d4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3" name="Google Shape;763;g3aae6b4b7d4_0_163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g3aae6b4b7d4_0_163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aae6b4b7d4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2" name="Google Shape;782;g3aae6b4b7d4_0_181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g3aae6b4b7d4_0_181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aae6b4b7d4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1" name="Google Shape;801;g3aae6b4b7d4_0_199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g3aae6b4b7d4_0_199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2" name="Google Shape;2562;g3aae6b4b7d4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3" name="Google Shape;2563;g3aae6b4b7d4_0_217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4" name="Google Shape;2564;g3aae6b4b7d4_0_217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1" name="Google Shape;2581;g3aae6b4b7d4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2" name="Google Shape;2582;g3aae6b4b7d4_0_235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3" name="Google Shape;2583;g3aae6b4b7d4_0_235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" name="Google Shape;2600;g3aae6b4b7d4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1" name="Google Shape;2601;g3aae6b4b7d4_0_253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2" name="Google Shape;2602;g3aae6b4b7d4_0_253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9" name="Google Shape;2619;g3aae6b4b7d4_0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0" name="Google Shape;2620;g3aae6b4b7d4_0_271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1" name="Google Shape;2621;g3aae6b4b7d4_0_271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4" name="Google Shape;2634;g3d006e6dc2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5" name="Google Shape;2635;g3d006e6dc2e_0_0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6" name="Google Shape;2636;g3d006e6dc2e_0_0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g3aae6b4b7d4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0" name="Google Shape;1430;g3aae6b4b7d4_0_217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1" name="Google Shape;1431;g3aae6b4b7d4_0_217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g3aae6b4b7d4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9" name="Google Shape;1449;g3aae6b4b7d4_0_235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0" name="Google Shape;1450;g3aae6b4b7d4_0_235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slide" Target="slide27.xml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slide" Target="slide4.xml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slide" Target="slide4.xml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slide" Target="slide4.xml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8.png"/><Relationship Id="rId7" Type="http://schemas.openxmlformats.org/officeDocument/2006/relationships/slide" Target="slide4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/>
          <p:nvPr/>
        </p:nvSpPr>
        <p:spPr>
          <a:xfrm>
            <a:off x="490538" y="476250"/>
            <a:ext cx="2767013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" name="Google Shape;62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051" y="574307"/>
            <a:ext cx="202634" cy="167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0964" y="580190"/>
            <a:ext cx="308577" cy="155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44400" y="573960"/>
            <a:ext cx="197313" cy="167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99123" y="519971"/>
            <a:ext cx="217669" cy="221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96410" y="476250"/>
            <a:ext cx="87669" cy="87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6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62763" y="574076"/>
            <a:ext cx="111957" cy="161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6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843162" y="573960"/>
            <a:ext cx="197082" cy="221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6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0538" y="519971"/>
            <a:ext cx="223452" cy="215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6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156943" y="489401"/>
            <a:ext cx="32731" cy="246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6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233046" y="558041"/>
            <a:ext cx="178345" cy="178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6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664221" y="558041"/>
            <a:ext cx="178461" cy="178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6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578404" y="571307"/>
            <a:ext cx="32037" cy="164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2877380" y="483864"/>
            <a:ext cx="43025" cy="252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2572851" y="483864"/>
            <a:ext cx="43025" cy="42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2956259" y="498861"/>
            <a:ext cx="98657" cy="238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3077353" y="543736"/>
            <a:ext cx="180196" cy="193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 descr="preencoded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2442042" y="476250"/>
            <a:ext cx="104787" cy="260023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/>
          <p:nvPr/>
        </p:nvSpPr>
        <p:spPr>
          <a:xfrm>
            <a:off x="476250" y="3095625"/>
            <a:ext cx="9220200" cy="157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8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5625"/>
              <a:buFont typeface="IBM Plex Sans"/>
              <a:buNone/>
            </a:pPr>
            <a:r>
              <a:rPr lang="en-GB" sz="5625" b="0" i="0" u="none" strike="noStrike" cap="none">
                <a:solidFill>
                  <a:srgbClr val="8C8C8C"/>
                </a:solidFill>
                <a:latin typeface="IBM Plex Sans"/>
                <a:ea typeface="IBM Plex Sans"/>
                <a:cs typeface="IBM Plex Sans"/>
                <a:sym typeface="IBM Plex Sans"/>
              </a:rPr>
              <a:t>Strategy Session</a:t>
            </a:r>
            <a:endParaRPr sz="56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8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5625"/>
              <a:buFont typeface="IBM Plex Sans"/>
              <a:buNone/>
            </a:pPr>
            <a:r>
              <a:rPr lang="en-GB" sz="5625" b="0" i="0" u="none" strike="noStrike" cap="none">
                <a:solidFill>
                  <a:srgbClr val="8C8C8C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GB" sz="5625" b="0" i="0" u="none" strike="noStrike" cap="non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Dr </a:t>
            </a:r>
            <a:r>
              <a:rPr lang="en-GB" sz="562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Sandeep Goyal</a:t>
            </a:r>
            <a:r>
              <a:rPr lang="en-GB" sz="5625" b="0" i="0" u="none" strike="noStrike" cap="non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 sz="56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/>
          <p:nvPr/>
        </p:nvSpPr>
        <p:spPr>
          <a:xfrm>
            <a:off x="5049925" y="4923000"/>
            <a:ext cx="3929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IBM Plex Sans"/>
              <a:buNone/>
            </a:pPr>
            <a:r>
              <a:rPr lang="en-GB" sz="600">
                <a:solidFill>
                  <a:srgbClr val="999999"/>
                </a:solidFill>
                <a:latin typeface="IBM Plex Sans"/>
                <a:ea typeface="IBM Plex Sans"/>
                <a:cs typeface="IBM Plex Sans"/>
                <a:sym typeface="IBM Plex Sans"/>
              </a:rPr>
              <a:t>Numbers as of 17 Feb 2026</a:t>
            </a:r>
            <a:endParaRPr sz="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0" y="0"/>
            <a:ext cx="44958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385763" y="3619500"/>
            <a:ext cx="40911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3750"/>
              <a:buFont typeface="IBM Plex Sans"/>
              <a:buNone/>
            </a:pPr>
            <a:r>
              <a:rPr lang="en-GB" sz="3750" b="0" i="0" u="none" strike="noStrike" cap="none">
                <a:solidFill>
                  <a:srgbClr val="8C8C8C"/>
                </a:solidFill>
                <a:latin typeface="IBM Plex Sans"/>
                <a:ea typeface="IBM Plex Sans"/>
                <a:cs typeface="IBM Plex Sans"/>
                <a:sym typeface="IBM Plex Sans"/>
              </a:rPr>
              <a:t>Welcome Back,</a:t>
            </a:r>
            <a:endParaRPr sz="3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50"/>
              <a:buFont typeface="IBM Plex Sans"/>
              <a:buNone/>
            </a:pPr>
            <a:r>
              <a:rPr lang="en-GB" sz="375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Dr Sandeep</a:t>
            </a:r>
            <a:endParaRPr sz="3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4881615" y="476250"/>
            <a:ext cx="3552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IBM Plex Sans"/>
              <a:buNone/>
            </a:pPr>
            <a:r>
              <a:rPr lang="en-GB" sz="225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On the Agenda</a:t>
            </a:r>
            <a:endParaRPr sz="2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72050" y="1776413"/>
            <a:ext cx="2976563" cy="4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72050" y="2428875"/>
            <a:ext cx="2976563" cy="4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72050" y="3081338"/>
            <a:ext cx="2976563" cy="4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72050" y="3733800"/>
            <a:ext cx="2976563" cy="476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 txBox="1"/>
          <p:nvPr/>
        </p:nvSpPr>
        <p:spPr>
          <a:xfrm>
            <a:off x="4915528" y="1186579"/>
            <a:ext cx="32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we discovered about you</a:t>
            </a:r>
            <a:endParaRPr sz="12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4915528" y="1409861"/>
            <a:ext cx="32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595959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Basis our questionnaire</a:t>
            </a:r>
            <a:endParaRPr sz="900">
              <a:solidFill>
                <a:srgbClr val="595959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4926832" y="1833907"/>
            <a:ext cx="32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Your current portfolio</a:t>
            </a:r>
            <a:endParaRPr sz="12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4926832" y="2031777"/>
            <a:ext cx="32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595959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The goods, the gaps and the opportunities</a:t>
            </a:r>
            <a:endParaRPr sz="900">
              <a:solidFill>
                <a:srgbClr val="595959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4926832" y="2477190"/>
            <a:ext cx="32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Our tailored strateg</a:t>
            </a:r>
            <a:r>
              <a:rPr lang="en-GB" sz="1200">
                <a:latin typeface="IBM Plex Sans"/>
                <a:ea typeface="IBM Plex Sans"/>
                <a:cs typeface="IBM Plex Sans"/>
                <a:sym typeface="IBM Plex Sans"/>
              </a:rPr>
              <a:t>y</a:t>
            </a:r>
            <a:r>
              <a:rPr lang="en-GB" sz="12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for you</a:t>
            </a:r>
            <a:endParaRPr sz="12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4926832" y="2691079"/>
            <a:ext cx="32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595959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Focussed on your goals and risk profile</a:t>
            </a:r>
            <a:endParaRPr sz="900">
              <a:solidFill>
                <a:srgbClr val="595959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4926832" y="3132470"/>
            <a:ext cx="32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IBM Plex Sans"/>
                <a:ea typeface="IBM Plex Sans"/>
                <a:cs typeface="IBM Plex Sans"/>
                <a:sym typeface="IBM Plex Sans"/>
              </a:rPr>
              <a:t>Financial Planning</a:t>
            </a:r>
            <a:endParaRPr sz="12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4926832" y="3339988"/>
            <a:ext cx="32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595959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To ensure all your goals are met on time</a:t>
            </a:r>
            <a:endParaRPr sz="1000">
              <a:solidFill>
                <a:srgbClr val="595959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4938137" y="3742546"/>
            <a:ext cx="32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next?</a:t>
            </a:r>
            <a:endParaRPr sz="12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4938137" y="3959966"/>
            <a:ext cx="32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595959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Portfolio transition and execution</a:t>
            </a:r>
            <a:endParaRPr sz="900">
              <a:solidFill>
                <a:srgbClr val="595959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/>
          <p:nvPr/>
        </p:nvSpPr>
        <p:spPr>
          <a:xfrm>
            <a:off x="4648200" y="0"/>
            <a:ext cx="4495800" cy="5143500"/>
          </a:xfrm>
          <a:prstGeom prst="rect">
            <a:avLst/>
          </a:prstGeom>
          <a:solidFill>
            <a:srgbClr val="1313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8"/>
          <p:cNvSpPr/>
          <p:nvPr/>
        </p:nvSpPr>
        <p:spPr>
          <a:xfrm>
            <a:off x="476250" y="1338263"/>
            <a:ext cx="2976563" cy="2909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8"/>
          <p:cNvSpPr/>
          <p:nvPr/>
        </p:nvSpPr>
        <p:spPr>
          <a:xfrm rot="2700000">
            <a:off x="6672573" y="2071998"/>
            <a:ext cx="438414" cy="4384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8"/>
          <p:cNvSpPr/>
          <p:nvPr/>
        </p:nvSpPr>
        <p:spPr>
          <a:xfrm rot="5400000">
            <a:off x="6677025" y="2071688"/>
            <a:ext cx="438414" cy="4384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476250" y="1338263"/>
            <a:ext cx="189547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476250" y="2166938"/>
            <a:ext cx="267176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8"/>
          <p:cNvSpPr/>
          <p:nvPr/>
        </p:nvSpPr>
        <p:spPr>
          <a:xfrm>
            <a:off x="476250" y="2995613"/>
            <a:ext cx="267176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476250" y="3824289"/>
            <a:ext cx="2671763" cy="42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6" name="Google Shape;116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1938337"/>
            <a:ext cx="2976563" cy="4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2767013"/>
            <a:ext cx="2976563" cy="4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3595688"/>
            <a:ext cx="2976563" cy="4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20146" y="576263"/>
            <a:ext cx="3366269" cy="336627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8"/>
          <p:cNvSpPr/>
          <p:nvPr/>
        </p:nvSpPr>
        <p:spPr>
          <a:xfrm>
            <a:off x="476250" y="476250"/>
            <a:ext cx="35528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IBM Plex Sans"/>
              <a:buNone/>
            </a:pPr>
            <a:r>
              <a:rPr lang="en-GB" sz="225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You at a glance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476250" y="4781550"/>
            <a:ext cx="3929063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IBM Plex Sans"/>
              <a:buNone/>
            </a:pPr>
            <a:r>
              <a:rPr lang="en-GB" sz="600" b="0" i="0" u="none" strike="noStrike" cap="none">
                <a:solidFill>
                  <a:srgbClr val="999999"/>
                </a:solidFill>
                <a:latin typeface="IBM Plex Sans"/>
                <a:ea typeface="IBM Plex Sans"/>
                <a:cs typeface="IBM Plex Sans"/>
                <a:sym typeface="IBM Plex Sans"/>
              </a:rPr>
              <a:t>We categorize Risk profiles as Very Aggressive, Aggressive, Balanced, Conservative, Very Conservative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476250" y="3824289"/>
            <a:ext cx="3128963" cy="9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 b="0" i="0" u="none" strike="noStrike" cap="none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Investment with Infinite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476250" y="4033850"/>
            <a:ext cx="40341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800"/>
              <a:buFont typeface="IBM Plex Sans"/>
              <a:buNone/>
            </a:pPr>
            <a:r>
              <a:rPr lang="en-GB" sz="18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INR 1 Cr</a:t>
            </a:r>
            <a:r>
              <a:rPr lang="en-GB" sz="24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GB" sz="1500" b="0" i="0" u="none" strike="noStrike" cap="none">
                <a:solidFill>
                  <a:srgbClr val="8E9393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GB" sz="24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GB" sz="18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INR 25K</a:t>
            </a:r>
            <a:r>
              <a:rPr lang="en-GB" sz="24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GB" sz="1500" b="0" i="0" u="none" strike="noStrike" cap="none">
                <a:solidFill>
                  <a:srgbClr val="8E9393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monthly SIP*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476250" y="2995613"/>
            <a:ext cx="3128963" cy="9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 b="0" i="0" u="none" strike="noStrike" cap="none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Investment Horizon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476250" y="3205163"/>
            <a:ext cx="3128963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800"/>
              <a:buFont typeface="IBM Plex Sans"/>
              <a:buNone/>
            </a:pPr>
            <a:r>
              <a:rPr lang="en-GB" sz="18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8+ Years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476250" y="2166938"/>
            <a:ext cx="3128963" cy="9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 b="0" i="0" u="none" strike="noStrike" cap="none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Risk Profile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476250" y="2376488"/>
            <a:ext cx="3128963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800"/>
              <a:buFont typeface="IBM Plex Sans"/>
              <a:buNone/>
            </a:pPr>
            <a:r>
              <a:rPr lang="en-GB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Very Aggressive</a:t>
            </a:r>
            <a:endParaRPr sz="1800" i="0" u="none" strike="noStrike" cap="non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476250" y="1245240"/>
            <a:ext cx="1038300" cy="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 b="0" i="0" u="none" strike="noStrike" cap="none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Your Goal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476250" y="1547829"/>
            <a:ext cx="37914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800"/>
              <a:buFont typeface="IBM Plex Sans"/>
              <a:buNone/>
            </a:pPr>
            <a:r>
              <a:rPr lang="en-GB" sz="18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Retirement Planning</a:t>
            </a:r>
            <a:endParaRPr sz="1800">
              <a:solidFill>
                <a:srgbClr val="2323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5712076" y="3879025"/>
            <a:ext cx="23703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BM Plex Sans"/>
              <a:buNone/>
            </a:pPr>
            <a:r>
              <a:rPr lang="en-GB" i="0" u="none" strike="noStrike" cap="none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 Very Aggressive Investor</a:t>
            </a:r>
            <a:endParaRPr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471065" y="4919663"/>
            <a:ext cx="1581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IBM Plex Sans"/>
              <a:buNone/>
            </a:pPr>
            <a:r>
              <a:rPr lang="en-GB" sz="600" b="0" i="0" u="none" strike="noStrike" cap="none">
                <a:solidFill>
                  <a:srgbClr val="999999"/>
                </a:solidFill>
                <a:latin typeface="IBM Plex Sans"/>
                <a:ea typeface="IBM Plex Sans"/>
                <a:cs typeface="IBM Plex Sans"/>
                <a:sym typeface="IBM Plex Sans"/>
              </a:rPr>
              <a:t>Questionnaire wit</a:t>
            </a:r>
            <a:r>
              <a:rPr lang="en-GB" sz="600" b="0" i="0" u="none" strike="noStrike" cap="none">
                <a:solidFill>
                  <a:srgbClr val="8E9393"/>
                </a:solidFill>
                <a:latin typeface="IBM Plex Sans"/>
                <a:ea typeface="IBM Plex Sans"/>
                <a:cs typeface="IBM Plex Sans"/>
                <a:sym typeface="IBM Plex Sans"/>
              </a:rPr>
              <a:t>h </a:t>
            </a:r>
            <a:r>
              <a:rPr lang="en-GB" sz="600">
                <a:solidFill>
                  <a:srgbClr val="8E9393"/>
                </a:solidFill>
                <a:latin typeface="IBM Plex Sans"/>
                <a:ea typeface="IBM Plex Sans"/>
                <a:cs typeface="IBM Plex Sans"/>
                <a:sym typeface="IBM Plex Sans"/>
              </a:rPr>
              <a:t>answer </a:t>
            </a:r>
            <a:r>
              <a:rPr lang="en-GB" sz="600" u="sng">
                <a:solidFill>
                  <a:schemeClr val="hlink"/>
                </a:solidFill>
                <a:latin typeface="IBM Plex Sans"/>
                <a:ea typeface="IBM Plex Sans"/>
                <a:cs typeface="IBM Plex Sans"/>
                <a:sym typeface="IBM Plex Sans"/>
                <a:hlinkClick r:id="rId5" action="ppaction://hlinksldjump"/>
              </a:rPr>
              <a:t>here</a:t>
            </a:r>
            <a:endParaRPr sz="600" b="0" i="0" u="none" strike="noStrike" cap="none">
              <a:solidFill>
                <a:srgbClr val="9926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1918865" y="4919663"/>
            <a:ext cx="1581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IBM Plex Sans"/>
              <a:buNone/>
            </a:pPr>
            <a:r>
              <a:rPr lang="en-GB" sz="600">
                <a:solidFill>
                  <a:srgbClr val="999999"/>
                </a:solidFill>
                <a:latin typeface="IBM Plex Sans"/>
                <a:ea typeface="IBM Plex Sans"/>
                <a:cs typeface="IBM Plex Sans"/>
                <a:sym typeface="IBM Plex Sans"/>
              </a:rPr>
              <a:t>Current Age: 48</a:t>
            </a:r>
            <a:endParaRPr sz="600" b="0" i="0" u="none" strike="noStrike" cap="none">
              <a:solidFill>
                <a:srgbClr val="9926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32;p18">
            <a:extLst>
              <a:ext uri="{FF2B5EF4-FFF2-40B4-BE49-F238E27FC236}">
                <a16:creationId xmlns:a16="http://schemas.microsoft.com/office/drawing/2014/main" id="{95208AC2-235F-B9B8-53FD-4052DCCDF3EB}"/>
              </a:ext>
            </a:extLst>
          </p:cNvPr>
          <p:cNvSpPr/>
          <p:nvPr/>
        </p:nvSpPr>
        <p:spPr>
          <a:xfrm>
            <a:off x="2742874" y="4909279"/>
            <a:ext cx="1581300" cy="120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IBM Plex Sans"/>
              <a:buNone/>
            </a:pPr>
            <a:r>
              <a:rPr lang="en-GB" sz="600" b="0" i="0" u="none" strike="noStrike" cap="none" dirty="0">
                <a:solidFill>
                  <a:srgbClr val="999999"/>
                </a:solidFill>
                <a:latin typeface="IBM Plex Sans"/>
                <a:ea typeface="Calibri"/>
                <a:cs typeface="Calibri"/>
                <a:sym typeface="IBM Plex Sans"/>
              </a:rPr>
              <a:t>SIP Step-Up </a:t>
            </a:r>
            <a:r>
              <a:rPr lang="en-GB" sz="600" b="0" i="0" u="none" strike="noStrike" cap="none">
                <a:solidFill>
                  <a:srgbClr val="999999"/>
                </a:solidFill>
                <a:latin typeface="IBM Plex Sans"/>
                <a:ea typeface="Calibri"/>
                <a:cs typeface="Calibri"/>
                <a:sym typeface="IBM Plex Sans"/>
              </a:rPr>
              <a:t>every year: 10%</a:t>
            </a:r>
            <a:endParaRPr sz="600" b="0" i="0" u="none" strike="noStrike" cap="none" dirty="0">
              <a:solidFill>
                <a:srgbClr val="9926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/>
          <p:nvPr/>
        </p:nvSpPr>
        <p:spPr>
          <a:xfrm>
            <a:off x="476325" y="4252925"/>
            <a:ext cx="458400" cy="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SOA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476250" y="1481138"/>
            <a:ext cx="2976563" cy="2309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9"/>
          <p:cNvSpPr/>
          <p:nvPr/>
        </p:nvSpPr>
        <p:spPr>
          <a:xfrm>
            <a:off x="0" y="4767263"/>
            <a:ext cx="9144000" cy="3762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9"/>
          <p:cNvSpPr/>
          <p:nvPr/>
        </p:nvSpPr>
        <p:spPr>
          <a:xfrm>
            <a:off x="476250" y="1481138"/>
            <a:ext cx="2686050" cy="39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9"/>
          <p:cNvSpPr/>
          <p:nvPr/>
        </p:nvSpPr>
        <p:spPr>
          <a:xfrm>
            <a:off x="476250" y="2333625"/>
            <a:ext cx="2633663" cy="39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9"/>
          <p:cNvSpPr/>
          <p:nvPr/>
        </p:nvSpPr>
        <p:spPr>
          <a:xfrm>
            <a:off x="476250" y="3186113"/>
            <a:ext cx="1509713" cy="60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9"/>
          <p:cNvSpPr/>
          <p:nvPr/>
        </p:nvSpPr>
        <p:spPr>
          <a:xfrm>
            <a:off x="476250" y="3186113"/>
            <a:ext cx="1509713" cy="60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9"/>
          <p:cNvSpPr/>
          <p:nvPr/>
        </p:nvSpPr>
        <p:spPr>
          <a:xfrm>
            <a:off x="476250" y="2333625"/>
            <a:ext cx="962025" cy="39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9"/>
          <p:cNvSpPr/>
          <p:nvPr/>
        </p:nvSpPr>
        <p:spPr>
          <a:xfrm>
            <a:off x="2085975" y="2333625"/>
            <a:ext cx="1023938" cy="39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9"/>
          <p:cNvSpPr/>
          <p:nvPr/>
        </p:nvSpPr>
        <p:spPr>
          <a:xfrm>
            <a:off x="476250" y="1481138"/>
            <a:ext cx="881063" cy="39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9"/>
          <p:cNvSpPr/>
          <p:nvPr/>
        </p:nvSpPr>
        <p:spPr>
          <a:xfrm>
            <a:off x="2119313" y="1481138"/>
            <a:ext cx="1042988" cy="39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9" name="Google Shape;149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2105025"/>
            <a:ext cx="3290888" cy="4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2957513"/>
            <a:ext cx="3290888" cy="4763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/>
          <p:nvPr/>
        </p:nvSpPr>
        <p:spPr>
          <a:xfrm>
            <a:off x="476250" y="476250"/>
            <a:ext cx="44481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IBM Plex Sans"/>
              <a:buNone/>
            </a:pPr>
            <a:r>
              <a:rPr lang="en-GB" sz="225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Your current portfolio snapshot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476250" y="4900613"/>
            <a:ext cx="2138363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Clr>
                <a:srgbClr val="8E9393"/>
              </a:buClr>
              <a:buSzPts val="675"/>
              <a:buFont typeface="IBM Plex Sans"/>
              <a:buNone/>
            </a:pPr>
            <a:r>
              <a:rPr lang="en-GB" sz="675" b="0" i="0" u="none" strike="noStrike" cap="none">
                <a:solidFill>
                  <a:srgbClr val="8E9393"/>
                </a:solidFill>
                <a:latin typeface="IBM Plex Sans"/>
                <a:ea typeface="IBM Plex Sans"/>
                <a:cs typeface="IBM Plex Sans"/>
                <a:sym typeface="IBM Plex Sans"/>
              </a:rPr>
              <a:t>Benchmark is weighted average benchmark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2395538" y="4900613"/>
            <a:ext cx="1404938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Clr>
                <a:srgbClr val="8E9393"/>
              </a:buClr>
              <a:buSzPts val="675"/>
              <a:buFont typeface="IBM Plex Sans"/>
              <a:buNone/>
            </a:pPr>
            <a:r>
              <a:rPr lang="en-GB" sz="675" b="0" i="0" u="none" strike="noStrike" cap="none">
                <a:solidFill>
                  <a:srgbClr val="8E9393"/>
                </a:solidFill>
                <a:latin typeface="IBM Plex Sans"/>
                <a:ea typeface="IBM Plex Sans"/>
                <a:cs typeface="IBM Plex Sans"/>
                <a:sym typeface="IBM Plex Sans"/>
              </a:rPr>
              <a:t>Portfolio gains: ₹</a:t>
            </a:r>
            <a:r>
              <a:rPr lang="en-GB" sz="675">
                <a:solidFill>
                  <a:srgbClr val="8E9393"/>
                </a:solidFill>
                <a:latin typeface="IBM Plex Sans"/>
                <a:ea typeface="IBM Plex Sans"/>
                <a:cs typeface="IBM Plex Sans"/>
                <a:sym typeface="IBM Plex Sans"/>
              </a:rPr>
              <a:t>41.8L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3581400" y="4900613"/>
            <a:ext cx="1519238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Clr>
                <a:srgbClr val="8E9393"/>
              </a:buClr>
              <a:buSzPts val="675"/>
              <a:buFont typeface="IBM Plex Sans"/>
              <a:buNone/>
            </a:pPr>
            <a:r>
              <a:rPr lang="en-GB" sz="675" b="0" i="0" u="none" strike="noStrike" cap="none">
                <a:solidFill>
                  <a:srgbClr val="8E9393"/>
                </a:solidFill>
                <a:latin typeface="IBM Plex Sans"/>
                <a:ea typeface="IBM Plex Sans"/>
                <a:cs typeface="IBM Plex Sans"/>
                <a:sym typeface="IBM Plex Sans"/>
              </a:rPr>
              <a:t>Benchmark gains: ₹</a:t>
            </a:r>
            <a:r>
              <a:rPr lang="en-GB" sz="675">
                <a:solidFill>
                  <a:srgbClr val="8E9393"/>
                </a:solidFill>
                <a:latin typeface="IBM Plex Sans"/>
                <a:ea typeface="IBM Plex Sans"/>
                <a:cs typeface="IBM Plex Sans"/>
                <a:sym typeface="IBM Plex Sans"/>
              </a:rPr>
              <a:t>48.3L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4742425" y="2522159"/>
            <a:ext cx="1009800" cy="2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1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IBM Plex Sans"/>
              <a:buNone/>
            </a:pPr>
            <a:r>
              <a:rPr lang="en-GB" sz="96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Portfolio</a:t>
            </a:r>
            <a:endParaRPr sz="960" i="0" u="none" strike="noStrike" cap="non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marR="0" lvl="0" indent="0" algn="ctr" rtl="0">
              <a:lnSpc>
                <a:spcPct val="1201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IBM Plex Sans"/>
              <a:buNone/>
            </a:pPr>
            <a:r>
              <a:rPr lang="en-GB" sz="96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Allocation</a:t>
            </a:r>
            <a:endParaRPr sz="960" i="0" u="none" strike="noStrike" cap="non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476250" y="3186113"/>
            <a:ext cx="1966913" cy="9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 b="0" i="0" u="none" strike="noStrike" cap="none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Your Portfolio Risk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476250" y="3395675"/>
            <a:ext cx="24750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Aggressive</a:t>
            </a:r>
            <a:endParaRPr sz="2000" i="0" u="none" strike="noStrike" cap="non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2085975" y="2333625"/>
            <a:ext cx="1481138" cy="9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 b="0" i="0" u="none" strike="noStrike" cap="none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Benchmark XIRR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2085975" y="2543175"/>
            <a:ext cx="1419225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0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19.1</a:t>
            </a:r>
            <a:r>
              <a:rPr lang="en-GB" sz="20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%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476250" y="2333625"/>
            <a:ext cx="1419225" cy="9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 b="0" i="0" u="none" strike="noStrike" cap="none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Current XIRR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476250" y="2543175"/>
            <a:ext cx="1419225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0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17.6</a:t>
            </a:r>
            <a:r>
              <a:rPr lang="en-GB" sz="20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%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2119313" y="1481138"/>
            <a:ext cx="1500188" cy="9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 b="0" i="0" u="none" strike="noStrike" cap="none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Invested Amount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2119313" y="1690688"/>
            <a:ext cx="1500188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0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₹</a:t>
            </a:r>
            <a:r>
              <a:rPr lang="en-GB" sz="20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53L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476250" y="1481138"/>
            <a:ext cx="1276350" cy="9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 b="0" i="0" u="none" strike="noStrike" cap="none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Current Value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476250" y="1690688"/>
            <a:ext cx="1338262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0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₹</a:t>
            </a:r>
            <a:r>
              <a:rPr lang="en-GB" sz="20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94.9L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6" name="Google Shape;166;p19"/>
          <p:cNvGrpSpPr/>
          <p:nvPr/>
        </p:nvGrpSpPr>
        <p:grpSpPr>
          <a:xfrm>
            <a:off x="6897829" y="2033525"/>
            <a:ext cx="1979477" cy="796500"/>
            <a:chOff x="6897829" y="1500126"/>
            <a:chExt cx="1979477" cy="796500"/>
          </a:xfrm>
        </p:grpSpPr>
        <p:sp>
          <p:nvSpPr>
            <p:cNvPr id="167" name="Google Shape;167;p19"/>
            <p:cNvSpPr/>
            <p:nvPr/>
          </p:nvSpPr>
          <p:spPr>
            <a:xfrm>
              <a:off x="6897879" y="1500125"/>
              <a:ext cx="1116600" cy="7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9"/>
            <p:cNvSpPr/>
            <p:nvPr/>
          </p:nvSpPr>
          <p:spPr>
            <a:xfrm>
              <a:off x="6897829" y="1500126"/>
              <a:ext cx="1116600" cy="13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9"/>
            <p:cNvSpPr/>
            <p:nvPr/>
          </p:nvSpPr>
          <p:spPr>
            <a:xfrm>
              <a:off x="6897829" y="1809003"/>
              <a:ext cx="611700" cy="48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9"/>
            <p:cNvSpPr/>
            <p:nvPr/>
          </p:nvSpPr>
          <p:spPr>
            <a:xfrm>
              <a:off x="6918679" y="1809003"/>
              <a:ext cx="5910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9"/>
            <p:cNvSpPr/>
            <p:nvPr/>
          </p:nvSpPr>
          <p:spPr>
            <a:xfrm>
              <a:off x="6918679" y="2005210"/>
              <a:ext cx="5910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9"/>
            <p:cNvSpPr/>
            <p:nvPr/>
          </p:nvSpPr>
          <p:spPr>
            <a:xfrm>
              <a:off x="6918679" y="2201418"/>
              <a:ext cx="5910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9"/>
            <p:cNvSpPr/>
            <p:nvPr/>
          </p:nvSpPr>
          <p:spPr>
            <a:xfrm>
              <a:off x="6952593" y="2201418"/>
              <a:ext cx="95100" cy="95100"/>
            </a:xfrm>
            <a:prstGeom prst="roundRect">
              <a:avLst>
                <a:gd name="adj" fmla="val 16667"/>
              </a:avLst>
            </a:prstGeom>
            <a:solidFill>
              <a:srgbClr val="6DB0F2"/>
            </a:solidFill>
            <a:ln w="230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9"/>
            <p:cNvSpPr/>
            <p:nvPr/>
          </p:nvSpPr>
          <p:spPr>
            <a:xfrm>
              <a:off x="6952593" y="2005210"/>
              <a:ext cx="95100" cy="95100"/>
            </a:xfrm>
            <a:prstGeom prst="roundRect">
              <a:avLst>
                <a:gd name="adj" fmla="val 16667"/>
              </a:avLst>
            </a:prstGeom>
            <a:solidFill>
              <a:srgbClr val="4E9EED"/>
            </a:solidFill>
            <a:ln w="230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9"/>
            <p:cNvSpPr/>
            <p:nvPr/>
          </p:nvSpPr>
          <p:spPr>
            <a:xfrm>
              <a:off x="6952593" y="1809003"/>
              <a:ext cx="95100" cy="95100"/>
            </a:xfrm>
            <a:prstGeom prst="roundRect">
              <a:avLst>
                <a:gd name="adj" fmla="val 16667"/>
              </a:avLst>
            </a:prstGeom>
            <a:solidFill>
              <a:srgbClr val="2E8AE5"/>
            </a:solidFill>
            <a:ln w="230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9"/>
            <p:cNvSpPr/>
            <p:nvPr/>
          </p:nvSpPr>
          <p:spPr>
            <a:xfrm>
              <a:off x="6897829" y="1500126"/>
              <a:ext cx="130800" cy="130800"/>
            </a:xfrm>
            <a:prstGeom prst="roundRect">
              <a:avLst>
                <a:gd name="adj" fmla="val 16667"/>
              </a:avLst>
            </a:prstGeom>
            <a:solidFill>
              <a:srgbClr val="2E8AE5"/>
            </a:solidFill>
            <a:ln w="316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9"/>
            <p:cNvSpPr/>
            <p:nvPr/>
          </p:nvSpPr>
          <p:spPr>
            <a:xfrm>
              <a:off x="7103481" y="2206175"/>
              <a:ext cx="962100" cy="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40041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954"/>
                <a:buFont typeface="IBM Plex Sans"/>
                <a:buNone/>
              </a:pPr>
              <a:r>
                <a:rPr lang="en-GB" sz="954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Conservative</a:t>
              </a:r>
              <a:endParaRPr sz="95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19"/>
            <p:cNvSpPr/>
            <p:nvPr/>
          </p:nvSpPr>
          <p:spPr>
            <a:xfrm>
              <a:off x="8146902" y="2206170"/>
              <a:ext cx="719100" cy="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lnSpc>
                  <a:spcPct val="140041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954"/>
                <a:buFont typeface="IBM Plex Sans"/>
                <a:buNone/>
              </a:pPr>
              <a:r>
                <a:rPr lang="en-GB" sz="954">
                  <a:solidFill>
                    <a:srgbClr val="232323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rPr>
                <a:t>5</a:t>
              </a:r>
              <a:r>
                <a:rPr lang="en-GB" sz="954" i="0" u="none" strike="noStrike" cap="none">
                  <a:solidFill>
                    <a:srgbClr val="232323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rPr>
                <a:t>%</a:t>
              </a:r>
              <a:endParaRPr sz="954" i="0" u="none" strike="noStrike" cap="non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endParaRPr>
            </a:p>
          </p:txBody>
        </p:sp>
        <p:sp>
          <p:nvSpPr>
            <p:cNvPr id="179" name="Google Shape;179;p19"/>
            <p:cNvSpPr/>
            <p:nvPr/>
          </p:nvSpPr>
          <p:spPr>
            <a:xfrm>
              <a:off x="7078805" y="2009962"/>
              <a:ext cx="814500" cy="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40041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954"/>
                <a:buFont typeface="IBM Plex Sans"/>
                <a:buNone/>
              </a:pPr>
              <a:r>
                <a:rPr lang="en-GB" sz="954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Balanced</a:t>
              </a:r>
              <a:endParaRPr sz="95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9"/>
            <p:cNvSpPr/>
            <p:nvPr/>
          </p:nvSpPr>
          <p:spPr>
            <a:xfrm>
              <a:off x="8146902" y="2009962"/>
              <a:ext cx="719100" cy="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lnSpc>
                  <a:spcPct val="140041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954"/>
                <a:buFont typeface="IBM Plex Sans"/>
                <a:buNone/>
              </a:pPr>
              <a:r>
                <a:rPr lang="en-GB" sz="954">
                  <a:solidFill>
                    <a:srgbClr val="232323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rPr>
                <a:t>47</a:t>
              </a:r>
              <a:r>
                <a:rPr lang="en-GB" sz="954" i="0" u="none" strike="noStrike" cap="none">
                  <a:solidFill>
                    <a:srgbClr val="232323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rPr>
                <a:t>%</a:t>
              </a:r>
              <a:endParaRPr sz="954" i="0" u="none" strike="noStrike" cap="non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endParaRPr>
            </a:p>
          </p:txBody>
        </p:sp>
        <p:sp>
          <p:nvSpPr>
            <p:cNvPr id="181" name="Google Shape;181;p19"/>
            <p:cNvSpPr/>
            <p:nvPr/>
          </p:nvSpPr>
          <p:spPr>
            <a:xfrm>
              <a:off x="7078805" y="1813761"/>
              <a:ext cx="895500" cy="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40041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954"/>
                <a:buFont typeface="IBM Plex Sans"/>
                <a:buNone/>
              </a:pPr>
              <a:r>
                <a:rPr lang="en-GB" sz="954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Aggressive</a:t>
              </a:r>
              <a:endParaRPr sz="954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2" name="Google Shape;182;p19"/>
            <p:cNvSpPr/>
            <p:nvPr/>
          </p:nvSpPr>
          <p:spPr>
            <a:xfrm>
              <a:off x="8146902" y="1813754"/>
              <a:ext cx="719100" cy="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lnSpc>
                  <a:spcPct val="140041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954"/>
                <a:buFont typeface="IBM Plex Sans"/>
                <a:buNone/>
              </a:pPr>
              <a:r>
                <a:rPr lang="en-GB" sz="954">
                  <a:solidFill>
                    <a:srgbClr val="232323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rPr>
                <a:t>45</a:t>
              </a:r>
              <a:r>
                <a:rPr lang="en-GB" sz="954" i="0" u="none" strike="noStrike" cap="none">
                  <a:solidFill>
                    <a:srgbClr val="232323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rPr>
                <a:t>%</a:t>
              </a:r>
              <a:endParaRPr sz="954" i="0" u="none" strike="noStrike" cap="non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endParaRPr>
            </a:p>
          </p:txBody>
        </p:sp>
        <p:sp>
          <p:nvSpPr>
            <p:cNvPr id="183" name="Google Shape;183;p19"/>
            <p:cNvSpPr/>
            <p:nvPr/>
          </p:nvSpPr>
          <p:spPr>
            <a:xfrm>
              <a:off x="7066279" y="1508312"/>
              <a:ext cx="719100" cy="1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lnSpc>
                  <a:spcPct val="139923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310"/>
                <a:buFont typeface="IBM Plex Sans"/>
                <a:buNone/>
              </a:pPr>
              <a:r>
                <a:rPr lang="en-GB" sz="1310" i="0" u="none" strike="noStrike" cap="none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Equity</a:t>
              </a:r>
              <a:endParaRPr sz="131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4" name="Google Shape;184;p19"/>
            <p:cNvSpPr/>
            <p:nvPr/>
          </p:nvSpPr>
          <p:spPr>
            <a:xfrm>
              <a:off x="8062806" y="1508315"/>
              <a:ext cx="814500" cy="1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lnSpc>
                  <a:spcPct val="139923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310"/>
                <a:buFont typeface="IBM Plex Sans"/>
                <a:buNone/>
              </a:pPr>
              <a:r>
                <a:rPr lang="en-GB" sz="1310">
                  <a:solidFill>
                    <a:srgbClr val="232323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rPr>
                <a:t>97</a:t>
              </a:r>
              <a:r>
                <a:rPr lang="en-GB" sz="1310" i="0" u="none" strike="noStrike" cap="none">
                  <a:solidFill>
                    <a:srgbClr val="232323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rPr>
                <a:t>%</a:t>
              </a:r>
              <a:endParaRPr sz="1310" i="0" u="none" strike="noStrike" cap="non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endParaRPr>
            </a:p>
          </p:txBody>
        </p:sp>
      </p:grpSp>
      <p:grpSp>
        <p:nvGrpSpPr>
          <p:cNvPr id="185" name="Google Shape;185;p19"/>
          <p:cNvGrpSpPr/>
          <p:nvPr/>
        </p:nvGrpSpPr>
        <p:grpSpPr>
          <a:xfrm>
            <a:off x="6897829" y="3050183"/>
            <a:ext cx="1959996" cy="130800"/>
            <a:chOff x="6897829" y="2622775"/>
            <a:chExt cx="1959996" cy="130800"/>
          </a:xfrm>
        </p:grpSpPr>
        <p:sp>
          <p:nvSpPr>
            <p:cNvPr id="186" name="Google Shape;186;p19"/>
            <p:cNvSpPr/>
            <p:nvPr/>
          </p:nvSpPr>
          <p:spPr>
            <a:xfrm>
              <a:off x="6897829" y="2622775"/>
              <a:ext cx="892500" cy="13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9"/>
            <p:cNvSpPr/>
            <p:nvPr/>
          </p:nvSpPr>
          <p:spPr>
            <a:xfrm>
              <a:off x="6897829" y="2622775"/>
              <a:ext cx="130800" cy="130800"/>
            </a:xfrm>
            <a:prstGeom prst="roundRect">
              <a:avLst>
                <a:gd name="adj" fmla="val 16667"/>
              </a:avLst>
            </a:prstGeom>
            <a:solidFill>
              <a:srgbClr val="FFE2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9"/>
            <p:cNvSpPr/>
            <p:nvPr/>
          </p:nvSpPr>
          <p:spPr>
            <a:xfrm>
              <a:off x="7142479" y="2630975"/>
              <a:ext cx="1116600" cy="9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39923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310"/>
                <a:buFont typeface="IBM Plex Sans"/>
                <a:buNone/>
              </a:pPr>
              <a:r>
                <a:rPr lang="en-GB" sz="131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Hybrid</a:t>
              </a:r>
              <a:endParaRPr sz="131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9"/>
            <p:cNvSpPr/>
            <p:nvPr/>
          </p:nvSpPr>
          <p:spPr>
            <a:xfrm>
              <a:off x="7581625" y="2630975"/>
              <a:ext cx="1276200" cy="10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lnSpc>
                  <a:spcPct val="139923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310"/>
                <a:buFont typeface="IBM Plex Sans"/>
                <a:buNone/>
              </a:pPr>
              <a:r>
                <a:rPr lang="en-GB" sz="1310">
                  <a:solidFill>
                    <a:srgbClr val="232323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rPr>
                <a:t>3</a:t>
              </a:r>
              <a:r>
                <a:rPr lang="en-GB" sz="1310" i="0" u="none" strike="noStrike" cap="none">
                  <a:solidFill>
                    <a:srgbClr val="232323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rPr>
                <a:t>%</a:t>
              </a:r>
              <a:endParaRPr sz="1310" i="0" u="none" strike="noStrike" cap="non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endParaRPr>
            </a:p>
          </p:txBody>
        </p:sp>
      </p:grpSp>
      <p:sp>
        <p:nvSpPr>
          <p:cNvPr id="190" name="Google Shape;190;p19"/>
          <p:cNvSpPr/>
          <p:nvPr/>
        </p:nvSpPr>
        <p:spPr>
          <a:xfrm>
            <a:off x="4881563" y="4900613"/>
            <a:ext cx="1833600" cy="1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Clr>
                <a:srgbClr val="8E9393"/>
              </a:buClr>
              <a:buSzPts val="675"/>
              <a:buFont typeface="IBM Plex Sans"/>
              <a:buNone/>
            </a:pPr>
            <a:r>
              <a:rPr lang="en-GB" sz="675" b="0" i="0" u="none" strike="noStrike" cap="none">
                <a:solidFill>
                  <a:srgbClr val="8E9393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 detailed portfolio view, </a:t>
            </a:r>
            <a:r>
              <a:rPr lang="en-GB" sz="675" b="0" i="0" u="sng" strike="noStrike" cap="none">
                <a:solidFill>
                  <a:schemeClr val="hlink"/>
                </a:solidFill>
                <a:latin typeface="IBM Plex Sans"/>
                <a:ea typeface="IBM Plex Sans"/>
                <a:cs typeface="IBM Plex Sans"/>
                <a:sym typeface="IBM Plex Sans"/>
                <a:hlinkClick r:id="" action="ppaction://noaction"/>
              </a:rPr>
              <a:t>see here</a:t>
            </a:r>
            <a:endParaRPr sz="6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933450" y="4252925"/>
            <a:ext cx="621600" cy="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Demat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508125" y="4396850"/>
            <a:ext cx="5388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800"/>
              <a:buFont typeface="IBM Plex Sans"/>
              <a:buNone/>
            </a:pPr>
            <a:r>
              <a:rPr lang="en-GB" sz="8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96%</a:t>
            </a:r>
            <a:endParaRPr sz="800">
              <a:solidFill>
                <a:srgbClr val="2323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1046850" y="4396850"/>
            <a:ext cx="3948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800"/>
              <a:buFont typeface="IBM Plex Sans"/>
              <a:buNone/>
            </a:pPr>
            <a:r>
              <a:rPr lang="en-GB" sz="8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4%</a:t>
            </a:r>
            <a:endParaRPr sz="800">
              <a:solidFill>
                <a:srgbClr val="2323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94" name="Google Shape;194;p19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7449" y="1043625"/>
            <a:ext cx="5159751" cy="319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/>
          <p:nvPr/>
        </p:nvSpPr>
        <p:spPr>
          <a:xfrm>
            <a:off x="476250" y="3695700"/>
            <a:ext cx="2310000" cy="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A9C4A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Doesn’t match your risk profile</a:t>
            </a:r>
            <a:endParaRPr sz="1050">
              <a:solidFill>
                <a:srgbClr val="CC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6795401" y="3326926"/>
            <a:ext cx="1833600" cy="1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Clr>
                <a:srgbClr val="8E9393"/>
              </a:buClr>
              <a:buSzPts val="675"/>
              <a:buFont typeface="IBM Plex Sans"/>
              <a:buNone/>
            </a:pPr>
            <a:r>
              <a:rPr lang="en-GB" sz="675">
                <a:solidFill>
                  <a:srgbClr val="8E9393"/>
                </a:solidFill>
                <a:latin typeface="IBM Plex Sans"/>
                <a:ea typeface="IBM Plex Sans"/>
                <a:cs typeface="IBM Plex Sans"/>
                <a:sym typeface="IBM Plex Sans"/>
              </a:rPr>
              <a:t>Small + Mid Allocation: 45%</a:t>
            </a:r>
            <a:endParaRPr sz="6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3E9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"/>
          <p:cNvSpPr/>
          <p:nvPr/>
        </p:nvSpPr>
        <p:spPr>
          <a:xfrm>
            <a:off x="0" y="476250"/>
            <a:ext cx="9144000" cy="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464946" y="594109"/>
            <a:ext cx="12858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25"/>
              <a:buFont typeface="IBM Plex Sans"/>
              <a:buNone/>
            </a:pPr>
            <a:r>
              <a:rPr lang="en-GB" sz="5625" i="0" u="none" strike="noStrike" cap="none">
                <a:solidFill>
                  <a:srgbClr val="B7B7B7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01</a:t>
            </a:r>
            <a:endParaRPr sz="5625" i="0" u="none" strike="noStrike" cap="none">
              <a:solidFill>
                <a:srgbClr val="B7B7B7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1495425" y="560196"/>
            <a:ext cx="78723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25"/>
              <a:buFont typeface="IBM Plex Sans"/>
              <a:buNone/>
            </a:pPr>
            <a:r>
              <a:rPr lang="en-GB" sz="5625" i="0" u="none" strike="noStrike" cap="none">
                <a:solidFill>
                  <a:srgbClr val="000000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What’s working well</a:t>
            </a:r>
            <a:endParaRPr sz="5625" i="0" u="none" strike="noStrike" cap="none">
              <a:solidFill>
                <a:schemeClr val="dk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/>
          <p:nvPr/>
        </p:nvSpPr>
        <p:spPr>
          <a:xfrm>
            <a:off x="476250" y="1209675"/>
            <a:ext cx="4019550" cy="337185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4648200" y="1209675"/>
            <a:ext cx="4019550" cy="337185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4838700" y="1409700"/>
            <a:ext cx="509587" cy="509587"/>
          </a:xfrm>
          <a:prstGeom prst="ellipse">
            <a:avLst/>
          </a:prstGeom>
          <a:solidFill>
            <a:srgbClr val="E4FC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1"/>
          <p:cNvSpPr/>
          <p:nvPr/>
        </p:nvSpPr>
        <p:spPr>
          <a:xfrm>
            <a:off x="666750" y="1409700"/>
            <a:ext cx="509587" cy="509587"/>
          </a:xfrm>
          <a:prstGeom prst="ellipse">
            <a:avLst/>
          </a:prstGeom>
          <a:solidFill>
            <a:srgbClr val="E4FC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476250" y="476250"/>
            <a:ext cx="7639050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1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What’s working well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476250" y="814388"/>
            <a:ext cx="7639050" cy="195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125"/>
              <a:buFont typeface="IBM Plex Sans"/>
              <a:buNone/>
            </a:pPr>
            <a:r>
              <a:rPr lang="en-GB" sz="1125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solid foundations already in place</a:t>
            </a:r>
            <a:endParaRPr sz="1125">
              <a:solidFill>
                <a:srgbClr val="6A6E6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4838700" y="2038350"/>
            <a:ext cx="20955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IBM Plex Sans"/>
              <a:buNone/>
            </a:pPr>
            <a:r>
              <a:rPr lang="en-GB"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rPr>
              <a:t>Solid Absolute Gains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4838700" y="2686050"/>
            <a:ext cx="34194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Solid absolute gains of 41.8L on total investment till date</a:t>
            </a:r>
            <a:endParaRPr sz="1050">
              <a:solidFill>
                <a:srgbClr val="2323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4724984" y="1543125"/>
            <a:ext cx="7143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98F51"/>
              </a:buClr>
              <a:buSzPts val="1620"/>
              <a:buFont typeface="IBM Plex Sans"/>
              <a:buNone/>
            </a:pPr>
            <a:r>
              <a:rPr lang="en-GB" sz="1620" b="0" i="0" u="none" strike="noStrike" cap="none">
                <a:solidFill>
                  <a:srgbClr val="198F51"/>
                </a:solidFill>
                <a:latin typeface="IBM Plex Sans"/>
                <a:ea typeface="IBM Plex Sans"/>
                <a:cs typeface="IBM Plex Sans"/>
                <a:sym typeface="IBM Plex Sans"/>
              </a:rPr>
              <a:t>02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666750" y="2038350"/>
            <a:ext cx="2462213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IBM Plex Sans"/>
              <a:buNone/>
            </a:pPr>
            <a:r>
              <a:rPr lang="en-GB" sz="1800" b="0" i="0" u="none" strike="noStrike" cap="none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Consistent investing discipline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666750" y="2686050"/>
            <a:ext cx="336708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SIPs &amp; lump sum over</a:t>
            </a:r>
            <a:r>
              <a:rPr lang="en-GB" sz="105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GB"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9</a:t>
            </a:r>
            <a:r>
              <a:rPr lang="en-GB" sz="105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GB"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years </a:t>
            </a:r>
            <a:r>
              <a:rPr lang="en-GB" sz="105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building a corpus of </a:t>
            </a:r>
            <a:r>
              <a:rPr lang="en-GB"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94.9L</a:t>
            </a:r>
            <a:r>
              <a:rPr lang="en-GB" sz="105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   </a:t>
            </a:r>
            <a:endParaRPr sz="1050" i="0" u="none" strike="noStrike" cap="non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553034" y="1543050"/>
            <a:ext cx="7143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98F51"/>
              </a:buClr>
              <a:buSzPts val="1620"/>
              <a:buFont typeface="IBM Plex Sans"/>
              <a:buNone/>
            </a:pPr>
            <a:r>
              <a:rPr lang="en-GB" sz="1620" b="0" i="0" u="none" strike="noStrike" cap="none">
                <a:solidFill>
                  <a:srgbClr val="198F51"/>
                </a:solidFill>
                <a:latin typeface="IBM Plex Sans"/>
                <a:ea typeface="IBM Plex Sans"/>
                <a:cs typeface="IBM Plex Sans"/>
                <a:sym typeface="IBM Plex Sans"/>
              </a:rPr>
              <a:t>01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476250" y="4889321"/>
            <a:ext cx="7782000" cy="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Clr>
                <a:srgbClr val="8E9393"/>
              </a:buClr>
              <a:buSzPts val="675"/>
              <a:buFont typeface="IBM Plex Sans"/>
              <a:buNone/>
            </a:pPr>
            <a:r>
              <a:rPr lang="en-GB" sz="675">
                <a:solidFill>
                  <a:srgbClr val="8E9393"/>
                </a:solidFill>
                <a:latin typeface="IBM Plex Sans"/>
                <a:ea typeface="IBM Plex Sans"/>
                <a:cs typeface="IBM Plex Sans"/>
                <a:sym typeface="IBM Plex Sans"/>
              </a:rPr>
              <a:t>Portfolios are classified as Very Aggressive, Aggressive, Balanced, Conservative, or Very Conservative based on a combination of risk tolerance, investment horizon, and asset allocation</a:t>
            </a:r>
            <a:endParaRPr sz="6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3E9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2"/>
          <p:cNvSpPr/>
          <p:nvPr/>
        </p:nvSpPr>
        <p:spPr>
          <a:xfrm>
            <a:off x="0" y="476250"/>
            <a:ext cx="9144000" cy="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476250" y="571500"/>
            <a:ext cx="12858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25"/>
              <a:buFont typeface="IBM Plex Sans"/>
              <a:buNone/>
            </a:pPr>
            <a:r>
              <a:rPr lang="en-GB" sz="5625">
                <a:solidFill>
                  <a:srgbClr val="B7B7B7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02</a:t>
            </a:r>
            <a:endParaRPr sz="5625" i="0" u="none" strike="noStrike" cap="none">
              <a:solidFill>
                <a:schemeClr val="dk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1495425" y="548891"/>
            <a:ext cx="78723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25"/>
              <a:buFont typeface="IBM Plex Sans"/>
              <a:buNone/>
            </a:pPr>
            <a:r>
              <a:rPr lang="en-GB" sz="5625">
                <a:latin typeface="IBM Plex Sans Light"/>
                <a:ea typeface="IBM Plex Sans Light"/>
                <a:cs typeface="IBM Plex Sans Light"/>
                <a:sym typeface="IBM Plex Sans Light"/>
              </a:rPr>
              <a:t>What</a:t>
            </a:r>
            <a:r>
              <a:rPr lang="en-GB" sz="5625" i="0" u="none" strike="noStrike" cap="none">
                <a:solidFill>
                  <a:srgbClr val="000000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could be better</a:t>
            </a:r>
            <a:endParaRPr sz="5625" i="0" u="none" strike="noStrike" cap="none">
              <a:solidFill>
                <a:schemeClr val="dk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"/>
          <p:cNvSpPr/>
          <p:nvPr/>
        </p:nvSpPr>
        <p:spPr>
          <a:xfrm>
            <a:off x="3257550" y="1209675"/>
            <a:ext cx="2628900" cy="3371850"/>
          </a:xfrm>
          <a:prstGeom prst="roundRect">
            <a:avLst>
              <a:gd name="adj" fmla="val 10435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3"/>
          <p:cNvSpPr/>
          <p:nvPr/>
        </p:nvSpPr>
        <p:spPr>
          <a:xfrm>
            <a:off x="3448050" y="2708650"/>
            <a:ext cx="235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232323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25% of portfolio is in Off-track / Out of form schemes (2/16), </a:t>
            </a:r>
            <a:r>
              <a:rPr lang="en-GB" sz="1050" b="1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resulting in 12.94L worth of missed gains</a:t>
            </a:r>
            <a:r>
              <a:rPr lang="en-GB" sz="1050">
                <a:solidFill>
                  <a:srgbClr val="232323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- SBI Flexi Cap &amp; Aditya BSL Focused</a:t>
            </a:r>
            <a:endParaRPr sz="1050">
              <a:solidFill>
                <a:srgbClr val="232323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476250" y="1209675"/>
            <a:ext cx="2628900" cy="3371850"/>
          </a:xfrm>
          <a:prstGeom prst="roundRect">
            <a:avLst>
              <a:gd name="adj" fmla="val 10435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3"/>
          <p:cNvSpPr/>
          <p:nvPr/>
        </p:nvSpPr>
        <p:spPr>
          <a:xfrm>
            <a:off x="6038850" y="1209675"/>
            <a:ext cx="2628900" cy="3371850"/>
          </a:xfrm>
          <a:prstGeom prst="roundRect">
            <a:avLst>
              <a:gd name="adj" fmla="val 10435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3"/>
          <p:cNvSpPr/>
          <p:nvPr/>
        </p:nvSpPr>
        <p:spPr>
          <a:xfrm>
            <a:off x="6229350" y="1409700"/>
            <a:ext cx="509587" cy="509587"/>
          </a:xfrm>
          <a:prstGeom prst="ellipse">
            <a:avLst/>
          </a:prstGeom>
          <a:solidFill>
            <a:srgbClr val="FFE0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3"/>
          <p:cNvSpPr/>
          <p:nvPr/>
        </p:nvSpPr>
        <p:spPr>
          <a:xfrm>
            <a:off x="3448050" y="1409700"/>
            <a:ext cx="509587" cy="509587"/>
          </a:xfrm>
          <a:prstGeom prst="ellipse">
            <a:avLst/>
          </a:prstGeom>
          <a:solidFill>
            <a:srgbClr val="FFE0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23"/>
          <p:cNvSpPr/>
          <p:nvPr/>
        </p:nvSpPr>
        <p:spPr>
          <a:xfrm>
            <a:off x="666750" y="1409700"/>
            <a:ext cx="509587" cy="509587"/>
          </a:xfrm>
          <a:prstGeom prst="ellipse">
            <a:avLst/>
          </a:prstGeom>
          <a:solidFill>
            <a:srgbClr val="FFE0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3"/>
          <p:cNvSpPr/>
          <p:nvPr/>
        </p:nvSpPr>
        <p:spPr>
          <a:xfrm>
            <a:off x="476250" y="476250"/>
            <a:ext cx="7639050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1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</a:t>
            </a: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could be better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6229350" y="2708650"/>
            <a:ext cx="2395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232323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41% exposure to regular plans in equity schemes, you’ve paid </a:t>
            </a:r>
            <a:endParaRPr sz="1050">
              <a:solidFill>
                <a:srgbClr val="232323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232323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commissions amounting ₹2.8L, and </a:t>
            </a:r>
            <a:r>
              <a:rPr lang="en-GB" sz="1050" b="1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will end up paying 8.04L over next 10 years</a:t>
            </a:r>
            <a:endParaRPr sz="1050" b="1">
              <a:solidFill>
                <a:srgbClr val="2323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476250" y="814388"/>
            <a:ext cx="7639050" cy="195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125"/>
              <a:buFont typeface="IBM Plex Sans"/>
              <a:buNone/>
            </a:pPr>
            <a:r>
              <a:rPr lang="en-GB" sz="1125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Gaps we can help you fix</a:t>
            </a:r>
            <a:endParaRPr sz="1125">
              <a:solidFill>
                <a:srgbClr val="6A6E6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6229350" y="2038350"/>
            <a:ext cx="27051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IBM Plex Sans"/>
              <a:buNone/>
            </a:pPr>
            <a:r>
              <a:rPr lang="en-GB"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rPr>
              <a:t>Higher costs than necessary</a:t>
            </a:r>
            <a:endParaRPr sz="1800">
              <a:solidFill>
                <a:srgbClr val="11111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6129338" y="1543050"/>
            <a:ext cx="7143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92617"/>
              </a:buClr>
              <a:buSzPts val="1620"/>
              <a:buFont typeface="IBM Plex Sans"/>
              <a:buNone/>
            </a:pPr>
            <a:r>
              <a:rPr lang="en-GB" sz="1620" b="0" i="0" u="none" strike="noStrike" cap="none">
                <a:solidFill>
                  <a:srgbClr val="992617"/>
                </a:solidFill>
                <a:latin typeface="IBM Plex Sans"/>
                <a:ea typeface="IBM Plex Sans"/>
                <a:cs typeface="IBM Plex Sans"/>
                <a:sym typeface="IBM Plex Sans"/>
              </a:rPr>
              <a:t>03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3448050" y="2038350"/>
            <a:ext cx="25717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IBM Plex Sans"/>
              <a:buNone/>
            </a:pPr>
            <a:r>
              <a:rPr lang="en-GB"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Fund </a:t>
            </a:r>
            <a:endParaRPr sz="1800">
              <a:solidFill>
                <a:srgbClr val="11111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IBM Plex Sans"/>
              <a:buNone/>
            </a:pPr>
            <a:r>
              <a:rPr lang="en-GB"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Quality</a:t>
            </a:r>
            <a:endParaRPr sz="1800">
              <a:solidFill>
                <a:srgbClr val="11111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3348038" y="1543050"/>
            <a:ext cx="7143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92617"/>
              </a:buClr>
              <a:buSzPts val="1620"/>
              <a:buFont typeface="IBM Plex Sans"/>
              <a:buNone/>
            </a:pPr>
            <a:r>
              <a:rPr lang="en-GB" sz="1620" b="0" i="0" u="none" strike="noStrike" cap="none">
                <a:solidFill>
                  <a:srgbClr val="992617"/>
                </a:solidFill>
                <a:latin typeface="IBM Plex Sans"/>
                <a:ea typeface="IBM Plex Sans"/>
                <a:cs typeface="IBM Plex Sans"/>
                <a:sym typeface="IBM Plex Sans"/>
              </a:rPr>
              <a:t>02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666750" y="2038350"/>
            <a:ext cx="27051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IBM Plex Sans"/>
              <a:buNone/>
            </a:pPr>
            <a:r>
              <a:rPr lang="en-GB"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Concentration Risk - Scheme Level </a:t>
            </a:r>
            <a:endParaRPr sz="1800">
              <a:solidFill>
                <a:srgbClr val="11111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666750" y="2708650"/>
            <a:ext cx="23505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232323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2/16 schemes hold 41% of your portfolio. Sundaram Mid Cap &amp; SBI Flexi Cap. On the contrary, 5/16 schemes hold &lt;3%</a:t>
            </a:r>
            <a:endParaRPr sz="1050">
              <a:solidFill>
                <a:srgbClr val="232323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566738" y="1543050"/>
            <a:ext cx="7143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92617"/>
              </a:buClr>
              <a:buSzPts val="1620"/>
              <a:buFont typeface="IBM Plex Sans"/>
              <a:buNone/>
            </a:pPr>
            <a:r>
              <a:rPr lang="en-GB" sz="1620" b="0" i="0" u="none" strike="noStrike" cap="none">
                <a:solidFill>
                  <a:srgbClr val="992617"/>
                </a:solidFill>
                <a:latin typeface="IBM Plex Sans"/>
                <a:ea typeface="IBM Plex Sans"/>
                <a:cs typeface="IBM Plex Sans"/>
                <a:sym typeface="IBM Plex Sans"/>
              </a:rPr>
              <a:t>01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476250" y="4889321"/>
            <a:ext cx="7782000" cy="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Clr>
                <a:srgbClr val="8E9393"/>
              </a:buClr>
              <a:buSzPts val="675"/>
              <a:buFont typeface="IBM Plex Sans"/>
              <a:buNone/>
            </a:pPr>
            <a:r>
              <a:rPr lang="en-GB" sz="675">
                <a:solidFill>
                  <a:srgbClr val="8E9393"/>
                </a:solidFill>
                <a:latin typeface="IBM Plex Sans"/>
                <a:ea typeface="IBM Plex Sans"/>
                <a:cs typeface="IBM Plex Sans"/>
                <a:sym typeface="IBM Plex Sans"/>
              </a:rPr>
              <a:t>*Sub-categories are just the different scheme types you’ve invested in for example Flexi Cap, Large Cap, ELSS, Aggressive Hybrid, Sector (Technology), and Global (USA)</a:t>
            </a:r>
            <a:endParaRPr sz="6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457519" y="4632806"/>
            <a:ext cx="81357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050"/>
              <a:buFont typeface="IBM Plex Sans"/>
              <a:buNone/>
            </a:pPr>
            <a:r>
              <a:rPr lang="en-GB" sz="1050" b="1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#Current distribution of funds across categories is misaligned with your risk tolerance and investment horizon</a:t>
            </a:r>
            <a:endParaRPr sz="1050" b="1">
              <a:solidFill>
                <a:srgbClr val="2323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/>
          <p:nvPr/>
        </p:nvSpPr>
        <p:spPr>
          <a:xfrm>
            <a:off x="3172976" y="1304925"/>
            <a:ext cx="5562600" cy="2900400"/>
          </a:xfrm>
          <a:prstGeom prst="roundRect">
            <a:avLst>
              <a:gd name="adj" fmla="val 16667"/>
            </a:avLst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4"/>
          <p:cNvSpPr/>
          <p:nvPr/>
        </p:nvSpPr>
        <p:spPr>
          <a:xfrm>
            <a:off x="3362325" y="1500188"/>
            <a:ext cx="4886400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4"/>
          <p:cNvSpPr/>
          <p:nvPr/>
        </p:nvSpPr>
        <p:spPr>
          <a:xfrm>
            <a:off x="3362325" y="1500188"/>
            <a:ext cx="488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4"/>
          <p:cNvSpPr/>
          <p:nvPr/>
        </p:nvSpPr>
        <p:spPr>
          <a:xfrm>
            <a:off x="3362325" y="2185988"/>
            <a:ext cx="488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4"/>
          <p:cNvSpPr/>
          <p:nvPr/>
        </p:nvSpPr>
        <p:spPr>
          <a:xfrm>
            <a:off x="487554" y="1304925"/>
            <a:ext cx="509700" cy="509700"/>
          </a:xfrm>
          <a:prstGeom prst="ellipse">
            <a:avLst/>
          </a:prstGeom>
          <a:solidFill>
            <a:srgbClr val="FFE0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24"/>
          <p:cNvSpPr/>
          <p:nvPr/>
        </p:nvSpPr>
        <p:spPr>
          <a:xfrm>
            <a:off x="476250" y="476250"/>
            <a:ext cx="76392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1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c</a:t>
            </a: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ould</a:t>
            </a:r>
            <a:r>
              <a:rPr lang="en-GB" sz="21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 be </a:t>
            </a: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b</a:t>
            </a:r>
            <a:r>
              <a:rPr lang="en-GB" sz="21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etter </a:t>
            </a: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r>
              <a:rPr lang="en-GB" sz="21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/3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4"/>
          <p:cNvSpPr/>
          <p:nvPr/>
        </p:nvSpPr>
        <p:spPr>
          <a:xfrm>
            <a:off x="476250" y="814388"/>
            <a:ext cx="5867400" cy="1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125"/>
              <a:buFont typeface="IBM Plex Sans"/>
              <a:buNone/>
            </a:pPr>
            <a:r>
              <a:rPr lang="en-GB" sz="1125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Ensure optimal allocation at scheme level</a:t>
            </a:r>
            <a:endParaRPr sz="1125">
              <a:solidFill>
                <a:srgbClr val="6A6E6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67" name="Google Shape;267;p24"/>
          <p:cNvSpPr/>
          <p:nvPr/>
        </p:nvSpPr>
        <p:spPr>
          <a:xfrm>
            <a:off x="3362325" y="2767013"/>
            <a:ext cx="3314700" cy="1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661D"/>
              </a:buClr>
              <a:buSzPts val="1200"/>
              <a:buFont typeface="IBM Plex Sans"/>
              <a:buNone/>
            </a:pPr>
            <a:r>
              <a:rPr lang="en-GB" sz="1200" i="0" u="none" strike="noStrike" cap="none">
                <a:solidFill>
                  <a:srgbClr val="00661D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What we will fix</a:t>
            </a:r>
            <a:endParaRPr sz="1200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3362325" y="2967038"/>
            <a:ext cx="53436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00661D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Ensure optimal allocation at scheme level &amp; cap maximum holdings at 20%</a:t>
            </a:r>
            <a:endParaRPr sz="1050">
              <a:solidFill>
                <a:srgbClr val="00661D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3362325" y="1547813"/>
            <a:ext cx="3314700" cy="1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00"/>
              <a:buFont typeface="IBM Plex Sans"/>
              <a:buNone/>
            </a:pPr>
            <a:r>
              <a:rPr lang="en-GB" sz="1200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Why it matters</a:t>
            </a:r>
            <a:endParaRPr sz="1200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3362325" y="1747838"/>
            <a:ext cx="53436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6A6E6E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Large exposure to a single scheme makes your portfolio overly dependent on one fund’s performance. Any underperformance or volatility can disproportionately impact overall returns and increase risk.</a:t>
            </a:r>
            <a:endParaRPr sz="1050">
              <a:solidFill>
                <a:srgbClr val="6A6E6E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400050" y="1857375"/>
            <a:ext cx="2748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Concentration Risk - Scheme Level </a:t>
            </a:r>
            <a:endParaRPr sz="150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400050" y="2409825"/>
            <a:ext cx="2405100" cy="1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232323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2/16 schemes hold 41% of your portfolio. Sundaram Mid Cap &amp; SBI Flexi Cap. On the contrary, 5/16 schemes hold &lt;3%</a:t>
            </a:r>
            <a:endParaRPr sz="1050">
              <a:solidFill>
                <a:srgbClr val="232323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rgbClr val="232323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376238" y="1438275"/>
            <a:ext cx="7143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3A24"/>
              </a:buClr>
              <a:buSzPts val="1620"/>
              <a:buFont typeface="IBM Plex Sans"/>
              <a:buNone/>
            </a:pPr>
            <a:r>
              <a:rPr lang="en-GB" sz="1620" b="0" i="0" u="none" strike="noStrike" cap="none">
                <a:solidFill>
                  <a:srgbClr val="9D3A24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-GB" sz="1620">
                <a:solidFill>
                  <a:srgbClr val="9D3A24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5"/>
          <p:cNvSpPr/>
          <p:nvPr/>
        </p:nvSpPr>
        <p:spPr>
          <a:xfrm>
            <a:off x="3161672" y="1304925"/>
            <a:ext cx="5562600" cy="2900400"/>
          </a:xfrm>
          <a:prstGeom prst="roundRect">
            <a:avLst>
              <a:gd name="adj" fmla="val 16667"/>
            </a:avLst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5"/>
          <p:cNvSpPr/>
          <p:nvPr/>
        </p:nvSpPr>
        <p:spPr>
          <a:xfrm>
            <a:off x="3362325" y="1500188"/>
            <a:ext cx="4886400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25"/>
          <p:cNvSpPr/>
          <p:nvPr/>
        </p:nvSpPr>
        <p:spPr>
          <a:xfrm>
            <a:off x="3362325" y="1500188"/>
            <a:ext cx="488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5"/>
          <p:cNvSpPr/>
          <p:nvPr/>
        </p:nvSpPr>
        <p:spPr>
          <a:xfrm>
            <a:off x="3362325" y="2185988"/>
            <a:ext cx="488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5"/>
          <p:cNvSpPr/>
          <p:nvPr/>
        </p:nvSpPr>
        <p:spPr>
          <a:xfrm>
            <a:off x="487554" y="1304925"/>
            <a:ext cx="509700" cy="509700"/>
          </a:xfrm>
          <a:prstGeom prst="ellipse">
            <a:avLst/>
          </a:prstGeom>
          <a:solidFill>
            <a:srgbClr val="FFE0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25"/>
          <p:cNvSpPr/>
          <p:nvPr/>
        </p:nvSpPr>
        <p:spPr>
          <a:xfrm>
            <a:off x="476250" y="476250"/>
            <a:ext cx="76392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1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</a:t>
            </a: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could </a:t>
            </a:r>
            <a:r>
              <a:rPr lang="en-GB" sz="21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be </a:t>
            </a: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b</a:t>
            </a:r>
            <a:r>
              <a:rPr lang="en-GB" sz="21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etter </a:t>
            </a: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  <a:r>
              <a:rPr lang="en-GB" sz="21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/3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476250" y="814388"/>
            <a:ext cx="5867400" cy="1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125"/>
              <a:buFont typeface="IBM Plex Sans"/>
              <a:buNone/>
            </a:pPr>
            <a:r>
              <a:rPr lang="en-GB" sz="1125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Clean. Focused. Optimal for better returns</a:t>
            </a:r>
            <a:endParaRPr sz="1125">
              <a:solidFill>
                <a:srgbClr val="6A6E6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3362325" y="2843213"/>
            <a:ext cx="3314700" cy="1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661D"/>
              </a:buClr>
              <a:buSzPts val="1200"/>
              <a:buFont typeface="IBM Plex Sans"/>
              <a:buNone/>
            </a:pPr>
            <a:r>
              <a:rPr lang="en-GB" sz="1200" i="0" u="none" strike="noStrike" cap="none">
                <a:solidFill>
                  <a:srgbClr val="00661D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What we will fix</a:t>
            </a:r>
            <a:endParaRPr sz="1200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3362325" y="3043238"/>
            <a:ext cx="53436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00661D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Only select the top schemes in every sub-category</a:t>
            </a:r>
            <a:endParaRPr sz="1050">
              <a:solidFill>
                <a:srgbClr val="00661D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3362325" y="1747884"/>
            <a:ext cx="53436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6A6E6E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When a meaningful portion of the portfolio is invested in Off-track /</a:t>
            </a:r>
            <a:endParaRPr sz="1050">
              <a:solidFill>
                <a:srgbClr val="6A6E6E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6A6E6E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Out-of-form funds, overall returns suffer. Capital remains tied to underperformers, reducing the impact of high-quality schemes and weakening long-term compounding</a:t>
            </a:r>
            <a:endParaRPr sz="1050">
              <a:solidFill>
                <a:srgbClr val="6A6E6E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3362325" y="1547813"/>
            <a:ext cx="3314700" cy="1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00"/>
              <a:buFont typeface="IBM Plex Sans"/>
              <a:buNone/>
            </a:pPr>
            <a:r>
              <a:rPr lang="en-GB" sz="1200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Why it matters</a:t>
            </a:r>
            <a:endParaRPr sz="1200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400050" y="1933575"/>
            <a:ext cx="2748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IBM Plex Sans"/>
              <a:buNone/>
            </a:pPr>
            <a:r>
              <a:rPr lang="en-GB" sz="150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Fund Quality</a:t>
            </a:r>
            <a:endParaRPr sz="150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400050" y="2638425"/>
            <a:ext cx="2405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232323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25% of portfolio is in Off-track / Out of form schemes (2/16), resulting in 12.94L worth of missed gains - SBI Flexi Cap &amp; Aditya BSL Focused</a:t>
            </a:r>
            <a:endParaRPr sz="1050">
              <a:solidFill>
                <a:srgbClr val="232323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rgbClr val="232323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376238" y="1438275"/>
            <a:ext cx="7143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3A24"/>
              </a:buClr>
              <a:buSzPts val="1620"/>
              <a:buFont typeface="IBM Plex Sans"/>
              <a:buNone/>
            </a:pPr>
            <a:r>
              <a:rPr lang="en-GB" sz="1620" b="0" i="0" u="none" strike="noStrike" cap="none">
                <a:solidFill>
                  <a:srgbClr val="9D3A24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-GB" sz="1620">
                <a:solidFill>
                  <a:srgbClr val="9D3A24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"/>
          <p:cNvSpPr/>
          <p:nvPr/>
        </p:nvSpPr>
        <p:spPr>
          <a:xfrm>
            <a:off x="3172976" y="1304925"/>
            <a:ext cx="5562600" cy="2900400"/>
          </a:xfrm>
          <a:prstGeom prst="roundRect">
            <a:avLst>
              <a:gd name="adj" fmla="val 16667"/>
            </a:avLst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26"/>
          <p:cNvSpPr/>
          <p:nvPr/>
        </p:nvSpPr>
        <p:spPr>
          <a:xfrm>
            <a:off x="3362325" y="1500188"/>
            <a:ext cx="4886325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6"/>
          <p:cNvSpPr/>
          <p:nvPr/>
        </p:nvSpPr>
        <p:spPr>
          <a:xfrm>
            <a:off x="3362325" y="1500188"/>
            <a:ext cx="48863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6"/>
          <p:cNvSpPr/>
          <p:nvPr/>
        </p:nvSpPr>
        <p:spPr>
          <a:xfrm>
            <a:off x="3362325" y="2185988"/>
            <a:ext cx="48863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6"/>
          <p:cNvSpPr/>
          <p:nvPr/>
        </p:nvSpPr>
        <p:spPr>
          <a:xfrm>
            <a:off x="487554" y="1304925"/>
            <a:ext cx="509700" cy="509700"/>
          </a:xfrm>
          <a:prstGeom prst="ellipse">
            <a:avLst/>
          </a:prstGeom>
          <a:solidFill>
            <a:srgbClr val="FFE0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6"/>
          <p:cNvSpPr/>
          <p:nvPr/>
        </p:nvSpPr>
        <p:spPr>
          <a:xfrm>
            <a:off x="476250" y="476250"/>
            <a:ext cx="7639050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1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c</a:t>
            </a: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ould</a:t>
            </a:r>
            <a:r>
              <a:rPr lang="en-GB" sz="21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 be </a:t>
            </a: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b</a:t>
            </a:r>
            <a:r>
              <a:rPr lang="en-GB" sz="21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etter </a:t>
            </a: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  <a:r>
              <a:rPr lang="en-GB" sz="21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/3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6"/>
          <p:cNvSpPr/>
          <p:nvPr/>
        </p:nvSpPr>
        <p:spPr>
          <a:xfrm>
            <a:off x="476250" y="814388"/>
            <a:ext cx="5867400" cy="195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125"/>
              <a:buFont typeface="IBM Plex Sans"/>
              <a:buNone/>
            </a:pPr>
            <a:r>
              <a:rPr lang="en-GB" sz="1125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Eliminating fees that dilute long-term returns</a:t>
            </a:r>
            <a:endParaRPr sz="1125">
              <a:solidFill>
                <a:srgbClr val="6A6E6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05" name="Google Shape;305;p26"/>
          <p:cNvSpPr/>
          <p:nvPr/>
        </p:nvSpPr>
        <p:spPr>
          <a:xfrm>
            <a:off x="3362325" y="3852863"/>
            <a:ext cx="4519613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9939"/>
              </a:lnSpc>
              <a:spcBef>
                <a:spcPts val="0"/>
              </a:spcBef>
              <a:spcAft>
                <a:spcPts val="0"/>
              </a:spcAft>
              <a:buClr>
                <a:srgbClr val="8E9393"/>
              </a:buClr>
              <a:buSzPts val="825"/>
              <a:buFont typeface="IBM Plex Sans"/>
              <a:buNone/>
            </a:pPr>
            <a:r>
              <a:rPr lang="en-GB" sz="825" i="0" u="none" strike="noStrike" cap="none">
                <a:solidFill>
                  <a:srgbClr val="8E9393"/>
                </a:solidFill>
                <a:latin typeface="IBM Plex Sans"/>
                <a:ea typeface="IBM Plex Sans"/>
                <a:cs typeface="IBM Plex Sans"/>
                <a:sym typeface="IBM Plex Sans"/>
              </a:rPr>
              <a:t>We are a SEBI registered RIA. We earn zero commission from fund houses</a:t>
            </a:r>
            <a:endParaRPr sz="825" i="0" u="none" strike="noStrike" cap="non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06" name="Google Shape;306;p26"/>
          <p:cNvSpPr/>
          <p:nvPr/>
        </p:nvSpPr>
        <p:spPr>
          <a:xfrm>
            <a:off x="3362325" y="2614613"/>
            <a:ext cx="3314700" cy="1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661D"/>
              </a:buClr>
              <a:buSzPts val="1200"/>
              <a:buFont typeface="IBM Plex Sans"/>
              <a:buNone/>
            </a:pPr>
            <a:r>
              <a:rPr lang="en-GB" sz="1200" i="0" u="none" strike="noStrike" cap="none">
                <a:solidFill>
                  <a:srgbClr val="00661D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What we will fix</a:t>
            </a:r>
            <a:endParaRPr sz="1200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307" name="Google Shape;307;p26"/>
          <p:cNvSpPr/>
          <p:nvPr/>
        </p:nvSpPr>
        <p:spPr>
          <a:xfrm>
            <a:off x="3362325" y="2814638"/>
            <a:ext cx="53436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61D"/>
              </a:buClr>
              <a:buSzPts val="1050"/>
              <a:buFont typeface="IBM Plex Sans"/>
              <a:buNone/>
            </a:pPr>
            <a:r>
              <a:rPr lang="en-GB" sz="1050" i="0" u="none" strike="noStrike" cap="none">
                <a:solidFill>
                  <a:srgbClr val="00661D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Transition to 100% direct funds</a:t>
            </a:r>
            <a:endParaRPr sz="1050" i="0" u="none" strike="noStrike" cap="none">
              <a:solidFill>
                <a:schemeClr val="dk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308" name="Google Shape;308;p26"/>
          <p:cNvSpPr/>
          <p:nvPr/>
        </p:nvSpPr>
        <p:spPr>
          <a:xfrm>
            <a:off x="3362325" y="1547813"/>
            <a:ext cx="3314700" cy="10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00"/>
              <a:buFont typeface="IBM Plex Sans"/>
              <a:buNone/>
            </a:pPr>
            <a:r>
              <a:rPr lang="en-GB" sz="1200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Why it matters</a:t>
            </a:r>
            <a:endParaRPr sz="1200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309" name="Google Shape;309;p26"/>
          <p:cNvSpPr/>
          <p:nvPr/>
        </p:nvSpPr>
        <p:spPr>
          <a:xfrm>
            <a:off x="3362325" y="1747838"/>
            <a:ext cx="53435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6A6E6E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Higher the expense ratio, lower the returns. Over a decade, you lose 30-40% of your potential gains to commissions alone</a:t>
            </a:r>
            <a:endParaRPr sz="1050">
              <a:solidFill>
                <a:srgbClr val="6A6E6E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310" name="Google Shape;310;p26"/>
          <p:cNvSpPr/>
          <p:nvPr/>
        </p:nvSpPr>
        <p:spPr>
          <a:xfrm>
            <a:off x="400050" y="1857375"/>
            <a:ext cx="2748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IBM Plex Sans"/>
              <a:buNone/>
            </a:pPr>
            <a:r>
              <a:rPr lang="en-GB" sz="1500" i="0" u="none" strike="noStrike" cap="none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Higher costs than necessary</a:t>
            </a:r>
            <a:endParaRPr sz="1500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311" name="Google Shape;311;p26"/>
          <p:cNvSpPr/>
          <p:nvPr/>
        </p:nvSpPr>
        <p:spPr>
          <a:xfrm>
            <a:off x="400050" y="2257425"/>
            <a:ext cx="2405100" cy="1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232323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41% exposure to regular plans in equity schemes, you’ve paid </a:t>
            </a:r>
            <a:endParaRPr sz="1050">
              <a:solidFill>
                <a:srgbClr val="232323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232323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commissions amounting ₹2.8L, and will end up paying 8.04L over next 10 years</a:t>
            </a:r>
            <a:endParaRPr sz="1050">
              <a:solidFill>
                <a:srgbClr val="232323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312" name="Google Shape;312;p26"/>
          <p:cNvSpPr/>
          <p:nvPr/>
        </p:nvSpPr>
        <p:spPr>
          <a:xfrm>
            <a:off x="376238" y="1438275"/>
            <a:ext cx="7143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3A24"/>
              </a:buClr>
              <a:buSzPts val="1620"/>
              <a:buFont typeface="IBM Plex Sans"/>
              <a:buNone/>
            </a:pPr>
            <a:r>
              <a:rPr lang="en-GB" sz="1620" b="0" i="0" u="none" strike="noStrike" cap="none">
                <a:solidFill>
                  <a:srgbClr val="9D3A24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-GB" sz="1620">
                <a:solidFill>
                  <a:srgbClr val="9D3A24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3E9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7"/>
          <p:cNvSpPr/>
          <p:nvPr/>
        </p:nvSpPr>
        <p:spPr>
          <a:xfrm>
            <a:off x="0" y="476250"/>
            <a:ext cx="9144000" cy="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27"/>
          <p:cNvSpPr/>
          <p:nvPr/>
        </p:nvSpPr>
        <p:spPr>
          <a:xfrm>
            <a:off x="476250" y="571500"/>
            <a:ext cx="12858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25"/>
              <a:buFont typeface="IBM Plex Sans"/>
              <a:buNone/>
            </a:pPr>
            <a:r>
              <a:rPr lang="en-GB" sz="5625" i="0" u="none" strike="noStrike" cap="none">
                <a:solidFill>
                  <a:srgbClr val="B7B7B7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03</a:t>
            </a:r>
            <a:endParaRPr sz="5625" i="0" u="none" strike="noStrike" cap="none">
              <a:solidFill>
                <a:srgbClr val="B7B7B7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320" name="Google Shape;320;p27"/>
          <p:cNvSpPr/>
          <p:nvPr/>
        </p:nvSpPr>
        <p:spPr>
          <a:xfrm>
            <a:off x="1495425" y="548891"/>
            <a:ext cx="78723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25"/>
              <a:buFont typeface="IBM Plex Sans"/>
              <a:buNone/>
            </a:pPr>
            <a:r>
              <a:rPr lang="en-GB" sz="5625" i="0" u="none" strike="noStrike" cap="none">
                <a:solidFill>
                  <a:srgbClr val="000000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Portfolio vs Infinite</a:t>
            </a:r>
            <a:endParaRPr sz="5625" i="0" u="none" strike="noStrike" cap="none">
              <a:solidFill>
                <a:schemeClr val="dk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8"/>
          <p:cNvSpPr/>
          <p:nvPr/>
        </p:nvSpPr>
        <p:spPr>
          <a:xfrm>
            <a:off x="476250" y="476250"/>
            <a:ext cx="7639200" cy="6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1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Your portfolio with Infinite’s approach of smarter allocation, data-backed selection and tax efficient rebalancing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7" name="Google Shape;327;p28"/>
          <p:cNvGraphicFramePr/>
          <p:nvPr/>
        </p:nvGraphicFramePr>
        <p:xfrm>
          <a:off x="5705600" y="2305800"/>
          <a:ext cx="2976850" cy="968824"/>
        </p:xfrm>
        <a:graphic>
          <a:graphicData uri="http://schemas.openxmlformats.org/drawingml/2006/table">
            <a:tbl>
              <a:tblPr>
                <a:noFill/>
                <a:tableStyleId>{E814604F-D367-480A-A2B5-85DE3EB964CA}</a:tableStyleId>
              </a:tblPr>
              <a:tblGrid>
                <a:gridCol w="98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With Infinite</a:t>
                      </a:r>
                      <a:endParaRPr sz="1200" b="1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Actual</a:t>
                      </a:r>
                      <a:endParaRPr sz="1200" b="1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8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Annualized Returns*</a:t>
                      </a:r>
                      <a:endParaRPr sz="12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20.16%</a:t>
                      </a:r>
                      <a:endParaRPr sz="1200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17.69%</a:t>
                      </a:r>
                      <a:endParaRPr sz="1200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28" name="Google Shape;328;p28"/>
          <p:cNvSpPr txBox="1"/>
          <p:nvPr/>
        </p:nvSpPr>
        <p:spPr>
          <a:xfrm>
            <a:off x="665403" y="1514400"/>
            <a:ext cx="777900" cy="2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Actual Gains</a:t>
            </a:r>
            <a:endParaRPr sz="10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29" name="Google Shape;329;p28"/>
          <p:cNvSpPr txBox="1"/>
          <p:nvPr/>
        </p:nvSpPr>
        <p:spPr>
          <a:xfrm>
            <a:off x="1444853" y="1519850"/>
            <a:ext cx="1137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Infinite Very Aggressive</a:t>
            </a:r>
            <a:endParaRPr sz="10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30" name="Google Shape;330;p28"/>
          <p:cNvSpPr/>
          <p:nvPr/>
        </p:nvSpPr>
        <p:spPr>
          <a:xfrm>
            <a:off x="1356043" y="1614654"/>
            <a:ext cx="88800" cy="873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28"/>
          <p:cNvSpPr/>
          <p:nvPr/>
        </p:nvSpPr>
        <p:spPr>
          <a:xfrm>
            <a:off x="605568" y="1614654"/>
            <a:ext cx="88800" cy="87300"/>
          </a:xfrm>
          <a:prstGeom prst="ellipse">
            <a:avLst/>
          </a:prstGeom>
          <a:solidFill>
            <a:srgbClr val="4E9E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28"/>
          <p:cNvSpPr txBox="1"/>
          <p:nvPr/>
        </p:nvSpPr>
        <p:spPr>
          <a:xfrm>
            <a:off x="81350" y="4827108"/>
            <a:ext cx="8640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i="1"/>
              <a:t>*XIRR since 1st Jan 2021</a:t>
            </a:r>
            <a:endParaRPr sz="600" i="1"/>
          </a:p>
        </p:txBody>
      </p:sp>
      <p:sp>
        <p:nvSpPr>
          <p:cNvPr id="333" name="Google Shape;333;p28"/>
          <p:cNvSpPr txBox="1"/>
          <p:nvPr/>
        </p:nvSpPr>
        <p:spPr>
          <a:xfrm>
            <a:off x="2470182" y="1519854"/>
            <a:ext cx="2072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Comparison of </a:t>
            </a:r>
            <a:r>
              <a:rPr lang="en-GB" sz="6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portfolio gains</a:t>
            </a:r>
            <a:r>
              <a:rPr lang="en-GB" sz="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with Infinite and Actual</a:t>
            </a:r>
            <a:endParaRPr sz="10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34" name="Google Shape;334;p28"/>
          <p:cNvSpPr/>
          <p:nvPr/>
        </p:nvSpPr>
        <p:spPr>
          <a:xfrm>
            <a:off x="4921093" y="3105032"/>
            <a:ext cx="301200" cy="160800"/>
          </a:xfrm>
          <a:prstGeom prst="roundRect">
            <a:avLst>
              <a:gd name="adj" fmla="val 16667"/>
            </a:avLst>
          </a:prstGeom>
          <a:solidFill>
            <a:srgbClr val="4E9EED"/>
          </a:solidFill>
          <a:ln>
            <a:noFill/>
          </a:ln>
        </p:spPr>
        <p:txBody>
          <a:bodyPr spcFirstLastPara="1" wrap="square" lIns="18000" tIns="36000" rIns="1800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5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41.5L</a:t>
            </a:r>
            <a:endParaRPr sz="55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335" name="Google Shape;335;p28"/>
          <p:cNvSpPr/>
          <p:nvPr/>
        </p:nvSpPr>
        <p:spPr>
          <a:xfrm>
            <a:off x="4921093" y="2419232"/>
            <a:ext cx="301200" cy="16080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18000" tIns="36000" rIns="1800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5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49.7L</a:t>
            </a:r>
            <a:endParaRPr sz="55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cxnSp>
        <p:nvCxnSpPr>
          <p:cNvPr id="336" name="Google Shape;336;p28"/>
          <p:cNvCxnSpPr/>
          <p:nvPr/>
        </p:nvCxnSpPr>
        <p:spPr>
          <a:xfrm rot="10800000">
            <a:off x="5071693" y="2592247"/>
            <a:ext cx="0" cy="433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7" name="Google Shape;337;p28"/>
          <p:cNvCxnSpPr/>
          <p:nvPr/>
        </p:nvCxnSpPr>
        <p:spPr>
          <a:xfrm>
            <a:off x="5071693" y="2687825"/>
            <a:ext cx="0" cy="406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338" name="Google Shape;338;p28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52400" y="1666799"/>
            <a:ext cx="5110622" cy="3160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3E9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9"/>
          <p:cNvSpPr/>
          <p:nvPr/>
        </p:nvSpPr>
        <p:spPr>
          <a:xfrm>
            <a:off x="0" y="476250"/>
            <a:ext cx="9144000" cy="14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9"/>
          <p:cNvSpPr/>
          <p:nvPr/>
        </p:nvSpPr>
        <p:spPr>
          <a:xfrm>
            <a:off x="476250" y="571500"/>
            <a:ext cx="12858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25"/>
              <a:buFont typeface="IBM Plex Sans"/>
              <a:buNone/>
            </a:pPr>
            <a:r>
              <a:rPr lang="en-GB" sz="5625" i="0" u="none" strike="noStrike" cap="none">
                <a:solidFill>
                  <a:srgbClr val="B7B7B7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04</a:t>
            </a:r>
            <a:endParaRPr sz="5625" i="0" u="none" strike="noStrike" cap="none">
              <a:solidFill>
                <a:srgbClr val="B7B7B7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346" name="Google Shape;346;p29"/>
          <p:cNvSpPr/>
          <p:nvPr/>
        </p:nvSpPr>
        <p:spPr>
          <a:xfrm>
            <a:off x="1495425" y="595188"/>
            <a:ext cx="7872300" cy="12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25"/>
              <a:buFont typeface="IBM Plex Sans"/>
              <a:buNone/>
            </a:pPr>
            <a:r>
              <a:rPr lang="en-GB" sz="5625" i="0" u="none" strike="noStrike" cap="none">
                <a:solidFill>
                  <a:srgbClr val="000000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Your portfolio construction</a:t>
            </a:r>
            <a:endParaRPr sz="5625" i="0" u="none" strike="noStrike" cap="none">
              <a:solidFill>
                <a:schemeClr val="dk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0"/>
          <p:cNvSpPr/>
          <p:nvPr/>
        </p:nvSpPr>
        <p:spPr>
          <a:xfrm>
            <a:off x="735400" y="2978348"/>
            <a:ext cx="1933500" cy="7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00"/>
              <a:buFont typeface="IBM Plex Sans"/>
              <a:buNone/>
            </a:pPr>
            <a:r>
              <a:rPr lang="en-GB" sz="12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Retirement Planning </a:t>
            </a:r>
            <a:endParaRPr sz="1000">
              <a:solidFill>
                <a:srgbClr val="2323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53" name="Google Shape;353;p30"/>
          <p:cNvSpPr/>
          <p:nvPr/>
        </p:nvSpPr>
        <p:spPr>
          <a:xfrm>
            <a:off x="476250" y="1113693"/>
            <a:ext cx="8481300" cy="3552900"/>
          </a:xfrm>
          <a:prstGeom prst="roundRect">
            <a:avLst>
              <a:gd name="adj" fmla="val 7721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4" name="Google Shape;354;p30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4391" y="1517736"/>
            <a:ext cx="4457400" cy="2756163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0"/>
          <p:cNvSpPr/>
          <p:nvPr/>
        </p:nvSpPr>
        <p:spPr>
          <a:xfrm>
            <a:off x="476250" y="476250"/>
            <a:ext cx="3205200" cy="490500"/>
          </a:xfrm>
          <a:prstGeom prst="roundRect">
            <a:avLst>
              <a:gd name="adj" fmla="val 44738"/>
            </a:avLst>
          </a:prstGeom>
          <a:solidFill>
            <a:srgbClr val="E4FC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30"/>
          <p:cNvSpPr/>
          <p:nvPr/>
        </p:nvSpPr>
        <p:spPr>
          <a:xfrm>
            <a:off x="714375" y="4148137"/>
            <a:ext cx="14763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30"/>
          <p:cNvSpPr/>
          <p:nvPr/>
        </p:nvSpPr>
        <p:spPr>
          <a:xfrm>
            <a:off x="6962775" y="3208625"/>
            <a:ext cx="892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30"/>
          <p:cNvSpPr/>
          <p:nvPr/>
        </p:nvSpPr>
        <p:spPr>
          <a:xfrm>
            <a:off x="549519" y="628650"/>
            <a:ext cx="33576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661D"/>
              </a:buClr>
              <a:buSzPts val="2100"/>
              <a:buFont typeface="IBM Plex Sans"/>
              <a:buNone/>
            </a:pPr>
            <a:r>
              <a:rPr lang="en-GB" sz="2100" b="0" i="0" u="none" strike="noStrike" cap="none">
                <a:solidFill>
                  <a:srgbClr val="00661D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Recommended Portfolio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0"/>
          <p:cNvSpPr/>
          <p:nvPr/>
        </p:nvSpPr>
        <p:spPr>
          <a:xfrm>
            <a:off x="714375" y="1925850"/>
            <a:ext cx="3857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250"/>
              <a:buFont typeface="IBM Plex Sans"/>
              <a:buNone/>
            </a:pPr>
            <a:r>
              <a:rPr lang="en-GB" sz="215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Infinite Very Aggressive</a:t>
            </a:r>
            <a:r>
              <a:rPr lang="en-GB"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Lumpsum</a:t>
            </a:r>
            <a:endParaRPr sz="2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714375" y="2313050"/>
            <a:ext cx="33576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939393"/>
              </a:buClr>
              <a:buSzPts val="1125"/>
              <a:buFont typeface="IBM Plex Sans"/>
              <a:buNone/>
            </a:pPr>
            <a:r>
              <a:rPr lang="en-GB" sz="1125">
                <a:solidFill>
                  <a:srgbClr val="939393"/>
                </a:solidFill>
                <a:latin typeface="IBM Plex Sans"/>
                <a:ea typeface="IBM Plex Sans"/>
                <a:cs typeface="IBM Plex Sans"/>
                <a:sym typeface="IBM Plex Sans"/>
              </a:rPr>
              <a:t>A high-conviction, growth-oriented portfolio designed to maximise long-term wealth creation</a:t>
            </a:r>
            <a:endParaRPr sz="1125">
              <a:solidFill>
                <a:srgbClr val="93939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61" name="Google Shape;361;p30"/>
          <p:cNvSpPr/>
          <p:nvPr/>
        </p:nvSpPr>
        <p:spPr>
          <a:xfrm>
            <a:off x="735390" y="3070562"/>
            <a:ext cx="1933500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900"/>
              <a:buFont typeface="IBM Plex Sans"/>
              <a:buNone/>
            </a:pPr>
            <a:r>
              <a:rPr lang="en-GB" sz="900" b="0" i="0" u="none" strike="noStrike" cap="none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Goal Coverage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0"/>
          <p:cNvSpPr/>
          <p:nvPr/>
        </p:nvSpPr>
        <p:spPr>
          <a:xfrm>
            <a:off x="4823107" y="2773438"/>
            <a:ext cx="1009800" cy="2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1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IBM Plex Sans"/>
              <a:buNone/>
            </a:pPr>
            <a:r>
              <a:rPr lang="en-GB" sz="96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Portfolio</a:t>
            </a:r>
            <a:endParaRPr sz="9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1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IBM Plex Sans"/>
              <a:buNone/>
            </a:pPr>
            <a:r>
              <a:rPr lang="en-GB" sz="96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Allocation</a:t>
            </a:r>
            <a:endParaRPr sz="9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0"/>
          <p:cNvSpPr/>
          <p:nvPr/>
        </p:nvSpPr>
        <p:spPr>
          <a:xfrm>
            <a:off x="6810325" y="3297369"/>
            <a:ext cx="892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30"/>
          <p:cNvSpPr/>
          <p:nvPr/>
        </p:nvSpPr>
        <p:spPr>
          <a:xfrm>
            <a:off x="6810375" y="2262126"/>
            <a:ext cx="1116600" cy="7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30"/>
          <p:cNvSpPr/>
          <p:nvPr/>
        </p:nvSpPr>
        <p:spPr>
          <a:xfrm>
            <a:off x="6810325" y="2262126"/>
            <a:ext cx="1116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30"/>
          <p:cNvSpPr/>
          <p:nvPr/>
        </p:nvSpPr>
        <p:spPr>
          <a:xfrm>
            <a:off x="6810325" y="2571003"/>
            <a:ext cx="61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30"/>
          <p:cNvSpPr/>
          <p:nvPr/>
        </p:nvSpPr>
        <p:spPr>
          <a:xfrm>
            <a:off x="6831175" y="2571003"/>
            <a:ext cx="591000" cy="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30"/>
          <p:cNvSpPr/>
          <p:nvPr/>
        </p:nvSpPr>
        <p:spPr>
          <a:xfrm>
            <a:off x="6831175" y="2767210"/>
            <a:ext cx="591000" cy="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30"/>
          <p:cNvSpPr/>
          <p:nvPr/>
        </p:nvSpPr>
        <p:spPr>
          <a:xfrm>
            <a:off x="6831175" y="2963418"/>
            <a:ext cx="591000" cy="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30"/>
          <p:cNvSpPr/>
          <p:nvPr/>
        </p:nvSpPr>
        <p:spPr>
          <a:xfrm>
            <a:off x="6865088" y="2963418"/>
            <a:ext cx="95100" cy="95100"/>
          </a:xfrm>
          <a:prstGeom prst="roundRect">
            <a:avLst>
              <a:gd name="adj" fmla="val 16667"/>
            </a:avLst>
          </a:prstGeom>
          <a:solidFill>
            <a:srgbClr val="6DB0F2"/>
          </a:solidFill>
          <a:ln w="230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30"/>
          <p:cNvSpPr/>
          <p:nvPr/>
        </p:nvSpPr>
        <p:spPr>
          <a:xfrm>
            <a:off x="6865088" y="2767210"/>
            <a:ext cx="95100" cy="95100"/>
          </a:xfrm>
          <a:prstGeom prst="roundRect">
            <a:avLst>
              <a:gd name="adj" fmla="val 16667"/>
            </a:avLst>
          </a:prstGeom>
          <a:solidFill>
            <a:srgbClr val="4E9EED"/>
          </a:solidFill>
          <a:ln w="230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30"/>
          <p:cNvSpPr/>
          <p:nvPr/>
        </p:nvSpPr>
        <p:spPr>
          <a:xfrm>
            <a:off x="6865088" y="2571003"/>
            <a:ext cx="95100" cy="95100"/>
          </a:xfrm>
          <a:prstGeom prst="roundRect">
            <a:avLst>
              <a:gd name="adj" fmla="val 16667"/>
            </a:avLst>
          </a:prstGeom>
          <a:solidFill>
            <a:srgbClr val="2E8AE5"/>
          </a:solidFill>
          <a:ln w="230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30"/>
          <p:cNvSpPr/>
          <p:nvPr/>
        </p:nvSpPr>
        <p:spPr>
          <a:xfrm>
            <a:off x="6810325" y="2262126"/>
            <a:ext cx="130800" cy="130800"/>
          </a:xfrm>
          <a:prstGeom prst="roundRect">
            <a:avLst>
              <a:gd name="adj" fmla="val 16667"/>
            </a:avLst>
          </a:prstGeom>
          <a:solidFill>
            <a:srgbClr val="2E8AE5"/>
          </a:solidFill>
          <a:ln w="316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30"/>
          <p:cNvSpPr/>
          <p:nvPr/>
        </p:nvSpPr>
        <p:spPr>
          <a:xfrm>
            <a:off x="7015976" y="2968175"/>
            <a:ext cx="962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Conservative</a:t>
            </a:r>
            <a:endParaRPr sz="95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0"/>
          <p:cNvSpPr/>
          <p:nvPr/>
        </p:nvSpPr>
        <p:spPr>
          <a:xfrm>
            <a:off x="7983198" y="2968170"/>
            <a:ext cx="719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10</a:t>
            </a:r>
            <a:r>
              <a:rPr lang="en-GB" sz="954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954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376" name="Google Shape;376;p30"/>
          <p:cNvSpPr/>
          <p:nvPr/>
        </p:nvSpPr>
        <p:spPr>
          <a:xfrm>
            <a:off x="6991300" y="2771962"/>
            <a:ext cx="8145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Balanced</a:t>
            </a:r>
            <a:endParaRPr sz="95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0"/>
          <p:cNvSpPr/>
          <p:nvPr/>
        </p:nvSpPr>
        <p:spPr>
          <a:xfrm>
            <a:off x="7983198" y="2771962"/>
            <a:ext cx="719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30</a:t>
            </a:r>
            <a:r>
              <a:rPr lang="en-GB" sz="954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954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378" name="Google Shape;378;p30"/>
          <p:cNvSpPr/>
          <p:nvPr/>
        </p:nvSpPr>
        <p:spPr>
          <a:xfrm>
            <a:off x="6991300" y="2575761"/>
            <a:ext cx="8955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Aggressive</a:t>
            </a:r>
            <a:endParaRPr sz="954" i="0" u="none" strike="noStrike" cap="non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9" name="Google Shape;379;p30"/>
          <p:cNvSpPr/>
          <p:nvPr/>
        </p:nvSpPr>
        <p:spPr>
          <a:xfrm>
            <a:off x="7983198" y="2575754"/>
            <a:ext cx="719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50</a:t>
            </a:r>
            <a:r>
              <a:rPr lang="en-GB" sz="954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954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380" name="Google Shape;380;p30"/>
          <p:cNvSpPr/>
          <p:nvPr/>
        </p:nvSpPr>
        <p:spPr>
          <a:xfrm>
            <a:off x="6978775" y="2270312"/>
            <a:ext cx="7191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Equity</a:t>
            </a:r>
            <a:endParaRPr sz="1310" i="0" u="none" strike="noStrike" cap="non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81" name="Google Shape;381;p30"/>
          <p:cNvSpPr/>
          <p:nvPr/>
        </p:nvSpPr>
        <p:spPr>
          <a:xfrm>
            <a:off x="7899102" y="2270315"/>
            <a:ext cx="8145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90</a:t>
            </a:r>
            <a:r>
              <a:rPr lang="en-GB" sz="1310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1310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382" name="Google Shape;382;p30"/>
          <p:cNvSpPr/>
          <p:nvPr/>
        </p:nvSpPr>
        <p:spPr>
          <a:xfrm>
            <a:off x="6816264" y="3262205"/>
            <a:ext cx="1116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30"/>
          <p:cNvSpPr/>
          <p:nvPr/>
        </p:nvSpPr>
        <p:spPr>
          <a:xfrm>
            <a:off x="6810325" y="3336866"/>
            <a:ext cx="130800" cy="130800"/>
          </a:xfrm>
          <a:prstGeom prst="roundRect">
            <a:avLst>
              <a:gd name="adj" fmla="val 16667"/>
            </a:avLst>
          </a:prstGeom>
          <a:solidFill>
            <a:srgbClr val="FFE2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30"/>
          <p:cNvSpPr/>
          <p:nvPr/>
        </p:nvSpPr>
        <p:spPr>
          <a:xfrm>
            <a:off x="7054975" y="3333844"/>
            <a:ext cx="11631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Hybrid</a:t>
            </a:r>
            <a:endParaRPr sz="131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0"/>
          <p:cNvSpPr/>
          <p:nvPr/>
        </p:nvSpPr>
        <p:spPr>
          <a:xfrm>
            <a:off x="7887798" y="3333849"/>
            <a:ext cx="8145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10</a:t>
            </a:r>
            <a:r>
              <a:rPr lang="en-GB" sz="1310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1310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386" name="Google Shape;386;p30"/>
          <p:cNvSpPr/>
          <p:nvPr/>
        </p:nvSpPr>
        <p:spPr>
          <a:xfrm>
            <a:off x="6816264" y="3620429"/>
            <a:ext cx="1116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1"/>
          <p:cNvSpPr/>
          <p:nvPr/>
        </p:nvSpPr>
        <p:spPr>
          <a:xfrm>
            <a:off x="156875" y="747200"/>
            <a:ext cx="8640000" cy="2310000"/>
          </a:xfrm>
          <a:prstGeom prst="roundRect">
            <a:avLst>
              <a:gd name="adj" fmla="val 5327"/>
            </a:avLst>
          </a:prstGeom>
          <a:solidFill>
            <a:srgbClr val="F0F4F7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2" name="Google Shape;392;p31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084" y="868729"/>
            <a:ext cx="4191750" cy="20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31"/>
          <p:cNvSpPr txBox="1"/>
          <p:nvPr/>
        </p:nvSpPr>
        <p:spPr>
          <a:xfrm>
            <a:off x="201075" y="134950"/>
            <a:ext cx="86400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IBM Plex Sans Medium"/>
                <a:ea typeface="IBM Plex Sans Medium"/>
                <a:cs typeface="IBM Plex Sans Medium"/>
                <a:sym typeface="IBM Plex Sans Medium"/>
              </a:rPr>
              <a:t>Performance of our recommended portfolio (Infinite Very Aggressive L)</a:t>
            </a:r>
            <a:endParaRPr sz="1800">
              <a:solidFill>
                <a:srgbClr val="000000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394" name="Google Shape;394;p31"/>
          <p:cNvSpPr txBox="1"/>
          <p:nvPr/>
        </p:nvSpPr>
        <p:spPr>
          <a:xfrm>
            <a:off x="10845800" y="2692400"/>
            <a:ext cx="596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395" name="Google Shape;395;p31"/>
          <p:cNvSpPr txBox="1"/>
          <p:nvPr/>
        </p:nvSpPr>
        <p:spPr>
          <a:xfrm>
            <a:off x="81350" y="4827108"/>
            <a:ext cx="864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>
                <a:latin typeface="IBM Plex Sans Light"/>
                <a:ea typeface="IBM Plex Sans Light"/>
                <a:cs typeface="IBM Plex Sans Light"/>
                <a:sym typeface="IBM Plex Sans Light"/>
              </a:rPr>
              <a:t>**Downside Capture = (Fund return during down markets ÷ Benchmark return during down markets) × 100 | *** 1M 3M and 6M returns are absolute, while 1Y 2Y 3Y and Since 2021 are annualized | Past performance may not be indicative of future results; returns are subject to market risks.</a:t>
            </a:r>
            <a:endParaRPr sz="650"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396" name="Google Shape;396;p31"/>
          <p:cNvCxnSpPr/>
          <p:nvPr/>
        </p:nvCxnSpPr>
        <p:spPr>
          <a:xfrm>
            <a:off x="625425" y="933625"/>
            <a:ext cx="0" cy="162810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7" name="Google Shape;397;p31"/>
          <p:cNvCxnSpPr/>
          <p:nvPr/>
        </p:nvCxnSpPr>
        <p:spPr>
          <a:xfrm>
            <a:off x="625425" y="2560068"/>
            <a:ext cx="37335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8" name="Google Shape;398;p31"/>
          <p:cNvSpPr txBox="1"/>
          <p:nvPr/>
        </p:nvSpPr>
        <p:spPr>
          <a:xfrm>
            <a:off x="744173" y="933616"/>
            <a:ext cx="7779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Benchmark (Nifty 500)</a:t>
            </a:r>
            <a:endParaRPr sz="1000"/>
          </a:p>
        </p:txBody>
      </p:sp>
      <p:sp>
        <p:nvSpPr>
          <p:cNvPr id="399" name="Google Shape;399;p31"/>
          <p:cNvSpPr txBox="1"/>
          <p:nvPr/>
        </p:nvSpPr>
        <p:spPr>
          <a:xfrm>
            <a:off x="1523623" y="972975"/>
            <a:ext cx="777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Infinite - VA L</a:t>
            </a:r>
            <a:endParaRPr sz="1000"/>
          </a:p>
        </p:txBody>
      </p:sp>
      <p:sp>
        <p:nvSpPr>
          <p:cNvPr id="400" name="Google Shape;400;p31"/>
          <p:cNvSpPr/>
          <p:nvPr/>
        </p:nvSpPr>
        <p:spPr>
          <a:xfrm>
            <a:off x="1456223" y="1067775"/>
            <a:ext cx="88800" cy="873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31"/>
          <p:cNvSpPr/>
          <p:nvPr/>
        </p:nvSpPr>
        <p:spPr>
          <a:xfrm>
            <a:off x="684348" y="1067775"/>
            <a:ext cx="88800" cy="87300"/>
          </a:xfrm>
          <a:prstGeom prst="ellipse">
            <a:avLst/>
          </a:prstGeom>
          <a:solidFill>
            <a:srgbClr val="2E8A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02" name="Google Shape;402;p31"/>
          <p:cNvGraphicFramePr/>
          <p:nvPr/>
        </p:nvGraphicFramePr>
        <p:xfrm>
          <a:off x="349675" y="3229167"/>
          <a:ext cx="8223800" cy="14218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167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3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3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79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63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Trailing Return*** </a:t>
                      </a:r>
                      <a:endParaRPr sz="100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(as on 1st Jan 2026)</a:t>
                      </a:r>
                      <a:endParaRPr sz="80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1M</a:t>
                      </a:r>
                      <a:endParaRPr sz="100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3M</a:t>
                      </a:r>
                      <a:endParaRPr sz="100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6M</a:t>
                      </a:r>
                      <a:endParaRPr sz="100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1Y</a:t>
                      </a:r>
                      <a:endParaRPr sz="100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2Y</a:t>
                      </a:r>
                      <a:endParaRPr sz="100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3Y</a:t>
                      </a:r>
                      <a:endParaRPr sz="100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Since 2021</a:t>
                      </a:r>
                      <a:endParaRPr sz="100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2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Infinite VA L</a:t>
                      </a:r>
                      <a:endParaRPr sz="100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-0.82%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2.18%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0.33%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1.87%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13.30%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20.03%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21.20%</a:t>
                      </a:r>
                      <a:endParaRPr sz="100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2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Benchmark (Nifty 500)</a:t>
                      </a:r>
                      <a:endParaRPr sz="100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-0.05%</a:t>
                      </a:r>
                      <a:endParaRPr sz="1000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4.41%</a:t>
                      </a:r>
                      <a:endParaRPr sz="1000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1.71%</a:t>
                      </a:r>
                      <a:endParaRPr sz="1000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7.42%</a:t>
                      </a:r>
                      <a:endParaRPr sz="1000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11.87%</a:t>
                      </a:r>
                      <a:endParaRPr sz="1000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16.57%</a:t>
                      </a:r>
                      <a:endParaRPr sz="1000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16.78%</a:t>
                      </a:r>
                      <a:endParaRPr sz="100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2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Alpha</a:t>
                      </a:r>
                      <a:endParaRPr sz="100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-0.7</a:t>
                      </a: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</a:t>
                      </a: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%</a:t>
                      </a:r>
                      <a:endParaRPr sz="1000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-2.</a:t>
                      </a: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23</a:t>
                      </a: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%</a:t>
                      </a:r>
                      <a:endParaRPr sz="1000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-1.</a:t>
                      </a: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38</a:t>
                      </a: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%</a:t>
                      </a:r>
                      <a:endParaRPr sz="1000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-5.</a:t>
                      </a: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55</a:t>
                      </a: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%</a:t>
                      </a:r>
                      <a:endParaRPr sz="1000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</a:t>
                      </a: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43</a:t>
                      </a: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%</a:t>
                      </a:r>
                      <a:endParaRPr sz="1000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3.</a:t>
                      </a: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46</a:t>
                      </a: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%</a:t>
                      </a:r>
                      <a:endParaRPr sz="1000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4.</a:t>
                      </a:r>
                      <a:r>
                        <a:rPr lang="en-GB" sz="100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</a:t>
                      </a:r>
                      <a:r>
                        <a:rPr lang="en-GB" sz="1000" b="1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2%</a:t>
                      </a:r>
                      <a:endParaRPr sz="1000" b="1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03" name="Google Shape;403;p31"/>
          <p:cNvGraphicFramePr/>
          <p:nvPr/>
        </p:nvGraphicFramePr>
        <p:xfrm>
          <a:off x="4628682" y="898101"/>
          <a:ext cx="3885525" cy="2021584"/>
        </p:xfrm>
        <a:graphic>
          <a:graphicData uri="http://schemas.openxmlformats.org/drawingml/2006/table">
            <a:tbl>
              <a:tblPr>
                <a:noFill/>
                <a:tableStyleId>{E814604F-D367-480A-A2B5-85DE3EB964CA}</a:tableStyleId>
              </a:tblPr>
              <a:tblGrid>
                <a:gridCol w="131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21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Last 1Y Avg</a:t>
                      </a:r>
                      <a:endParaRPr sz="100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Infinite </a:t>
                      </a:r>
                      <a:endParaRPr sz="1000" b="1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VA L</a:t>
                      </a:r>
                      <a:endParaRPr sz="1000" b="1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Benchmark  (Nifty 500)</a:t>
                      </a:r>
                      <a:endParaRPr sz="1000" b="1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Alpha</a:t>
                      </a:r>
                      <a:endParaRPr sz="100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3Y XIRR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18.57%</a:t>
                      </a:r>
                      <a:endParaRPr sz="1000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15.38%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3.19%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5Y XIRR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20.72%</a:t>
                      </a:r>
                      <a:endParaRPr sz="1000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16.69%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4.03%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7Y XIRR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21.14%</a:t>
                      </a:r>
                      <a:endParaRPr sz="1000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17.10%</a:t>
                      </a:r>
                      <a:endParaRPr sz="1000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4.04%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7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Downside Capture</a:t>
                      </a:r>
                      <a:endParaRPr sz="1000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98.69</a:t>
                      </a:r>
                      <a:endParaRPr sz="1000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100.0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4" name="Google Shape;404;p31"/>
          <p:cNvSpPr txBox="1"/>
          <p:nvPr/>
        </p:nvSpPr>
        <p:spPr>
          <a:xfrm>
            <a:off x="3386629" y="952824"/>
            <a:ext cx="972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IBM Plex Sans Medium"/>
                <a:ea typeface="IBM Plex Sans Medium"/>
                <a:cs typeface="IBM Plex Sans Medium"/>
                <a:sym typeface="IBM Plex Sans Medium"/>
              </a:rPr>
              <a:t>3Y XIRR trend</a:t>
            </a:r>
            <a:endParaRPr sz="9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32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4391" y="1517736"/>
            <a:ext cx="4457400" cy="2756163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2"/>
          <p:cNvSpPr/>
          <p:nvPr/>
        </p:nvSpPr>
        <p:spPr>
          <a:xfrm>
            <a:off x="476250" y="485864"/>
            <a:ext cx="3205200" cy="490500"/>
          </a:xfrm>
          <a:prstGeom prst="roundRect">
            <a:avLst>
              <a:gd name="adj" fmla="val 44738"/>
            </a:avLst>
          </a:prstGeom>
          <a:solidFill>
            <a:srgbClr val="E4FC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32"/>
          <p:cNvSpPr/>
          <p:nvPr/>
        </p:nvSpPr>
        <p:spPr>
          <a:xfrm>
            <a:off x="714375" y="4148137"/>
            <a:ext cx="14763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32"/>
          <p:cNvSpPr/>
          <p:nvPr/>
        </p:nvSpPr>
        <p:spPr>
          <a:xfrm>
            <a:off x="6962775" y="3208625"/>
            <a:ext cx="892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32"/>
          <p:cNvSpPr/>
          <p:nvPr/>
        </p:nvSpPr>
        <p:spPr>
          <a:xfrm>
            <a:off x="549519" y="628650"/>
            <a:ext cx="33576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661D"/>
              </a:buClr>
              <a:buSzPts val="2100"/>
              <a:buFont typeface="IBM Plex Sans"/>
              <a:buNone/>
            </a:pPr>
            <a:r>
              <a:rPr lang="en-GB" sz="2100" b="0" i="0" u="none" strike="noStrike" cap="none">
                <a:solidFill>
                  <a:srgbClr val="00661D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Recommended Portfolio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2"/>
          <p:cNvSpPr/>
          <p:nvPr/>
        </p:nvSpPr>
        <p:spPr>
          <a:xfrm>
            <a:off x="714375" y="1925850"/>
            <a:ext cx="3857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250"/>
              <a:buFont typeface="IBM Plex Sans"/>
              <a:buNone/>
            </a:pPr>
            <a:r>
              <a:rPr lang="en-GB" sz="215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Infinite Very Aggressive</a:t>
            </a:r>
            <a:r>
              <a:rPr lang="en-GB"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SIP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2"/>
          <p:cNvSpPr/>
          <p:nvPr/>
        </p:nvSpPr>
        <p:spPr>
          <a:xfrm>
            <a:off x="714375" y="2313050"/>
            <a:ext cx="33576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939393"/>
              </a:buClr>
              <a:buSzPts val="1125"/>
              <a:buFont typeface="IBM Plex Sans"/>
              <a:buNone/>
            </a:pPr>
            <a:r>
              <a:rPr lang="en-GB" sz="1125">
                <a:solidFill>
                  <a:srgbClr val="939393"/>
                </a:solidFill>
                <a:latin typeface="IBM Plex Sans"/>
                <a:ea typeface="IBM Plex Sans"/>
                <a:cs typeface="IBM Plex Sans"/>
                <a:sym typeface="IBM Plex Sans"/>
              </a:rPr>
              <a:t>A high-conviction, growth-oriented portfolio designed to maximise long-term wealth creation</a:t>
            </a:r>
            <a:endParaRPr sz="1125">
              <a:solidFill>
                <a:srgbClr val="93939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17" name="Google Shape;417;p32"/>
          <p:cNvSpPr/>
          <p:nvPr/>
        </p:nvSpPr>
        <p:spPr>
          <a:xfrm>
            <a:off x="735390" y="3070562"/>
            <a:ext cx="1933500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900"/>
              <a:buFont typeface="IBM Plex Sans"/>
              <a:buNone/>
            </a:pPr>
            <a:r>
              <a:rPr lang="en-GB" sz="900" b="0" i="0" u="none" strike="noStrike" cap="none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Goal Coverage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2"/>
          <p:cNvSpPr/>
          <p:nvPr/>
        </p:nvSpPr>
        <p:spPr>
          <a:xfrm>
            <a:off x="4823107" y="2773438"/>
            <a:ext cx="1009800" cy="2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1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IBM Plex Sans"/>
              <a:buNone/>
            </a:pPr>
            <a:r>
              <a:rPr lang="en-GB" sz="96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Portfolio</a:t>
            </a:r>
            <a:endParaRPr sz="9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1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IBM Plex Sans"/>
              <a:buNone/>
            </a:pPr>
            <a:r>
              <a:rPr lang="en-GB" sz="96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Allocation</a:t>
            </a:r>
            <a:endParaRPr sz="9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2"/>
          <p:cNvSpPr/>
          <p:nvPr/>
        </p:nvSpPr>
        <p:spPr>
          <a:xfrm>
            <a:off x="6810325" y="3297369"/>
            <a:ext cx="892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32"/>
          <p:cNvSpPr/>
          <p:nvPr/>
        </p:nvSpPr>
        <p:spPr>
          <a:xfrm>
            <a:off x="6810375" y="2262126"/>
            <a:ext cx="1116600" cy="7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32"/>
          <p:cNvSpPr/>
          <p:nvPr/>
        </p:nvSpPr>
        <p:spPr>
          <a:xfrm>
            <a:off x="6810325" y="2262126"/>
            <a:ext cx="1116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32"/>
          <p:cNvSpPr/>
          <p:nvPr/>
        </p:nvSpPr>
        <p:spPr>
          <a:xfrm>
            <a:off x="6810325" y="2571003"/>
            <a:ext cx="61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32"/>
          <p:cNvSpPr/>
          <p:nvPr/>
        </p:nvSpPr>
        <p:spPr>
          <a:xfrm>
            <a:off x="6831175" y="2571003"/>
            <a:ext cx="591000" cy="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32"/>
          <p:cNvSpPr/>
          <p:nvPr/>
        </p:nvSpPr>
        <p:spPr>
          <a:xfrm>
            <a:off x="6831175" y="2767210"/>
            <a:ext cx="591000" cy="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32"/>
          <p:cNvSpPr/>
          <p:nvPr/>
        </p:nvSpPr>
        <p:spPr>
          <a:xfrm>
            <a:off x="6831175" y="2963418"/>
            <a:ext cx="591000" cy="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32"/>
          <p:cNvSpPr/>
          <p:nvPr/>
        </p:nvSpPr>
        <p:spPr>
          <a:xfrm>
            <a:off x="6865088" y="2963418"/>
            <a:ext cx="95100" cy="95100"/>
          </a:xfrm>
          <a:prstGeom prst="roundRect">
            <a:avLst>
              <a:gd name="adj" fmla="val 16667"/>
            </a:avLst>
          </a:prstGeom>
          <a:solidFill>
            <a:srgbClr val="6DB0F2"/>
          </a:solidFill>
          <a:ln w="230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32"/>
          <p:cNvSpPr/>
          <p:nvPr/>
        </p:nvSpPr>
        <p:spPr>
          <a:xfrm>
            <a:off x="6865088" y="2767210"/>
            <a:ext cx="95100" cy="95100"/>
          </a:xfrm>
          <a:prstGeom prst="roundRect">
            <a:avLst>
              <a:gd name="adj" fmla="val 16667"/>
            </a:avLst>
          </a:prstGeom>
          <a:solidFill>
            <a:srgbClr val="4E9EED"/>
          </a:solidFill>
          <a:ln w="230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32"/>
          <p:cNvSpPr/>
          <p:nvPr/>
        </p:nvSpPr>
        <p:spPr>
          <a:xfrm>
            <a:off x="6865088" y="2571003"/>
            <a:ext cx="95100" cy="95100"/>
          </a:xfrm>
          <a:prstGeom prst="roundRect">
            <a:avLst>
              <a:gd name="adj" fmla="val 16667"/>
            </a:avLst>
          </a:prstGeom>
          <a:solidFill>
            <a:srgbClr val="2E8AE5"/>
          </a:solidFill>
          <a:ln w="230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32"/>
          <p:cNvSpPr/>
          <p:nvPr/>
        </p:nvSpPr>
        <p:spPr>
          <a:xfrm>
            <a:off x="6810325" y="2262126"/>
            <a:ext cx="130800" cy="130800"/>
          </a:xfrm>
          <a:prstGeom prst="roundRect">
            <a:avLst>
              <a:gd name="adj" fmla="val 16667"/>
            </a:avLst>
          </a:prstGeom>
          <a:solidFill>
            <a:srgbClr val="2E8AE5"/>
          </a:solidFill>
          <a:ln w="316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2"/>
          <p:cNvSpPr/>
          <p:nvPr/>
        </p:nvSpPr>
        <p:spPr>
          <a:xfrm>
            <a:off x="7015976" y="2968175"/>
            <a:ext cx="962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Conservative</a:t>
            </a:r>
            <a:endParaRPr sz="95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2"/>
          <p:cNvSpPr/>
          <p:nvPr/>
        </p:nvSpPr>
        <p:spPr>
          <a:xfrm>
            <a:off x="7983198" y="2968170"/>
            <a:ext cx="719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10</a:t>
            </a:r>
            <a:r>
              <a:rPr lang="en-GB" sz="954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954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432" name="Google Shape;432;p32"/>
          <p:cNvSpPr/>
          <p:nvPr/>
        </p:nvSpPr>
        <p:spPr>
          <a:xfrm>
            <a:off x="6991300" y="2771962"/>
            <a:ext cx="8145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Balanced</a:t>
            </a:r>
            <a:endParaRPr sz="95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2"/>
          <p:cNvSpPr/>
          <p:nvPr/>
        </p:nvSpPr>
        <p:spPr>
          <a:xfrm>
            <a:off x="7983198" y="2771962"/>
            <a:ext cx="719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30</a:t>
            </a:r>
            <a:r>
              <a:rPr lang="en-GB" sz="954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954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434" name="Google Shape;434;p32"/>
          <p:cNvSpPr/>
          <p:nvPr/>
        </p:nvSpPr>
        <p:spPr>
          <a:xfrm>
            <a:off x="6991300" y="2575761"/>
            <a:ext cx="8955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Aggressive</a:t>
            </a:r>
            <a:endParaRPr sz="954" i="0" u="none" strike="noStrike" cap="non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35" name="Google Shape;435;p32"/>
          <p:cNvSpPr/>
          <p:nvPr/>
        </p:nvSpPr>
        <p:spPr>
          <a:xfrm>
            <a:off x="7983198" y="2575754"/>
            <a:ext cx="719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50</a:t>
            </a:r>
            <a:r>
              <a:rPr lang="en-GB" sz="954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954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436" name="Google Shape;436;p32"/>
          <p:cNvSpPr/>
          <p:nvPr/>
        </p:nvSpPr>
        <p:spPr>
          <a:xfrm>
            <a:off x="6978775" y="2270312"/>
            <a:ext cx="7191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Equity</a:t>
            </a:r>
            <a:endParaRPr sz="1310" i="0" u="none" strike="noStrike" cap="non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37" name="Google Shape;437;p32"/>
          <p:cNvSpPr/>
          <p:nvPr/>
        </p:nvSpPr>
        <p:spPr>
          <a:xfrm>
            <a:off x="7899102" y="2270315"/>
            <a:ext cx="8145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90</a:t>
            </a:r>
            <a:r>
              <a:rPr lang="en-GB" sz="1310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1310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438" name="Google Shape;438;p32"/>
          <p:cNvSpPr/>
          <p:nvPr/>
        </p:nvSpPr>
        <p:spPr>
          <a:xfrm>
            <a:off x="6816264" y="3262205"/>
            <a:ext cx="1116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32"/>
          <p:cNvSpPr/>
          <p:nvPr/>
        </p:nvSpPr>
        <p:spPr>
          <a:xfrm>
            <a:off x="6810325" y="3336866"/>
            <a:ext cx="130800" cy="130800"/>
          </a:xfrm>
          <a:prstGeom prst="roundRect">
            <a:avLst>
              <a:gd name="adj" fmla="val 16667"/>
            </a:avLst>
          </a:prstGeom>
          <a:solidFill>
            <a:srgbClr val="FFE2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32"/>
          <p:cNvSpPr/>
          <p:nvPr/>
        </p:nvSpPr>
        <p:spPr>
          <a:xfrm>
            <a:off x="7054975" y="3333844"/>
            <a:ext cx="11631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Hybrid</a:t>
            </a:r>
            <a:endParaRPr sz="131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2"/>
          <p:cNvSpPr/>
          <p:nvPr/>
        </p:nvSpPr>
        <p:spPr>
          <a:xfrm>
            <a:off x="7887798" y="3333849"/>
            <a:ext cx="8145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</a:t>
            </a:r>
            <a:r>
              <a:rPr lang="en-GB" sz="1310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1310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442" name="Google Shape;442;p32"/>
          <p:cNvSpPr/>
          <p:nvPr/>
        </p:nvSpPr>
        <p:spPr>
          <a:xfrm>
            <a:off x="6816264" y="3620429"/>
            <a:ext cx="1116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3" name="Google Shape;443;p32"/>
          <p:cNvGrpSpPr/>
          <p:nvPr/>
        </p:nvGrpSpPr>
        <p:grpSpPr>
          <a:xfrm>
            <a:off x="6814207" y="3592276"/>
            <a:ext cx="1916218" cy="132339"/>
            <a:chOff x="6897829" y="3260666"/>
            <a:chExt cx="1916218" cy="132339"/>
          </a:xfrm>
        </p:grpSpPr>
        <p:sp>
          <p:nvSpPr>
            <p:cNvPr id="444" name="Google Shape;444;p32"/>
            <p:cNvSpPr/>
            <p:nvPr/>
          </p:nvSpPr>
          <p:spPr>
            <a:xfrm>
              <a:off x="6897829" y="3260666"/>
              <a:ext cx="130800" cy="130800"/>
            </a:xfrm>
            <a:prstGeom prst="roundRect">
              <a:avLst>
                <a:gd name="adj" fmla="val 16667"/>
              </a:avLst>
            </a:prstGeom>
            <a:solidFill>
              <a:srgbClr val="F7CB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5" name="Google Shape;445;p32"/>
            <p:cNvGrpSpPr/>
            <p:nvPr/>
          </p:nvGrpSpPr>
          <p:grpSpPr>
            <a:xfrm>
              <a:off x="6903768" y="3262205"/>
              <a:ext cx="1910279" cy="130800"/>
              <a:chOff x="6903768" y="3338405"/>
              <a:chExt cx="1910279" cy="130800"/>
            </a:xfrm>
          </p:grpSpPr>
          <p:sp>
            <p:nvSpPr>
              <p:cNvPr id="446" name="Google Shape;446;p32"/>
              <p:cNvSpPr/>
              <p:nvPr/>
            </p:nvSpPr>
            <p:spPr>
              <a:xfrm>
                <a:off x="6903768" y="3338405"/>
                <a:ext cx="1116600" cy="13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32"/>
              <p:cNvSpPr/>
              <p:nvPr/>
            </p:nvSpPr>
            <p:spPr>
              <a:xfrm>
                <a:off x="7142479" y="3345050"/>
                <a:ext cx="11631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32323"/>
                  </a:buClr>
                  <a:buSzPts val="1310"/>
                  <a:buFont typeface="IBM Plex Sans"/>
                  <a:buNone/>
                </a:pPr>
                <a:r>
                  <a:rPr lang="en-GB" sz="1310">
                    <a:solidFill>
                      <a:srgbClr val="232323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Gold</a:t>
                </a:r>
                <a:endParaRPr sz="131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32"/>
              <p:cNvSpPr/>
              <p:nvPr/>
            </p:nvSpPr>
            <p:spPr>
              <a:xfrm>
                <a:off x="7999547" y="3345055"/>
                <a:ext cx="8145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rtl="0">
                  <a:lnSpc>
                    <a:spcPct val="13992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32323"/>
                  </a:buClr>
                  <a:buSzPts val="1310"/>
                  <a:buFont typeface="IBM Plex Sans"/>
                  <a:buNone/>
                </a:pPr>
                <a:r>
                  <a:rPr lang="en-GB" sz="1310">
                    <a:solidFill>
                      <a:srgbClr val="232323"/>
                    </a:solidFill>
                    <a:latin typeface="IBM Plex Sans Medium"/>
                    <a:ea typeface="IBM Plex Sans Medium"/>
                    <a:cs typeface="IBM Plex Sans Medium"/>
                    <a:sym typeface="IBM Plex Sans Medium"/>
                  </a:rPr>
                  <a:t>5</a:t>
                </a:r>
                <a:r>
                  <a:rPr lang="en-GB" sz="1310" i="0" u="none" strike="noStrike" cap="none">
                    <a:solidFill>
                      <a:srgbClr val="232323"/>
                    </a:solidFill>
                    <a:latin typeface="IBM Plex Sans Medium"/>
                    <a:ea typeface="IBM Plex Sans Medium"/>
                    <a:cs typeface="IBM Plex Sans Medium"/>
                    <a:sym typeface="IBM Plex Sans Medium"/>
                  </a:rPr>
                  <a:t>%</a:t>
                </a:r>
                <a:endParaRPr sz="1310" i="0" u="none" strike="noStrike" cap="none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endParaRPr>
              </a:p>
            </p:txBody>
          </p:sp>
        </p:grpSp>
      </p:grpSp>
      <p:sp>
        <p:nvSpPr>
          <p:cNvPr id="449" name="Google Shape;449;p32"/>
          <p:cNvSpPr/>
          <p:nvPr/>
        </p:nvSpPr>
        <p:spPr>
          <a:xfrm>
            <a:off x="735400" y="2978348"/>
            <a:ext cx="1933500" cy="7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00"/>
              <a:buFont typeface="IBM Plex Sans"/>
              <a:buNone/>
            </a:pPr>
            <a:r>
              <a:rPr lang="en-GB" sz="12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Retirement Planning </a:t>
            </a:r>
            <a:endParaRPr sz="1000">
              <a:solidFill>
                <a:srgbClr val="2323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3"/>
          <p:cNvSpPr/>
          <p:nvPr/>
        </p:nvSpPr>
        <p:spPr>
          <a:xfrm>
            <a:off x="156875" y="747200"/>
            <a:ext cx="8640000" cy="2310000"/>
          </a:xfrm>
          <a:prstGeom prst="roundRect">
            <a:avLst>
              <a:gd name="adj" fmla="val 5327"/>
            </a:avLst>
          </a:prstGeom>
          <a:solidFill>
            <a:srgbClr val="F0F4F7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5" name="Google Shape;455;p33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084" y="868729"/>
            <a:ext cx="4191750" cy="20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33"/>
          <p:cNvSpPr txBox="1"/>
          <p:nvPr/>
        </p:nvSpPr>
        <p:spPr>
          <a:xfrm>
            <a:off x="201075" y="134950"/>
            <a:ext cx="86400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IBM Plex Sans Medium"/>
                <a:ea typeface="IBM Plex Sans Medium"/>
                <a:cs typeface="IBM Plex Sans Medium"/>
                <a:sym typeface="IBM Plex Sans Medium"/>
              </a:rPr>
              <a:t>Performance of our recommended portfolio (Infinite Very Aggressive S)</a:t>
            </a:r>
            <a:endParaRPr sz="1800">
              <a:solidFill>
                <a:srgbClr val="000000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457" name="Google Shape;457;p33"/>
          <p:cNvSpPr txBox="1"/>
          <p:nvPr/>
        </p:nvSpPr>
        <p:spPr>
          <a:xfrm>
            <a:off x="10845800" y="2692400"/>
            <a:ext cx="596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458" name="Google Shape;458;p33"/>
          <p:cNvSpPr txBox="1"/>
          <p:nvPr/>
        </p:nvSpPr>
        <p:spPr>
          <a:xfrm>
            <a:off x="81350" y="4827108"/>
            <a:ext cx="864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>
                <a:latin typeface="IBM Plex Sans Light"/>
                <a:ea typeface="IBM Plex Sans Light"/>
                <a:cs typeface="IBM Plex Sans Light"/>
                <a:sym typeface="IBM Plex Sans Light"/>
              </a:rPr>
              <a:t>**Downside Capture = (Fund return during down markets ÷ Benchmark return during down markets) × 100 | *** 1M 3M and 6M returns are absolute, while 1Y 2Y 3Y and Since 2021 are annualized | Past performance may not be indicative of future results; returns are subject to market risks.</a:t>
            </a:r>
            <a:endParaRPr sz="650"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459" name="Google Shape;459;p33"/>
          <p:cNvCxnSpPr/>
          <p:nvPr/>
        </p:nvCxnSpPr>
        <p:spPr>
          <a:xfrm>
            <a:off x="625425" y="933625"/>
            <a:ext cx="0" cy="162810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33"/>
          <p:cNvCxnSpPr/>
          <p:nvPr/>
        </p:nvCxnSpPr>
        <p:spPr>
          <a:xfrm>
            <a:off x="625425" y="2560068"/>
            <a:ext cx="37335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1" name="Google Shape;461;p33"/>
          <p:cNvSpPr txBox="1"/>
          <p:nvPr/>
        </p:nvSpPr>
        <p:spPr>
          <a:xfrm>
            <a:off x="744173" y="933616"/>
            <a:ext cx="7779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Benchmark (Nifty 500)</a:t>
            </a:r>
            <a:endParaRPr sz="1000"/>
          </a:p>
        </p:txBody>
      </p:sp>
      <p:sp>
        <p:nvSpPr>
          <p:cNvPr id="462" name="Google Shape;462;p33"/>
          <p:cNvSpPr txBox="1"/>
          <p:nvPr/>
        </p:nvSpPr>
        <p:spPr>
          <a:xfrm>
            <a:off x="1523623" y="972975"/>
            <a:ext cx="777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Infinite - VA S</a:t>
            </a:r>
            <a:endParaRPr sz="1000"/>
          </a:p>
        </p:txBody>
      </p:sp>
      <p:sp>
        <p:nvSpPr>
          <p:cNvPr id="463" name="Google Shape;463;p33"/>
          <p:cNvSpPr/>
          <p:nvPr/>
        </p:nvSpPr>
        <p:spPr>
          <a:xfrm>
            <a:off x="1456223" y="1067775"/>
            <a:ext cx="88800" cy="873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33"/>
          <p:cNvSpPr/>
          <p:nvPr/>
        </p:nvSpPr>
        <p:spPr>
          <a:xfrm>
            <a:off x="684348" y="1067775"/>
            <a:ext cx="88800" cy="87300"/>
          </a:xfrm>
          <a:prstGeom prst="ellipse">
            <a:avLst/>
          </a:prstGeom>
          <a:solidFill>
            <a:srgbClr val="2E8A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65" name="Google Shape;465;p33"/>
          <p:cNvGraphicFramePr/>
          <p:nvPr/>
        </p:nvGraphicFramePr>
        <p:xfrm>
          <a:off x="349675" y="3229167"/>
          <a:ext cx="8223800" cy="14218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167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3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3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79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63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Trailing Return*** </a:t>
                      </a:r>
                      <a:endParaRPr sz="100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(as on 1st Jan 2026)</a:t>
                      </a:r>
                      <a:endParaRPr sz="80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1M</a:t>
                      </a:r>
                      <a:endParaRPr sz="100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3M</a:t>
                      </a:r>
                      <a:endParaRPr sz="100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6M</a:t>
                      </a:r>
                      <a:endParaRPr sz="100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1Y</a:t>
                      </a:r>
                      <a:endParaRPr sz="100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2Y</a:t>
                      </a:r>
                      <a:endParaRPr sz="100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3Y</a:t>
                      </a:r>
                      <a:endParaRPr sz="100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Since 2021</a:t>
                      </a:r>
                      <a:endParaRPr sz="100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2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Infinite VA S</a:t>
                      </a:r>
                      <a:endParaRPr sz="100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-0.76%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2.33%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0.77%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2.52%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13.71%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20.33%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21.22%</a:t>
                      </a:r>
                      <a:endParaRPr sz="100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2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Benchmark (Nifty 500)</a:t>
                      </a:r>
                      <a:endParaRPr sz="100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-0.05%</a:t>
                      </a:r>
                      <a:endParaRPr sz="1000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4.41%</a:t>
                      </a:r>
                      <a:endParaRPr sz="1000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1.71%</a:t>
                      </a:r>
                      <a:endParaRPr sz="1000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7.42%</a:t>
                      </a:r>
                      <a:endParaRPr sz="1000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11.87%</a:t>
                      </a:r>
                      <a:endParaRPr sz="1000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16.57%</a:t>
                      </a:r>
                      <a:endParaRPr sz="1000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16.78%</a:t>
                      </a:r>
                      <a:endParaRPr sz="100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2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Alpha</a:t>
                      </a:r>
                      <a:endParaRPr sz="100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-0.7</a:t>
                      </a: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</a:t>
                      </a: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%</a:t>
                      </a:r>
                      <a:endParaRPr sz="1000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-2.</a:t>
                      </a: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08</a:t>
                      </a: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%</a:t>
                      </a:r>
                      <a:endParaRPr sz="1000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</a:t>
                      </a: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</a:t>
                      </a: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.</a:t>
                      </a: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94</a:t>
                      </a: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%</a:t>
                      </a:r>
                      <a:endParaRPr sz="1000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</a:t>
                      </a: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</a:t>
                      </a: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.</a:t>
                      </a: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90</a:t>
                      </a: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%</a:t>
                      </a:r>
                      <a:endParaRPr sz="1000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</a:t>
                      </a: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84</a:t>
                      </a: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%</a:t>
                      </a:r>
                      <a:endParaRPr sz="1000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3.</a:t>
                      </a: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76</a:t>
                      </a: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%</a:t>
                      </a:r>
                      <a:endParaRPr sz="1000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4.</a:t>
                      </a:r>
                      <a:r>
                        <a:rPr lang="en-GB" sz="100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44</a:t>
                      </a:r>
                      <a:r>
                        <a:rPr lang="en-GB" sz="1000" b="1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%</a:t>
                      </a:r>
                      <a:endParaRPr sz="1000" b="1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66" name="Google Shape;466;p33"/>
          <p:cNvGraphicFramePr/>
          <p:nvPr/>
        </p:nvGraphicFramePr>
        <p:xfrm>
          <a:off x="4628682" y="898101"/>
          <a:ext cx="3885525" cy="2021584"/>
        </p:xfrm>
        <a:graphic>
          <a:graphicData uri="http://schemas.openxmlformats.org/drawingml/2006/table">
            <a:tbl>
              <a:tblPr>
                <a:noFill/>
                <a:tableStyleId>{E814604F-D367-480A-A2B5-85DE3EB964CA}</a:tableStyleId>
              </a:tblPr>
              <a:tblGrid>
                <a:gridCol w="131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21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Last 1Y Avg</a:t>
                      </a:r>
                      <a:endParaRPr sz="100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Infinite </a:t>
                      </a:r>
                      <a:endParaRPr sz="1000" b="1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VA S</a:t>
                      </a:r>
                      <a:endParaRPr sz="1000" b="1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Benchmark  (Nifty 500)</a:t>
                      </a:r>
                      <a:endParaRPr sz="1000" b="1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Alpha</a:t>
                      </a:r>
                      <a:endParaRPr sz="100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3Y XIRR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18.80%</a:t>
                      </a:r>
                      <a:endParaRPr sz="1000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15.38%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3.42%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5Y XIRR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20.78%</a:t>
                      </a:r>
                      <a:endParaRPr sz="1000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16.69%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4.09%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7Y XIRR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21.15%</a:t>
                      </a:r>
                      <a:endParaRPr sz="1000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17.10%</a:t>
                      </a:r>
                      <a:endParaRPr sz="1000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4.05%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7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Downside Capture</a:t>
                      </a:r>
                      <a:endParaRPr sz="1000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96.97</a:t>
                      </a:r>
                      <a:endParaRPr sz="1000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100.0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67" name="Google Shape;467;p33"/>
          <p:cNvSpPr txBox="1"/>
          <p:nvPr/>
        </p:nvSpPr>
        <p:spPr>
          <a:xfrm>
            <a:off x="3386629" y="952824"/>
            <a:ext cx="972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IBM Plex Sans Medium"/>
                <a:ea typeface="IBM Plex Sans Medium"/>
                <a:cs typeface="IBM Plex Sans Medium"/>
                <a:sym typeface="IBM Plex Sans Medium"/>
              </a:rPr>
              <a:t>3Y XIRR trend</a:t>
            </a:r>
            <a:endParaRPr sz="9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3E9"/>
        </a:solidFill>
        <a:effectLst/>
      </p:bgPr>
    </p:bg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4"/>
          <p:cNvSpPr/>
          <p:nvPr/>
        </p:nvSpPr>
        <p:spPr>
          <a:xfrm>
            <a:off x="0" y="476250"/>
            <a:ext cx="9144000" cy="14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34"/>
          <p:cNvSpPr/>
          <p:nvPr/>
        </p:nvSpPr>
        <p:spPr>
          <a:xfrm>
            <a:off x="476250" y="571500"/>
            <a:ext cx="12858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25"/>
              <a:buFont typeface="IBM Plex Sans"/>
              <a:buNone/>
            </a:pPr>
            <a:r>
              <a:rPr lang="en-GB" sz="5625" i="0" u="none" strike="noStrike" cap="none">
                <a:solidFill>
                  <a:srgbClr val="B7B7B7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0</a:t>
            </a:r>
            <a:r>
              <a:rPr lang="en-GB" sz="5625">
                <a:solidFill>
                  <a:srgbClr val="B7B7B7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5</a:t>
            </a:r>
            <a:endParaRPr sz="5625" i="0" u="none" strike="noStrike" cap="none">
              <a:solidFill>
                <a:srgbClr val="B7B7B7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475" name="Google Shape;475;p34"/>
          <p:cNvSpPr/>
          <p:nvPr/>
        </p:nvSpPr>
        <p:spPr>
          <a:xfrm>
            <a:off x="1495425" y="595188"/>
            <a:ext cx="7872300" cy="12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25"/>
              <a:buFont typeface="IBM Plex Sans"/>
              <a:buNone/>
            </a:pPr>
            <a:r>
              <a:rPr lang="en-GB" sz="5625">
                <a:latin typeface="IBM Plex Sans Light"/>
                <a:ea typeface="IBM Plex Sans Light"/>
                <a:cs typeface="IBM Plex Sans Light"/>
                <a:sym typeface="IBM Plex Sans Light"/>
              </a:rPr>
              <a:t>Financial </a:t>
            </a:r>
            <a:endParaRPr sz="5625"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marR="0" lvl="0" indent="0" algn="l" rtl="0">
              <a:lnSpc>
                <a:spcPct val="11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25"/>
              <a:buFont typeface="IBM Plex Sans"/>
              <a:buNone/>
            </a:pPr>
            <a:r>
              <a:rPr lang="en-GB" sz="5625">
                <a:latin typeface="IBM Plex Sans Light"/>
                <a:ea typeface="IBM Plex Sans Light"/>
                <a:cs typeface="IBM Plex Sans Light"/>
                <a:sym typeface="IBM Plex Sans Light"/>
              </a:rPr>
              <a:t>Planning</a:t>
            </a:r>
            <a:endParaRPr sz="5625"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5"/>
          <p:cNvSpPr txBox="1"/>
          <p:nvPr/>
        </p:nvSpPr>
        <p:spPr>
          <a:xfrm>
            <a:off x="0" y="4850675"/>
            <a:ext cx="91440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595959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Assumptions: Infinite PF Value: INR 1 Cr and SIP of INR 25K, Current monthly expenses: 1L (+10% after retirement)</a:t>
            </a:r>
            <a:endParaRPr sz="1000">
              <a:solidFill>
                <a:srgbClr val="595959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481" name="Google Shape;481;p35"/>
          <p:cNvSpPr/>
          <p:nvPr/>
        </p:nvSpPr>
        <p:spPr>
          <a:xfrm>
            <a:off x="476250" y="476250"/>
            <a:ext cx="76392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Our investment plans ensure you are life ready always! 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5"/>
          <p:cNvSpPr/>
          <p:nvPr/>
        </p:nvSpPr>
        <p:spPr>
          <a:xfrm>
            <a:off x="5782600" y="1382050"/>
            <a:ext cx="2656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250"/>
              <a:buFont typeface="IBM Plex Sans"/>
              <a:buNone/>
            </a:pPr>
            <a:r>
              <a:rPr lang="en-GB" sz="15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Amount</a:t>
            </a:r>
            <a:endParaRPr sz="1100">
              <a:solidFill>
                <a:srgbClr val="2323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83" name="Google Shape;483;p35"/>
          <p:cNvSpPr/>
          <p:nvPr/>
        </p:nvSpPr>
        <p:spPr>
          <a:xfrm>
            <a:off x="2967450" y="1382050"/>
            <a:ext cx="2656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250"/>
              <a:buFont typeface="IBM Plex Sans"/>
              <a:buNone/>
            </a:pPr>
            <a:r>
              <a:rPr lang="en-GB" sz="15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Year</a:t>
            </a:r>
            <a:endParaRPr sz="1500">
              <a:solidFill>
                <a:srgbClr val="2323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84" name="Google Shape;484;p35"/>
          <p:cNvSpPr/>
          <p:nvPr/>
        </p:nvSpPr>
        <p:spPr>
          <a:xfrm>
            <a:off x="630650" y="2019958"/>
            <a:ext cx="2656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250"/>
              <a:buFont typeface="IBM Plex Sans"/>
              <a:buNone/>
            </a:pPr>
            <a:r>
              <a:rPr lang="en-GB" sz="15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Financial Freedom</a:t>
            </a:r>
            <a:endParaRPr sz="1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5"/>
          <p:cNvSpPr/>
          <p:nvPr/>
        </p:nvSpPr>
        <p:spPr>
          <a:xfrm>
            <a:off x="2967450" y="2019958"/>
            <a:ext cx="2656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250"/>
              <a:buFont typeface="IBM Plex Sans"/>
              <a:buNone/>
            </a:pPr>
            <a:r>
              <a:rPr lang="en-GB" sz="15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2033</a:t>
            </a:r>
            <a:endParaRPr sz="15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86" name="Google Shape;486;p35"/>
          <p:cNvSpPr/>
          <p:nvPr/>
        </p:nvSpPr>
        <p:spPr>
          <a:xfrm>
            <a:off x="5782600" y="2019958"/>
            <a:ext cx="2656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1500" b="1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₹3.04 Cr</a:t>
            </a:r>
            <a:endParaRPr sz="15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87" name="Google Shape;487;p35"/>
          <p:cNvSpPr/>
          <p:nvPr/>
        </p:nvSpPr>
        <p:spPr>
          <a:xfrm>
            <a:off x="476250" y="890600"/>
            <a:ext cx="8667900" cy="1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125"/>
              <a:buFont typeface="IBM Plex Sans"/>
              <a:buNone/>
            </a:pPr>
            <a:r>
              <a:rPr lang="en-GB" sz="1125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 </a:t>
            </a:r>
            <a:r>
              <a:rPr lang="en-GB" sz="1125">
                <a:solidFill>
                  <a:srgbClr val="6A6E6E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Infinite Very Aggressive</a:t>
            </a:r>
            <a:r>
              <a:rPr lang="en-GB" sz="1125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 (modelled at 15%)- By gliding balances from your main corpus towards your life goals in a phased manner</a:t>
            </a:r>
            <a:endParaRPr sz="1125">
              <a:solidFill>
                <a:srgbClr val="6A6E6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6"/>
          <p:cNvSpPr txBox="1"/>
          <p:nvPr/>
        </p:nvSpPr>
        <p:spPr>
          <a:xfrm>
            <a:off x="476250" y="1595025"/>
            <a:ext cx="6114600" cy="16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2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Light"/>
              <a:buAutoNum type="arabicPeriod"/>
            </a:pPr>
            <a:r>
              <a:rPr lang="en-GB">
                <a:latin typeface="IBM Plex Sans Light"/>
                <a:ea typeface="IBM Plex Sans Light"/>
                <a:cs typeface="IBM Plex Sans Light"/>
                <a:sym typeface="IBM Plex Sans Light"/>
              </a:rPr>
              <a:t>PowerUp Infinite Agreement Signing &amp; Onboarding Fee Payment</a:t>
            </a: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457200" lvl="0" indent="-317500" algn="l" rtl="0">
              <a:lnSpc>
                <a:spcPct val="2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Light"/>
              <a:buAutoNum type="arabicPeriod"/>
            </a:pPr>
            <a:r>
              <a:rPr lang="en-GB">
                <a:latin typeface="IBM Plex Sans Light"/>
                <a:ea typeface="IBM Plex Sans Light"/>
                <a:cs typeface="IBM Plex Sans Light"/>
                <a:sym typeface="IBM Plex Sans Light"/>
              </a:rPr>
              <a:t>Portfolio Transition Plan (Fully Tax Optimised)</a:t>
            </a: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457200" lvl="0" indent="-317500" algn="l" rtl="0">
              <a:lnSpc>
                <a:spcPct val="2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Light"/>
              <a:buAutoNum type="arabicPeriod"/>
            </a:pPr>
            <a:r>
              <a:rPr lang="en-GB">
                <a:latin typeface="IBM Plex Sans Light"/>
                <a:ea typeface="IBM Plex Sans Light"/>
                <a:cs typeface="IBM Plex Sans Light"/>
                <a:sym typeface="IBM Plex Sans Light"/>
              </a:rPr>
              <a:t>Portfolio Execution</a:t>
            </a: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494" name="Google Shape;494;p36"/>
          <p:cNvSpPr/>
          <p:nvPr/>
        </p:nvSpPr>
        <p:spPr>
          <a:xfrm>
            <a:off x="476250" y="990600"/>
            <a:ext cx="4095900" cy="4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36"/>
          <p:cNvSpPr/>
          <p:nvPr/>
        </p:nvSpPr>
        <p:spPr>
          <a:xfrm>
            <a:off x="476250" y="1714500"/>
            <a:ext cx="40959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36"/>
          <p:cNvSpPr/>
          <p:nvPr/>
        </p:nvSpPr>
        <p:spPr>
          <a:xfrm>
            <a:off x="476250" y="2362200"/>
            <a:ext cx="40959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36"/>
          <p:cNvSpPr/>
          <p:nvPr/>
        </p:nvSpPr>
        <p:spPr>
          <a:xfrm>
            <a:off x="476250" y="2362200"/>
            <a:ext cx="26718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36"/>
          <p:cNvSpPr/>
          <p:nvPr/>
        </p:nvSpPr>
        <p:spPr>
          <a:xfrm>
            <a:off x="476250" y="990600"/>
            <a:ext cx="2671800" cy="4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9" name="Google Shape;499;p3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2124075"/>
            <a:ext cx="4095750" cy="4763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6"/>
          <p:cNvSpPr/>
          <p:nvPr/>
        </p:nvSpPr>
        <p:spPr>
          <a:xfrm>
            <a:off x="476250" y="476250"/>
            <a:ext cx="76392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BM Plex Sans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Whats Next?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6"/>
          <p:cNvSpPr/>
          <p:nvPr/>
        </p:nvSpPr>
        <p:spPr>
          <a:xfrm>
            <a:off x="476250" y="1181100"/>
            <a:ext cx="4900500" cy="1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00"/>
              <a:buFont typeface="IBM Plex Sans"/>
              <a:buNone/>
            </a:pPr>
            <a:r>
              <a:rPr lang="en-GB" sz="12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On finalization of your portfolio strategy, we will move ahead with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2" name="Google Shape;502;p3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2733675"/>
            <a:ext cx="4095750" cy="4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3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3267075"/>
            <a:ext cx="4095750" cy="4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3E9"/>
        </a:solidFill>
        <a:effectLst/>
      </p:bgPr>
    </p:bg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7"/>
          <p:cNvSpPr/>
          <p:nvPr/>
        </p:nvSpPr>
        <p:spPr>
          <a:xfrm>
            <a:off x="0" y="476250"/>
            <a:ext cx="9144000" cy="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510" name="Google Shape;510;p37"/>
          <p:cNvSpPr/>
          <p:nvPr/>
        </p:nvSpPr>
        <p:spPr>
          <a:xfrm>
            <a:off x="1495425" y="541641"/>
            <a:ext cx="78723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25"/>
              <a:buFont typeface="IBM Plex Sans"/>
              <a:buNone/>
            </a:pPr>
            <a:r>
              <a:rPr lang="en-GB" sz="5625" i="0" u="none" strike="noStrike" cap="none">
                <a:solidFill>
                  <a:srgbClr val="000000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Appendix</a:t>
            </a:r>
            <a:endParaRPr sz="5625" i="0" u="none" strike="noStrike" cap="none">
              <a:solidFill>
                <a:schemeClr val="dk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511" name="Google Shape;511;p37"/>
          <p:cNvSpPr/>
          <p:nvPr/>
        </p:nvSpPr>
        <p:spPr>
          <a:xfrm>
            <a:off x="476250" y="571500"/>
            <a:ext cx="12858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25"/>
              <a:buFont typeface="IBM Plex Sans"/>
              <a:buNone/>
            </a:pPr>
            <a:r>
              <a:rPr lang="en-GB" sz="5625" i="0" u="none" strike="noStrike" cap="none">
                <a:solidFill>
                  <a:srgbClr val="B7B7B7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0</a:t>
            </a:r>
            <a:r>
              <a:rPr lang="en-GB" sz="5625">
                <a:solidFill>
                  <a:srgbClr val="B7B7B7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6</a:t>
            </a:r>
            <a:endParaRPr sz="5625" i="0" u="none" strike="noStrike" cap="none">
              <a:solidFill>
                <a:srgbClr val="B7B7B7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7" name="Google Shape;517;p38"/>
          <p:cNvGrpSpPr/>
          <p:nvPr/>
        </p:nvGrpSpPr>
        <p:grpSpPr>
          <a:xfrm>
            <a:off x="400050" y="1285875"/>
            <a:ext cx="8470200" cy="2842017"/>
            <a:chOff x="400050" y="1133475"/>
            <a:chExt cx="8470200" cy="2842017"/>
          </a:xfrm>
        </p:grpSpPr>
        <p:sp>
          <p:nvSpPr>
            <p:cNvPr id="518" name="Google Shape;518;p38"/>
            <p:cNvSpPr/>
            <p:nvPr/>
          </p:nvSpPr>
          <p:spPr>
            <a:xfrm>
              <a:off x="400050" y="1133475"/>
              <a:ext cx="8470200" cy="2837400"/>
            </a:xfrm>
            <a:prstGeom prst="roundRect">
              <a:avLst>
                <a:gd name="adj" fmla="val 10435"/>
              </a:avLst>
            </a:prstGeom>
            <a:noFill/>
            <a:ln w="50800" cap="flat" cmpd="sng">
              <a:solidFill>
                <a:srgbClr val="F8F8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cxnSp>
          <p:nvCxnSpPr>
            <p:cNvPr id="519" name="Google Shape;519;p38"/>
            <p:cNvCxnSpPr/>
            <p:nvPr/>
          </p:nvCxnSpPr>
          <p:spPr>
            <a:xfrm>
              <a:off x="2608250" y="1150092"/>
              <a:ext cx="0" cy="2825400"/>
            </a:xfrm>
            <a:prstGeom prst="straightConnector1">
              <a:avLst/>
            </a:prstGeom>
            <a:noFill/>
            <a:ln w="50800" cap="flat" cmpd="sng">
              <a:solidFill>
                <a:srgbClr val="F8F8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20" name="Google Shape;520;p38"/>
            <p:cNvCxnSpPr/>
            <p:nvPr/>
          </p:nvCxnSpPr>
          <p:spPr>
            <a:xfrm>
              <a:off x="5808650" y="1150092"/>
              <a:ext cx="0" cy="2825400"/>
            </a:xfrm>
            <a:prstGeom prst="straightConnector1">
              <a:avLst/>
            </a:prstGeom>
            <a:noFill/>
            <a:ln w="50800" cap="flat" cmpd="sng">
              <a:solidFill>
                <a:srgbClr val="F8F8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21" name="Google Shape;521;p38"/>
            <p:cNvCxnSpPr/>
            <p:nvPr/>
          </p:nvCxnSpPr>
          <p:spPr>
            <a:xfrm>
              <a:off x="7332650" y="1150092"/>
              <a:ext cx="0" cy="2825400"/>
            </a:xfrm>
            <a:prstGeom prst="straightConnector1">
              <a:avLst/>
            </a:prstGeom>
            <a:noFill/>
            <a:ln w="50800" cap="flat" cmpd="sng">
              <a:solidFill>
                <a:srgbClr val="F8F8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522" name="Google Shape;522;p38" descr="preencoded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14575" y="1590675"/>
              <a:ext cx="8427600" cy="9675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  <p:cxnSp>
          <p:nvCxnSpPr>
            <p:cNvPr id="523" name="Google Shape;523;p38"/>
            <p:cNvCxnSpPr/>
            <p:nvPr/>
          </p:nvCxnSpPr>
          <p:spPr>
            <a:xfrm>
              <a:off x="4284650" y="1138148"/>
              <a:ext cx="0" cy="2825400"/>
            </a:xfrm>
            <a:prstGeom prst="straightConnector1">
              <a:avLst/>
            </a:prstGeom>
            <a:noFill/>
            <a:ln w="50800" cap="flat" cmpd="sng">
              <a:solidFill>
                <a:srgbClr val="F8F8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524" name="Google Shape;524;p38"/>
          <p:cNvSpPr/>
          <p:nvPr/>
        </p:nvSpPr>
        <p:spPr>
          <a:xfrm>
            <a:off x="411800" y="476250"/>
            <a:ext cx="1181700" cy="490500"/>
          </a:xfrm>
          <a:prstGeom prst="roundRect">
            <a:avLst>
              <a:gd name="adj" fmla="val 44738"/>
            </a:avLst>
          </a:prstGeom>
          <a:solidFill>
            <a:srgbClr val="D1E0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38"/>
          <p:cNvSpPr/>
          <p:nvPr/>
        </p:nvSpPr>
        <p:spPr>
          <a:xfrm>
            <a:off x="506236" y="628650"/>
            <a:ext cx="33576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661D"/>
              </a:buClr>
              <a:buSzPts val="2100"/>
              <a:buFont typeface="IBM Plex Sans"/>
              <a:buNone/>
            </a:pPr>
            <a:r>
              <a:rPr lang="en-GB" sz="21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Equity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6" name="Google Shape;526;p38"/>
          <p:cNvGrpSpPr/>
          <p:nvPr/>
        </p:nvGrpSpPr>
        <p:grpSpPr>
          <a:xfrm>
            <a:off x="5847373" y="4795965"/>
            <a:ext cx="3029166" cy="257100"/>
            <a:chOff x="5847373" y="4795965"/>
            <a:chExt cx="3029166" cy="257100"/>
          </a:xfrm>
        </p:grpSpPr>
        <p:grpSp>
          <p:nvGrpSpPr>
            <p:cNvPr id="527" name="Google Shape;527;p38"/>
            <p:cNvGrpSpPr/>
            <p:nvPr/>
          </p:nvGrpSpPr>
          <p:grpSpPr>
            <a:xfrm>
              <a:off x="5847373" y="4795965"/>
              <a:ext cx="661570" cy="257100"/>
              <a:chOff x="5847373" y="4795965"/>
              <a:chExt cx="661570" cy="257100"/>
            </a:xfrm>
          </p:grpSpPr>
          <p:pic>
            <p:nvPicPr>
              <p:cNvPr id="528" name="Google Shape;528;p38" title="Group 1430103892.png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5847373" y="4845608"/>
                <a:ext cx="171433" cy="1714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29" name="Google Shape;529;p38"/>
              <p:cNvSpPr txBox="1"/>
              <p:nvPr/>
            </p:nvSpPr>
            <p:spPr>
              <a:xfrm>
                <a:off x="6008843" y="4795965"/>
                <a:ext cx="500100" cy="25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00">
                    <a:latin typeface="IBM Plex Sans"/>
                    <a:ea typeface="IBM Plex Sans"/>
                    <a:cs typeface="IBM Plex Sans"/>
                    <a:sym typeface="IBM Plex Sans"/>
                  </a:rPr>
                  <a:t>In-form</a:t>
                </a:r>
                <a:endParaRPr sz="700"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  <p:grpSp>
          <p:nvGrpSpPr>
            <p:cNvPr id="530" name="Google Shape;530;p38"/>
            <p:cNvGrpSpPr/>
            <p:nvPr/>
          </p:nvGrpSpPr>
          <p:grpSpPr>
            <a:xfrm>
              <a:off x="6502780" y="4795965"/>
              <a:ext cx="760561" cy="257100"/>
              <a:chOff x="6498979" y="4795965"/>
              <a:chExt cx="760561" cy="257100"/>
            </a:xfrm>
          </p:grpSpPr>
          <p:pic>
            <p:nvPicPr>
              <p:cNvPr id="531" name="Google Shape;531;p38" title="Frame 2616257 (1).png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6498979" y="4845620"/>
                <a:ext cx="171425" cy="1714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32" name="Google Shape;532;p38"/>
              <p:cNvSpPr txBox="1"/>
              <p:nvPr/>
            </p:nvSpPr>
            <p:spPr>
              <a:xfrm>
                <a:off x="6660441" y="4795965"/>
                <a:ext cx="599100" cy="25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00">
                    <a:latin typeface="IBM Plex Sans"/>
                    <a:ea typeface="IBM Plex Sans"/>
                    <a:cs typeface="IBM Plex Sans"/>
                    <a:sym typeface="IBM Plex Sans"/>
                  </a:rPr>
                  <a:t>On-track</a:t>
                </a:r>
                <a:endParaRPr sz="700"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  <p:grpSp>
          <p:nvGrpSpPr>
            <p:cNvPr id="533" name="Google Shape;533;p38"/>
            <p:cNvGrpSpPr/>
            <p:nvPr/>
          </p:nvGrpSpPr>
          <p:grpSpPr>
            <a:xfrm>
              <a:off x="8011577" y="4795965"/>
              <a:ext cx="864961" cy="257100"/>
              <a:chOff x="7249577" y="4795965"/>
              <a:chExt cx="864961" cy="257100"/>
            </a:xfrm>
          </p:grpSpPr>
          <p:pic>
            <p:nvPicPr>
              <p:cNvPr id="534" name="Google Shape;534;p38" title="Group 1430103892 (2).png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7249577" y="4845612"/>
                <a:ext cx="171425" cy="17144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35" name="Google Shape;535;p38"/>
              <p:cNvSpPr txBox="1"/>
              <p:nvPr/>
            </p:nvSpPr>
            <p:spPr>
              <a:xfrm>
                <a:off x="7411039" y="4795965"/>
                <a:ext cx="703500" cy="25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00">
                    <a:latin typeface="IBM Plex Sans"/>
                    <a:ea typeface="IBM Plex Sans"/>
                    <a:cs typeface="IBM Plex Sans"/>
                    <a:sym typeface="IBM Plex Sans"/>
                  </a:rPr>
                  <a:t>Out-of-form</a:t>
                </a:r>
                <a:endParaRPr sz="700"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  <p:grpSp>
          <p:nvGrpSpPr>
            <p:cNvPr id="536" name="Google Shape;536;p38"/>
            <p:cNvGrpSpPr/>
            <p:nvPr/>
          </p:nvGrpSpPr>
          <p:grpSpPr>
            <a:xfrm>
              <a:off x="7257179" y="4795965"/>
              <a:ext cx="760561" cy="257100"/>
              <a:chOff x="8104575" y="4795965"/>
              <a:chExt cx="760561" cy="257100"/>
            </a:xfrm>
          </p:grpSpPr>
          <p:pic>
            <p:nvPicPr>
              <p:cNvPr id="537" name="Google Shape;537;p38" title="Group 1430103892 (1).png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8104575" y="4845629"/>
                <a:ext cx="171425" cy="1714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38" name="Google Shape;538;p38"/>
              <p:cNvSpPr txBox="1"/>
              <p:nvPr/>
            </p:nvSpPr>
            <p:spPr>
              <a:xfrm>
                <a:off x="8266037" y="4795965"/>
                <a:ext cx="599100" cy="25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00">
                    <a:latin typeface="IBM Plex Sans"/>
                    <a:ea typeface="IBM Plex Sans"/>
                    <a:cs typeface="IBM Plex Sans"/>
                    <a:sym typeface="IBM Plex Sans"/>
                  </a:rPr>
                  <a:t>Off-track</a:t>
                </a:r>
                <a:endParaRPr sz="700"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</p:grpSp>
      <p:graphicFrame>
        <p:nvGraphicFramePr>
          <p:cNvPr id="539" name="Google Shape;539;p38"/>
          <p:cNvGraphicFramePr/>
          <p:nvPr/>
        </p:nvGraphicFramePr>
        <p:xfrm>
          <a:off x="572501" y="1877285"/>
          <a:ext cx="203575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SBI Flexicap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0" name="Google Shape;540;p38"/>
          <p:cNvGraphicFramePr/>
          <p:nvPr/>
        </p:nvGraphicFramePr>
        <p:xfrm>
          <a:off x="4271150" y="1877285"/>
          <a:ext cx="156990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17.4L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(18.4%)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1" name="Google Shape;541;p38"/>
          <p:cNvGraphicFramePr/>
          <p:nvPr/>
        </p:nvGraphicFramePr>
        <p:xfrm>
          <a:off x="7635275" y="1877285"/>
          <a:ext cx="93445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93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-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2" name="Google Shape;542;p38"/>
          <p:cNvGraphicFramePr/>
          <p:nvPr/>
        </p:nvGraphicFramePr>
        <p:xfrm>
          <a:off x="5813826" y="1877285"/>
          <a:ext cx="1513825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21.3% | 23.3%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3" name="Google Shape;543;p38"/>
          <p:cNvGraphicFramePr/>
          <p:nvPr/>
        </p:nvGraphicFramePr>
        <p:xfrm>
          <a:off x="2707092" y="1877285"/>
          <a:ext cx="148980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148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4" name="Google Shape;544;p38"/>
          <p:cNvGraphicFramePr/>
          <p:nvPr/>
        </p:nvGraphicFramePr>
        <p:xfrm>
          <a:off x="572501" y="2429735"/>
          <a:ext cx="203575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HDFC Flexi Cap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5" name="Google Shape;545;p38"/>
          <p:cNvGraphicFramePr/>
          <p:nvPr/>
        </p:nvGraphicFramePr>
        <p:xfrm>
          <a:off x="4271150" y="2429735"/>
          <a:ext cx="156990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5.0L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(5.3%)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6" name="Google Shape;546;p38"/>
          <p:cNvGraphicFramePr/>
          <p:nvPr/>
        </p:nvGraphicFramePr>
        <p:xfrm>
          <a:off x="7635275" y="2429735"/>
          <a:ext cx="93445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93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-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7" name="Google Shape;547;p38"/>
          <p:cNvGraphicFramePr/>
          <p:nvPr/>
        </p:nvGraphicFramePr>
        <p:xfrm>
          <a:off x="5813826" y="2429735"/>
          <a:ext cx="1513825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6.7% | 1.5%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8" name="Google Shape;548;p38"/>
          <p:cNvGraphicFramePr/>
          <p:nvPr/>
        </p:nvGraphicFramePr>
        <p:xfrm>
          <a:off x="2707092" y="2429735"/>
          <a:ext cx="148980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148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9" name="Google Shape;549;p38"/>
          <p:cNvGraphicFramePr/>
          <p:nvPr/>
        </p:nvGraphicFramePr>
        <p:xfrm>
          <a:off x="572501" y="2982185"/>
          <a:ext cx="203575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Parag Parikh Flexi Cap Fund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0" name="Google Shape;550;p38"/>
          <p:cNvGraphicFramePr/>
          <p:nvPr/>
        </p:nvGraphicFramePr>
        <p:xfrm>
          <a:off x="7635275" y="2982185"/>
          <a:ext cx="93445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93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-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1" name="Google Shape;551;p38"/>
          <p:cNvGraphicFramePr/>
          <p:nvPr/>
        </p:nvGraphicFramePr>
        <p:xfrm>
          <a:off x="4271150" y="2982185"/>
          <a:ext cx="156990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4.7L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(5.0%)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2" name="Google Shape;552;p38"/>
          <p:cNvGraphicFramePr/>
          <p:nvPr/>
        </p:nvGraphicFramePr>
        <p:xfrm>
          <a:off x="5813826" y="2982185"/>
          <a:ext cx="1513825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12.5% | 12.5%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3" name="Google Shape;553;p38"/>
          <p:cNvGraphicFramePr/>
          <p:nvPr/>
        </p:nvGraphicFramePr>
        <p:xfrm>
          <a:off x="2707092" y="2982185"/>
          <a:ext cx="148980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148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4" name="Google Shape;554;p38"/>
          <p:cNvGraphicFramePr/>
          <p:nvPr/>
        </p:nvGraphicFramePr>
        <p:xfrm>
          <a:off x="572501" y="3534635"/>
          <a:ext cx="203575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JioBlackRock Flexi Cap Fund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5" name="Google Shape;555;p38"/>
          <p:cNvGraphicFramePr/>
          <p:nvPr/>
        </p:nvGraphicFramePr>
        <p:xfrm>
          <a:off x="4271150" y="3534635"/>
          <a:ext cx="156990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25K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(0.3%)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6" name="Google Shape;556;p38"/>
          <p:cNvGraphicFramePr/>
          <p:nvPr/>
        </p:nvGraphicFramePr>
        <p:xfrm>
          <a:off x="7635275" y="3534635"/>
          <a:ext cx="93445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93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-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7" name="Google Shape;557;p38"/>
          <p:cNvGraphicFramePr/>
          <p:nvPr/>
        </p:nvGraphicFramePr>
        <p:xfrm>
          <a:off x="5813826" y="3534635"/>
          <a:ext cx="1513825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4.7% | 0.4%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8" name="Google Shape;558;p38"/>
          <p:cNvGraphicFramePr/>
          <p:nvPr/>
        </p:nvGraphicFramePr>
        <p:xfrm>
          <a:off x="2707092" y="3534635"/>
          <a:ext cx="148980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148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-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59" name="Google Shape;559;p3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34942" y="1967710"/>
            <a:ext cx="255600" cy="2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3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4942" y="2520160"/>
            <a:ext cx="255600" cy="2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3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4942" y="3072610"/>
            <a:ext cx="255600" cy="2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38"/>
          <p:cNvSpPr/>
          <p:nvPr/>
        </p:nvSpPr>
        <p:spPr>
          <a:xfrm>
            <a:off x="557675" y="1458450"/>
            <a:ext cx="18540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Flexi Cap</a:t>
            </a:r>
            <a:endParaRPr sz="1050" i="0" u="none" strike="noStrike" cap="none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63" name="Google Shape;563;p38"/>
          <p:cNvSpPr/>
          <p:nvPr/>
        </p:nvSpPr>
        <p:spPr>
          <a:xfrm>
            <a:off x="4236950" y="1365608"/>
            <a:ext cx="16383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Current Value </a:t>
            </a:r>
            <a:b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</a:br>
            <a:r>
              <a:rPr lang="en-GB" sz="7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(% of Portfolio)</a:t>
            </a:r>
            <a:endParaRPr sz="7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64" name="Google Shape;564;p38"/>
          <p:cNvSpPr/>
          <p:nvPr/>
        </p:nvSpPr>
        <p:spPr>
          <a:xfrm>
            <a:off x="5643739" y="1365615"/>
            <a:ext cx="18540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XIRR  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7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Your | Benchmark</a:t>
            </a:r>
            <a:endParaRPr sz="750" i="0" u="none" strike="noStrike" cap="none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65" name="Google Shape;565;p38"/>
          <p:cNvSpPr/>
          <p:nvPr/>
        </p:nvSpPr>
        <p:spPr>
          <a:xfrm>
            <a:off x="7175500" y="1365616"/>
            <a:ext cx="18540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Missed Gains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66" name="Google Shape;566;p38"/>
          <p:cNvSpPr/>
          <p:nvPr/>
        </p:nvSpPr>
        <p:spPr>
          <a:xfrm>
            <a:off x="2643600" y="1355968"/>
            <a:ext cx="16383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Power Rating</a:t>
            </a:r>
            <a:endParaRPr sz="5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67" name="Google Shape;567;p38"/>
          <p:cNvSpPr txBox="1"/>
          <p:nvPr/>
        </p:nvSpPr>
        <p:spPr>
          <a:xfrm>
            <a:off x="353850" y="4799913"/>
            <a:ext cx="5427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u="sng">
                <a:solidFill>
                  <a:schemeClr val="hlink"/>
                </a:solidFill>
                <a:latin typeface="IBM Plex Sans Light"/>
                <a:ea typeface="IBM Plex Sans Light"/>
                <a:cs typeface="IBM Plex Sans Light"/>
                <a:sym typeface="IBM Plex Sans Light"/>
                <a:hlinkClick r:id="rId10" action="ppaction://hlinksldjump"/>
              </a:rPr>
              <a:t>Go back</a:t>
            </a:r>
            <a:endParaRPr sz="600"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3" name="Google Shape;573;p39"/>
          <p:cNvGrpSpPr/>
          <p:nvPr/>
        </p:nvGrpSpPr>
        <p:grpSpPr>
          <a:xfrm>
            <a:off x="400050" y="1285869"/>
            <a:ext cx="8470200" cy="2222804"/>
            <a:chOff x="400050" y="2657475"/>
            <a:chExt cx="8470200" cy="1762871"/>
          </a:xfrm>
        </p:grpSpPr>
        <p:cxnSp>
          <p:nvCxnSpPr>
            <p:cNvPr id="574" name="Google Shape;574;p39"/>
            <p:cNvCxnSpPr/>
            <p:nvPr/>
          </p:nvCxnSpPr>
          <p:spPr>
            <a:xfrm>
              <a:off x="7332650" y="2669546"/>
              <a:ext cx="0" cy="1750800"/>
            </a:xfrm>
            <a:prstGeom prst="straightConnector1">
              <a:avLst/>
            </a:prstGeom>
            <a:noFill/>
            <a:ln w="50800" cap="flat" cmpd="sng">
              <a:solidFill>
                <a:srgbClr val="F8F8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575" name="Google Shape;575;p39"/>
            <p:cNvGrpSpPr/>
            <p:nvPr/>
          </p:nvGrpSpPr>
          <p:grpSpPr>
            <a:xfrm>
              <a:off x="400050" y="2657475"/>
              <a:ext cx="8470200" cy="1762871"/>
              <a:chOff x="400050" y="2657475"/>
              <a:chExt cx="8470200" cy="1762871"/>
            </a:xfrm>
          </p:grpSpPr>
          <p:sp>
            <p:nvSpPr>
              <p:cNvPr id="576" name="Google Shape;576;p39"/>
              <p:cNvSpPr/>
              <p:nvPr/>
            </p:nvSpPr>
            <p:spPr>
              <a:xfrm>
                <a:off x="400050" y="2657475"/>
                <a:ext cx="8470200" cy="1758300"/>
              </a:xfrm>
              <a:prstGeom prst="roundRect">
                <a:avLst>
                  <a:gd name="adj" fmla="val 10435"/>
                </a:avLst>
              </a:prstGeom>
              <a:noFill/>
              <a:ln w="50800" cap="flat" cmpd="sng">
                <a:solidFill>
                  <a:srgbClr val="F8F8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cxnSp>
            <p:nvCxnSpPr>
              <p:cNvPr id="577" name="Google Shape;577;p39"/>
              <p:cNvCxnSpPr/>
              <p:nvPr/>
            </p:nvCxnSpPr>
            <p:spPr>
              <a:xfrm>
                <a:off x="2608250" y="2669546"/>
                <a:ext cx="0" cy="1750800"/>
              </a:xfrm>
              <a:prstGeom prst="straightConnector1">
                <a:avLst/>
              </a:prstGeom>
              <a:noFill/>
              <a:ln w="50800" cap="flat" cmpd="sng">
                <a:solidFill>
                  <a:srgbClr val="F8F8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78" name="Google Shape;578;p39"/>
              <p:cNvCxnSpPr/>
              <p:nvPr/>
            </p:nvCxnSpPr>
            <p:spPr>
              <a:xfrm>
                <a:off x="5808650" y="2669546"/>
                <a:ext cx="0" cy="1750800"/>
              </a:xfrm>
              <a:prstGeom prst="straightConnector1">
                <a:avLst/>
              </a:prstGeom>
              <a:noFill/>
              <a:ln w="50800" cap="flat" cmpd="sng">
                <a:solidFill>
                  <a:srgbClr val="F8F8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pic>
            <p:nvPicPr>
              <p:cNvPr id="579" name="Google Shape;579;p39" descr="preencoded.png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414575" y="3026419"/>
                <a:ext cx="8427600" cy="9675"/>
              </a:xfrm>
              <a:prstGeom prst="rect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cxnSp>
            <p:nvCxnSpPr>
              <p:cNvPr id="580" name="Google Shape;580;p39"/>
              <p:cNvCxnSpPr/>
              <p:nvPr/>
            </p:nvCxnSpPr>
            <p:spPr>
              <a:xfrm>
                <a:off x="4284650" y="2662145"/>
                <a:ext cx="0" cy="1750800"/>
              </a:xfrm>
              <a:prstGeom prst="straightConnector1">
                <a:avLst/>
              </a:prstGeom>
              <a:noFill/>
              <a:ln w="50800" cap="flat" cmpd="sng">
                <a:solidFill>
                  <a:srgbClr val="F8F8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sp>
        <p:nvSpPr>
          <p:cNvPr id="581" name="Google Shape;581;p39"/>
          <p:cNvSpPr/>
          <p:nvPr/>
        </p:nvSpPr>
        <p:spPr>
          <a:xfrm>
            <a:off x="411800" y="476250"/>
            <a:ext cx="1181700" cy="490500"/>
          </a:xfrm>
          <a:prstGeom prst="roundRect">
            <a:avLst>
              <a:gd name="adj" fmla="val 44738"/>
            </a:avLst>
          </a:prstGeom>
          <a:solidFill>
            <a:srgbClr val="D1E0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39"/>
          <p:cNvSpPr/>
          <p:nvPr/>
        </p:nvSpPr>
        <p:spPr>
          <a:xfrm>
            <a:off x="506236" y="628650"/>
            <a:ext cx="33576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661D"/>
              </a:buClr>
              <a:buSzPts val="2100"/>
              <a:buFont typeface="IBM Plex Sans"/>
              <a:buNone/>
            </a:pPr>
            <a:r>
              <a:rPr lang="en-GB" sz="21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Equity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3" name="Google Shape;583;p39"/>
          <p:cNvGrpSpPr/>
          <p:nvPr/>
        </p:nvGrpSpPr>
        <p:grpSpPr>
          <a:xfrm>
            <a:off x="5847373" y="4795965"/>
            <a:ext cx="3029166" cy="257100"/>
            <a:chOff x="5847373" y="4795965"/>
            <a:chExt cx="3029166" cy="257100"/>
          </a:xfrm>
        </p:grpSpPr>
        <p:grpSp>
          <p:nvGrpSpPr>
            <p:cNvPr id="584" name="Google Shape;584;p39"/>
            <p:cNvGrpSpPr/>
            <p:nvPr/>
          </p:nvGrpSpPr>
          <p:grpSpPr>
            <a:xfrm>
              <a:off x="5847373" y="4795965"/>
              <a:ext cx="661570" cy="257100"/>
              <a:chOff x="5847373" y="4795965"/>
              <a:chExt cx="661570" cy="257100"/>
            </a:xfrm>
          </p:grpSpPr>
          <p:pic>
            <p:nvPicPr>
              <p:cNvPr id="585" name="Google Shape;585;p39" title="Group 1430103892.png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5847373" y="4845608"/>
                <a:ext cx="171433" cy="1714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86" name="Google Shape;586;p39"/>
              <p:cNvSpPr txBox="1"/>
              <p:nvPr/>
            </p:nvSpPr>
            <p:spPr>
              <a:xfrm>
                <a:off x="6008843" y="4795965"/>
                <a:ext cx="500100" cy="25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00">
                    <a:latin typeface="IBM Plex Sans"/>
                    <a:ea typeface="IBM Plex Sans"/>
                    <a:cs typeface="IBM Plex Sans"/>
                    <a:sym typeface="IBM Plex Sans"/>
                  </a:rPr>
                  <a:t>In-form</a:t>
                </a:r>
                <a:endParaRPr sz="700"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  <p:grpSp>
          <p:nvGrpSpPr>
            <p:cNvPr id="587" name="Google Shape;587;p39"/>
            <p:cNvGrpSpPr/>
            <p:nvPr/>
          </p:nvGrpSpPr>
          <p:grpSpPr>
            <a:xfrm>
              <a:off x="6502780" y="4795965"/>
              <a:ext cx="760561" cy="257100"/>
              <a:chOff x="6498979" y="4795965"/>
              <a:chExt cx="760561" cy="257100"/>
            </a:xfrm>
          </p:grpSpPr>
          <p:pic>
            <p:nvPicPr>
              <p:cNvPr id="588" name="Google Shape;588;p39" title="Frame 2616257 (1).png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6498979" y="4845620"/>
                <a:ext cx="171425" cy="1714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89" name="Google Shape;589;p39"/>
              <p:cNvSpPr txBox="1"/>
              <p:nvPr/>
            </p:nvSpPr>
            <p:spPr>
              <a:xfrm>
                <a:off x="6660441" y="4795965"/>
                <a:ext cx="599100" cy="25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00">
                    <a:latin typeface="IBM Plex Sans"/>
                    <a:ea typeface="IBM Plex Sans"/>
                    <a:cs typeface="IBM Plex Sans"/>
                    <a:sym typeface="IBM Plex Sans"/>
                  </a:rPr>
                  <a:t>On-track</a:t>
                </a:r>
                <a:endParaRPr sz="700"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  <p:grpSp>
          <p:nvGrpSpPr>
            <p:cNvPr id="590" name="Google Shape;590;p39"/>
            <p:cNvGrpSpPr/>
            <p:nvPr/>
          </p:nvGrpSpPr>
          <p:grpSpPr>
            <a:xfrm>
              <a:off x="8011577" y="4795965"/>
              <a:ext cx="864961" cy="257100"/>
              <a:chOff x="7249577" y="4795965"/>
              <a:chExt cx="864961" cy="257100"/>
            </a:xfrm>
          </p:grpSpPr>
          <p:pic>
            <p:nvPicPr>
              <p:cNvPr id="591" name="Google Shape;591;p39" title="Group 1430103892 (2).png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7249577" y="4845612"/>
                <a:ext cx="171425" cy="17144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92" name="Google Shape;592;p39"/>
              <p:cNvSpPr txBox="1"/>
              <p:nvPr/>
            </p:nvSpPr>
            <p:spPr>
              <a:xfrm>
                <a:off x="7411039" y="4795965"/>
                <a:ext cx="703500" cy="25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00">
                    <a:latin typeface="IBM Plex Sans"/>
                    <a:ea typeface="IBM Plex Sans"/>
                    <a:cs typeface="IBM Plex Sans"/>
                    <a:sym typeface="IBM Plex Sans"/>
                  </a:rPr>
                  <a:t>Out-of-form</a:t>
                </a:r>
                <a:endParaRPr sz="700"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  <p:grpSp>
          <p:nvGrpSpPr>
            <p:cNvPr id="593" name="Google Shape;593;p39"/>
            <p:cNvGrpSpPr/>
            <p:nvPr/>
          </p:nvGrpSpPr>
          <p:grpSpPr>
            <a:xfrm>
              <a:off x="7257179" y="4795965"/>
              <a:ext cx="760561" cy="257100"/>
              <a:chOff x="8104575" y="4795965"/>
              <a:chExt cx="760561" cy="257100"/>
            </a:xfrm>
          </p:grpSpPr>
          <p:pic>
            <p:nvPicPr>
              <p:cNvPr id="594" name="Google Shape;594;p39" title="Group 1430103892 (1).png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8104575" y="4845629"/>
                <a:ext cx="171425" cy="1714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95" name="Google Shape;595;p39"/>
              <p:cNvSpPr txBox="1"/>
              <p:nvPr/>
            </p:nvSpPr>
            <p:spPr>
              <a:xfrm>
                <a:off x="8266037" y="4795965"/>
                <a:ext cx="599100" cy="25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00">
                    <a:latin typeface="IBM Plex Sans"/>
                    <a:ea typeface="IBM Plex Sans"/>
                    <a:cs typeface="IBM Plex Sans"/>
                    <a:sym typeface="IBM Plex Sans"/>
                  </a:rPr>
                  <a:t>Off-track</a:t>
                </a:r>
                <a:endParaRPr sz="700"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</p:grpSp>
      <p:graphicFrame>
        <p:nvGraphicFramePr>
          <p:cNvPr id="596" name="Google Shape;596;p39"/>
          <p:cNvGraphicFramePr/>
          <p:nvPr/>
        </p:nvGraphicFramePr>
        <p:xfrm>
          <a:off x="572501" y="1801085"/>
          <a:ext cx="203575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Sundaram Mid Cap Regular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7" name="Google Shape;597;p39"/>
          <p:cNvGraphicFramePr/>
          <p:nvPr/>
        </p:nvGraphicFramePr>
        <p:xfrm>
          <a:off x="4271150" y="1801085"/>
          <a:ext cx="156990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21.5L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(22.7%)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8" name="Google Shape;598;p39"/>
          <p:cNvGraphicFramePr/>
          <p:nvPr/>
        </p:nvGraphicFramePr>
        <p:xfrm>
          <a:off x="7635275" y="1801085"/>
          <a:ext cx="93445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93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1.5L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9" name="Google Shape;599;p39"/>
          <p:cNvGraphicFramePr/>
          <p:nvPr/>
        </p:nvGraphicFramePr>
        <p:xfrm>
          <a:off x="5813826" y="1801085"/>
          <a:ext cx="1513825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16.4% | 19.1%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0" name="Google Shape;600;p39"/>
          <p:cNvGraphicFramePr/>
          <p:nvPr/>
        </p:nvGraphicFramePr>
        <p:xfrm>
          <a:off x="2707092" y="1801085"/>
          <a:ext cx="148980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148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1" name="Google Shape;601;p39"/>
          <p:cNvGraphicFramePr/>
          <p:nvPr/>
        </p:nvGraphicFramePr>
        <p:xfrm>
          <a:off x="572501" y="2353535"/>
          <a:ext cx="203575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Motilal Oswal Midcap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2" name="Google Shape;602;p39"/>
          <p:cNvGraphicFramePr/>
          <p:nvPr/>
        </p:nvGraphicFramePr>
        <p:xfrm>
          <a:off x="4271150" y="2353535"/>
          <a:ext cx="156990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5.7L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(6.0%)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3" name="Google Shape;603;p39"/>
          <p:cNvGraphicFramePr/>
          <p:nvPr/>
        </p:nvGraphicFramePr>
        <p:xfrm>
          <a:off x="7635275" y="2353535"/>
          <a:ext cx="93445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93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-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4" name="Google Shape;604;p39"/>
          <p:cNvGraphicFramePr/>
          <p:nvPr/>
        </p:nvGraphicFramePr>
        <p:xfrm>
          <a:off x="5813826" y="2353535"/>
          <a:ext cx="1513825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-30.1% | 2.4%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5" name="Google Shape;605;p39"/>
          <p:cNvGraphicFramePr/>
          <p:nvPr/>
        </p:nvGraphicFramePr>
        <p:xfrm>
          <a:off x="2707092" y="2353535"/>
          <a:ext cx="148980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148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6" name="Google Shape;606;p39"/>
          <p:cNvGraphicFramePr/>
          <p:nvPr/>
        </p:nvGraphicFramePr>
        <p:xfrm>
          <a:off x="572501" y="2905985"/>
          <a:ext cx="203575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Sundaram Mid Cap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7" name="Google Shape;607;p39"/>
          <p:cNvGraphicFramePr/>
          <p:nvPr/>
        </p:nvGraphicFramePr>
        <p:xfrm>
          <a:off x="7635275" y="2905985"/>
          <a:ext cx="93445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93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-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8" name="Google Shape;608;p39"/>
          <p:cNvGraphicFramePr/>
          <p:nvPr/>
        </p:nvGraphicFramePr>
        <p:xfrm>
          <a:off x="4271150" y="2905985"/>
          <a:ext cx="156990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2.4L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(2.6%)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9" name="Google Shape;609;p39"/>
          <p:cNvGraphicFramePr/>
          <p:nvPr/>
        </p:nvGraphicFramePr>
        <p:xfrm>
          <a:off x="5813826" y="2905985"/>
          <a:ext cx="1513825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26.0% | 26.4%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0" name="Google Shape;610;p39"/>
          <p:cNvGraphicFramePr/>
          <p:nvPr/>
        </p:nvGraphicFramePr>
        <p:xfrm>
          <a:off x="2707092" y="2905985"/>
          <a:ext cx="148980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148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11" name="Google Shape;611;p3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34942" y="1907123"/>
            <a:ext cx="255600" cy="2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3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4942" y="2459573"/>
            <a:ext cx="255600" cy="2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3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34942" y="3012023"/>
            <a:ext cx="255600" cy="2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39"/>
          <p:cNvSpPr/>
          <p:nvPr/>
        </p:nvSpPr>
        <p:spPr>
          <a:xfrm>
            <a:off x="557675" y="1435276"/>
            <a:ext cx="18540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Mid Cap</a:t>
            </a:r>
            <a:endParaRPr sz="1050" i="0" u="none" strike="noStrike" cap="none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615" name="Google Shape;615;p39"/>
          <p:cNvSpPr/>
          <p:nvPr/>
        </p:nvSpPr>
        <p:spPr>
          <a:xfrm>
            <a:off x="4236950" y="1342433"/>
            <a:ext cx="16383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Current Value </a:t>
            </a:r>
            <a:b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</a:br>
            <a:r>
              <a:rPr lang="en-GB" sz="7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(% of Portfolio)</a:t>
            </a:r>
            <a:endParaRPr sz="7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616" name="Google Shape;616;p39"/>
          <p:cNvSpPr/>
          <p:nvPr/>
        </p:nvSpPr>
        <p:spPr>
          <a:xfrm>
            <a:off x="5643739" y="1342440"/>
            <a:ext cx="18540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XIRR  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7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Your | Benchmark</a:t>
            </a:r>
            <a:endParaRPr sz="750" i="0" u="none" strike="noStrike" cap="none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617" name="Google Shape;617;p39"/>
          <p:cNvSpPr/>
          <p:nvPr/>
        </p:nvSpPr>
        <p:spPr>
          <a:xfrm>
            <a:off x="7175500" y="1342441"/>
            <a:ext cx="18540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Missed Gains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618" name="Google Shape;618;p39"/>
          <p:cNvSpPr/>
          <p:nvPr/>
        </p:nvSpPr>
        <p:spPr>
          <a:xfrm>
            <a:off x="2643600" y="1332794"/>
            <a:ext cx="16383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Power Rating</a:t>
            </a:r>
            <a:endParaRPr sz="5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619" name="Google Shape;619;p39"/>
          <p:cNvSpPr txBox="1"/>
          <p:nvPr/>
        </p:nvSpPr>
        <p:spPr>
          <a:xfrm>
            <a:off x="353850" y="4799913"/>
            <a:ext cx="5427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u="sng">
                <a:solidFill>
                  <a:schemeClr val="hlink"/>
                </a:solidFill>
                <a:latin typeface="IBM Plex Sans Light"/>
                <a:ea typeface="IBM Plex Sans Light"/>
                <a:cs typeface="IBM Plex Sans Light"/>
                <a:sym typeface="IBM Plex Sans Light"/>
                <a:hlinkClick r:id="rId10" action="ppaction://hlinksldjump"/>
              </a:rPr>
              <a:t>Go back</a:t>
            </a:r>
            <a:endParaRPr sz="600"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40"/>
          <p:cNvSpPr/>
          <p:nvPr/>
        </p:nvSpPr>
        <p:spPr>
          <a:xfrm>
            <a:off x="411800" y="476250"/>
            <a:ext cx="1181700" cy="490500"/>
          </a:xfrm>
          <a:prstGeom prst="roundRect">
            <a:avLst>
              <a:gd name="adj" fmla="val 44738"/>
            </a:avLst>
          </a:prstGeom>
          <a:solidFill>
            <a:srgbClr val="D1E0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40"/>
          <p:cNvSpPr/>
          <p:nvPr/>
        </p:nvSpPr>
        <p:spPr>
          <a:xfrm>
            <a:off x="506236" y="628650"/>
            <a:ext cx="33576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661D"/>
              </a:buClr>
              <a:buSzPts val="2100"/>
              <a:buFont typeface="IBM Plex Sans"/>
              <a:buNone/>
            </a:pPr>
            <a:r>
              <a:rPr lang="en-GB" sz="21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Equity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7" name="Google Shape;627;p40"/>
          <p:cNvGrpSpPr/>
          <p:nvPr/>
        </p:nvGrpSpPr>
        <p:grpSpPr>
          <a:xfrm>
            <a:off x="5847373" y="4795965"/>
            <a:ext cx="3029166" cy="257100"/>
            <a:chOff x="5847373" y="4795965"/>
            <a:chExt cx="3029166" cy="257100"/>
          </a:xfrm>
        </p:grpSpPr>
        <p:grpSp>
          <p:nvGrpSpPr>
            <p:cNvPr id="628" name="Google Shape;628;p40"/>
            <p:cNvGrpSpPr/>
            <p:nvPr/>
          </p:nvGrpSpPr>
          <p:grpSpPr>
            <a:xfrm>
              <a:off x="5847373" y="4795965"/>
              <a:ext cx="661570" cy="257100"/>
              <a:chOff x="5847373" y="4795965"/>
              <a:chExt cx="661570" cy="257100"/>
            </a:xfrm>
          </p:grpSpPr>
          <p:pic>
            <p:nvPicPr>
              <p:cNvPr id="629" name="Google Shape;629;p40" title="Group 1430103892.png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847373" y="4845608"/>
                <a:ext cx="171433" cy="1714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30" name="Google Shape;630;p40"/>
              <p:cNvSpPr txBox="1"/>
              <p:nvPr/>
            </p:nvSpPr>
            <p:spPr>
              <a:xfrm>
                <a:off x="6008843" y="4795965"/>
                <a:ext cx="500100" cy="25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00">
                    <a:latin typeface="IBM Plex Sans"/>
                    <a:ea typeface="IBM Plex Sans"/>
                    <a:cs typeface="IBM Plex Sans"/>
                    <a:sym typeface="IBM Plex Sans"/>
                  </a:rPr>
                  <a:t>In-form</a:t>
                </a:r>
                <a:endParaRPr sz="700"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  <p:grpSp>
          <p:nvGrpSpPr>
            <p:cNvPr id="631" name="Google Shape;631;p40"/>
            <p:cNvGrpSpPr/>
            <p:nvPr/>
          </p:nvGrpSpPr>
          <p:grpSpPr>
            <a:xfrm>
              <a:off x="6502780" y="4795965"/>
              <a:ext cx="760561" cy="257100"/>
              <a:chOff x="6498979" y="4795965"/>
              <a:chExt cx="760561" cy="257100"/>
            </a:xfrm>
          </p:grpSpPr>
          <p:pic>
            <p:nvPicPr>
              <p:cNvPr id="632" name="Google Shape;632;p40" title="Frame 2616257 (1).png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498979" y="4845620"/>
                <a:ext cx="171425" cy="1714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33" name="Google Shape;633;p40"/>
              <p:cNvSpPr txBox="1"/>
              <p:nvPr/>
            </p:nvSpPr>
            <p:spPr>
              <a:xfrm>
                <a:off x="6660441" y="4795965"/>
                <a:ext cx="599100" cy="25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00">
                    <a:latin typeface="IBM Plex Sans"/>
                    <a:ea typeface="IBM Plex Sans"/>
                    <a:cs typeface="IBM Plex Sans"/>
                    <a:sym typeface="IBM Plex Sans"/>
                  </a:rPr>
                  <a:t>On-track</a:t>
                </a:r>
                <a:endParaRPr sz="700"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  <p:grpSp>
          <p:nvGrpSpPr>
            <p:cNvPr id="634" name="Google Shape;634;p40"/>
            <p:cNvGrpSpPr/>
            <p:nvPr/>
          </p:nvGrpSpPr>
          <p:grpSpPr>
            <a:xfrm>
              <a:off x="8011577" y="4795965"/>
              <a:ext cx="864961" cy="257100"/>
              <a:chOff x="7249577" y="4795965"/>
              <a:chExt cx="864961" cy="257100"/>
            </a:xfrm>
          </p:grpSpPr>
          <p:pic>
            <p:nvPicPr>
              <p:cNvPr id="635" name="Google Shape;635;p40" title="Group 1430103892 (2).png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7249577" y="4845612"/>
                <a:ext cx="171425" cy="17144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36" name="Google Shape;636;p40"/>
              <p:cNvSpPr txBox="1"/>
              <p:nvPr/>
            </p:nvSpPr>
            <p:spPr>
              <a:xfrm>
                <a:off x="7411039" y="4795965"/>
                <a:ext cx="703500" cy="25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00">
                    <a:latin typeface="IBM Plex Sans"/>
                    <a:ea typeface="IBM Plex Sans"/>
                    <a:cs typeface="IBM Plex Sans"/>
                    <a:sym typeface="IBM Plex Sans"/>
                  </a:rPr>
                  <a:t>Out-of-form</a:t>
                </a:r>
                <a:endParaRPr sz="700"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  <p:grpSp>
          <p:nvGrpSpPr>
            <p:cNvPr id="637" name="Google Shape;637;p40"/>
            <p:cNvGrpSpPr/>
            <p:nvPr/>
          </p:nvGrpSpPr>
          <p:grpSpPr>
            <a:xfrm>
              <a:off x="7257179" y="4795965"/>
              <a:ext cx="760561" cy="257100"/>
              <a:chOff x="8104575" y="4795965"/>
              <a:chExt cx="760561" cy="257100"/>
            </a:xfrm>
          </p:grpSpPr>
          <p:pic>
            <p:nvPicPr>
              <p:cNvPr id="638" name="Google Shape;638;p40" title="Group 1430103892 (1).png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8104575" y="4845629"/>
                <a:ext cx="171425" cy="1714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39" name="Google Shape;639;p40"/>
              <p:cNvSpPr txBox="1"/>
              <p:nvPr/>
            </p:nvSpPr>
            <p:spPr>
              <a:xfrm>
                <a:off x="8266037" y="4795965"/>
                <a:ext cx="599100" cy="25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00">
                    <a:latin typeface="IBM Plex Sans"/>
                    <a:ea typeface="IBM Plex Sans"/>
                    <a:cs typeface="IBM Plex Sans"/>
                    <a:sym typeface="IBM Plex Sans"/>
                  </a:rPr>
                  <a:t>Off-track</a:t>
                </a:r>
                <a:endParaRPr sz="700"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</p:grpSp>
      <p:grpSp>
        <p:nvGrpSpPr>
          <p:cNvPr id="640" name="Google Shape;640;p40"/>
          <p:cNvGrpSpPr/>
          <p:nvPr/>
        </p:nvGrpSpPr>
        <p:grpSpPr>
          <a:xfrm>
            <a:off x="414575" y="1315110"/>
            <a:ext cx="8470200" cy="1724743"/>
            <a:chOff x="414575" y="1315158"/>
            <a:chExt cx="8470200" cy="1160037"/>
          </a:xfrm>
        </p:grpSpPr>
        <p:sp>
          <p:nvSpPr>
            <p:cNvPr id="641" name="Google Shape;641;p40"/>
            <p:cNvSpPr/>
            <p:nvPr/>
          </p:nvSpPr>
          <p:spPr>
            <a:xfrm>
              <a:off x="414575" y="1315158"/>
              <a:ext cx="8470200" cy="1155300"/>
            </a:xfrm>
            <a:prstGeom prst="roundRect">
              <a:avLst>
                <a:gd name="adj" fmla="val 10435"/>
              </a:avLst>
            </a:prstGeom>
            <a:noFill/>
            <a:ln w="50800" cap="flat" cmpd="sng">
              <a:solidFill>
                <a:srgbClr val="F8F8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cxnSp>
          <p:nvCxnSpPr>
            <p:cNvPr id="642" name="Google Shape;642;p40"/>
            <p:cNvCxnSpPr/>
            <p:nvPr/>
          </p:nvCxnSpPr>
          <p:spPr>
            <a:xfrm>
              <a:off x="2622775" y="1324694"/>
              <a:ext cx="0" cy="1150500"/>
            </a:xfrm>
            <a:prstGeom prst="straightConnector1">
              <a:avLst/>
            </a:prstGeom>
            <a:noFill/>
            <a:ln w="50800" cap="flat" cmpd="sng">
              <a:solidFill>
                <a:srgbClr val="F8F8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43" name="Google Shape;643;p40"/>
            <p:cNvCxnSpPr/>
            <p:nvPr/>
          </p:nvCxnSpPr>
          <p:spPr>
            <a:xfrm>
              <a:off x="5823175" y="1324694"/>
              <a:ext cx="0" cy="1150500"/>
            </a:xfrm>
            <a:prstGeom prst="straightConnector1">
              <a:avLst/>
            </a:prstGeom>
            <a:noFill/>
            <a:ln w="50800" cap="flat" cmpd="sng">
              <a:solidFill>
                <a:srgbClr val="F8F8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44" name="Google Shape;644;p40"/>
            <p:cNvCxnSpPr/>
            <p:nvPr/>
          </p:nvCxnSpPr>
          <p:spPr>
            <a:xfrm>
              <a:off x="7347175" y="1324694"/>
              <a:ext cx="0" cy="1150500"/>
            </a:xfrm>
            <a:prstGeom prst="straightConnector1">
              <a:avLst/>
            </a:prstGeom>
            <a:noFill/>
            <a:ln w="50800" cap="flat" cmpd="sng">
              <a:solidFill>
                <a:srgbClr val="F8F8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645" name="Google Shape;645;p40" descr="preencoded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29100" y="1618605"/>
              <a:ext cx="8427600" cy="9675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  <p:cxnSp>
          <p:nvCxnSpPr>
            <p:cNvPr id="646" name="Google Shape;646;p40"/>
            <p:cNvCxnSpPr/>
            <p:nvPr/>
          </p:nvCxnSpPr>
          <p:spPr>
            <a:xfrm>
              <a:off x="4299175" y="1319831"/>
              <a:ext cx="0" cy="1150500"/>
            </a:xfrm>
            <a:prstGeom prst="straightConnector1">
              <a:avLst/>
            </a:prstGeom>
            <a:noFill/>
            <a:ln w="50800" cap="flat" cmpd="sng">
              <a:solidFill>
                <a:srgbClr val="F8F8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aphicFrame>
        <p:nvGraphicFramePr>
          <p:cNvPr id="647" name="Google Shape;647;p40"/>
          <p:cNvGraphicFramePr/>
          <p:nvPr/>
        </p:nvGraphicFramePr>
        <p:xfrm>
          <a:off x="572501" y="1934435"/>
          <a:ext cx="203575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Bandhan Small Cap Fund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8" name="Google Shape;648;p40"/>
          <p:cNvGraphicFramePr/>
          <p:nvPr/>
        </p:nvGraphicFramePr>
        <p:xfrm>
          <a:off x="4271150" y="1934435"/>
          <a:ext cx="156990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6.4L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(6.7%)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9" name="Google Shape;649;p40"/>
          <p:cNvGraphicFramePr/>
          <p:nvPr/>
        </p:nvGraphicFramePr>
        <p:xfrm>
          <a:off x="7635275" y="1934435"/>
          <a:ext cx="93445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93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-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50" name="Google Shape;650;p40"/>
          <p:cNvGraphicFramePr/>
          <p:nvPr/>
        </p:nvGraphicFramePr>
        <p:xfrm>
          <a:off x="5813826" y="1934435"/>
          <a:ext cx="1513825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-5.8% | -13.6%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51" name="Google Shape;651;p40"/>
          <p:cNvGraphicFramePr/>
          <p:nvPr/>
        </p:nvGraphicFramePr>
        <p:xfrm>
          <a:off x="2707092" y="1934435"/>
          <a:ext cx="148980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148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52" name="Google Shape;652;p4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34942" y="2049335"/>
            <a:ext cx="255600" cy="255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53" name="Google Shape;653;p40"/>
          <p:cNvGraphicFramePr/>
          <p:nvPr/>
        </p:nvGraphicFramePr>
        <p:xfrm>
          <a:off x="572501" y="2467835"/>
          <a:ext cx="203575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HSBC Small Cap Fund Regular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54" name="Google Shape;654;p40"/>
          <p:cNvGraphicFramePr/>
          <p:nvPr/>
        </p:nvGraphicFramePr>
        <p:xfrm>
          <a:off x="4271150" y="2467835"/>
          <a:ext cx="156990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4.9L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(5.2%)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55" name="Google Shape;655;p40"/>
          <p:cNvGraphicFramePr/>
          <p:nvPr/>
        </p:nvGraphicFramePr>
        <p:xfrm>
          <a:off x="7635275" y="2467835"/>
          <a:ext cx="93445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93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60K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56" name="Google Shape;656;p40"/>
          <p:cNvGraphicFramePr/>
          <p:nvPr/>
        </p:nvGraphicFramePr>
        <p:xfrm>
          <a:off x="5813826" y="2467835"/>
          <a:ext cx="1513825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19.1% | 19.0%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57" name="Google Shape;657;p40"/>
          <p:cNvGraphicFramePr/>
          <p:nvPr/>
        </p:nvGraphicFramePr>
        <p:xfrm>
          <a:off x="2707092" y="2467835"/>
          <a:ext cx="148980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148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58" name="Google Shape;658;p4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4942" y="2582735"/>
            <a:ext cx="255600" cy="2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0"/>
          <p:cNvSpPr/>
          <p:nvPr/>
        </p:nvSpPr>
        <p:spPr>
          <a:xfrm>
            <a:off x="557675" y="1458450"/>
            <a:ext cx="18540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Small Cap</a:t>
            </a:r>
            <a:endParaRPr sz="1050" i="0" u="none" strike="noStrike" cap="none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660" name="Google Shape;660;p40"/>
          <p:cNvSpPr/>
          <p:nvPr/>
        </p:nvSpPr>
        <p:spPr>
          <a:xfrm>
            <a:off x="4236950" y="1365608"/>
            <a:ext cx="16383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Current Value </a:t>
            </a:r>
            <a:b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</a:br>
            <a:r>
              <a:rPr lang="en-GB" sz="7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(% of Portfolio)</a:t>
            </a:r>
            <a:endParaRPr sz="7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661" name="Google Shape;661;p40"/>
          <p:cNvSpPr/>
          <p:nvPr/>
        </p:nvSpPr>
        <p:spPr>
          <a:xfrm>
            <a:off x="5643739" y="1365615"/>
            <a:ext cx="18540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XIRR  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7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Your | Benchmark</a:t>
            </a:r>
            <a:endParaRPr sz="750" i="0" u="none" strike="noStrike" cap="none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662" name="Google Shape;662;p40"/>
          <p:cNvSpPr/>
          <p:nvPr/>
        </p:nvSpPr>
        <p:spPr>
          <a:xfrm>
            <a:off x="7175500" y="1365616"/>
            <a:ext cx="18540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Missed Gains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663" name="Google Shape;663;p40"/>
          <p:cNvSpPr/>
          <p:nvPr/>
        </p:nvSpPr>
        <p:spPr>
          <a:xfrm>
            <a:off x="2643600" y="1355968"/>
            <a:ext cx="16383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Power Rating</a:t>
            </a:r>
            <a:endParaRPr sz="5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664" name="Google Shape;664;p40"/>
          <p:cNvSpPr txBox="1"/>
          <p:nvPr/>
        </p:nvSpPr>
        <p:spPr>
          <a:xfrm>
            <a:off x="353850" y="4799913"/>
            <a:ext cx="5427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u="sng">
                <a:solidFill>
                  <a:schemeClr val="hlink"/>
                </a:solidFill>
                <a:latin typeface="IBM Plex Sans Light"/>
                <a:ea typeface="IBM Plex Sans Light"/>
                <a:cs typeface="IBM Plex Sans Light"/>
                <a:sym typeface="IBM Plex Sans Light"/>
                <a:hlinkClick r:id="rId10" action="ppaction://hlinksldjump"/>
              </a:rPr>
              <a:t>Go back</a:t>
            </a:r>
            <a:endParaRPr sz="600"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1"/>
          <p:cNvSpPr/>
          <p:nvPr/>
        </p:nvSpPr>
        <p:spPr>
          <a:xfrm>
            <a:off x="411800" y="476250"/>
            <a:ext cx="1181700" cy="490500"/>
          </a:xfrm>
          <a:prstGeom prst="roundRect">
            <a:avLst>
              <a:gd name="adj" fmla="val 44738"/>
            </a:avLst>
          </a:prstGeom>
          <a:solidFill>
            <a:srgbClr val="D1E0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41"/>
          <p:cNvSpPr/>
          <p:nvPr/>
        </p:nvSpPr>
        <p:spPr>
          <a:xfrm>
            <a:off x="506236" y="628650"/>
            <a:ext cx="33576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661D"/>
              </a:buClr>
              <a:buSzPts val="2100"/>
              <a:buFont typeface="IBM Plex Sans"/>
              <a:buNone/>
            </a:pPr>
            <a:r>
              <a:rPr lang="en-GB" sz="21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Equity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2" name="Google Shape;672;p41"/>
          <p:cNvGrpSpPr/>
          <p:nvPr/>
        </p:nvGrpSpPr>
        <p:grpSpPr>
          <a:xfrm>
            <a:off x="5847373" y="4795965"/>
            <a:ext cx="3029166" cy="257100"/>
            <a:chOff x="5847373" y="4795965"/>
            <a:chExt cx="3029166" cy="257100"/>
          </a:xfrm>
        </p:grpSpPr>
        <p:grpSp>
          <p:nvGrpSpPr>
            <p:cNvPr id="673" name="Google Shape;673;p41"/>
            <p:cNvGrpSpPr/>
            <p:nvPr/>
          </p:nvGrpSpPr>
          <p:grpSpPr>
            <a:xfrm>
              <a:off x="5847373" y="4795965"/>
              <a:ext cx="661570" cy="257100"/>
              <a:chOff x="5847373" y="4795965"/>
              <a:chExt cx="661570" cy="257100"/>
            </a:xfrm>
          </p:grpSpPr>
          <p:pic>
            <p:nvPicPr>
              <p:cNvPr id="674" name="Google Shape;674;p41" title="Group 1430103892.png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847373" y="4845608"/>
                <a:ext cx="171433" cy="1714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75" name="Google Shape;675;p41"/>
              <p:cNvSpPr txBox="1"/>
              <p:nvPr/>
            </p:nvSpPr>
            <p:spPr>
              <a:xfrm>
                <a:off x="6008843" y="4795965"/>
                <a:ext cx="500100" cy="25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00">
                    <a:latin typeface="IBM Plex Sans"/>
                    <a:ea typeface="IBM Plex Sans"/>
                    <a:cs typeface="IBM Plex Sans"/>
                    <a:sym typeface="IBM Plex Sans"/>
                  </a:rPr>
                  <a:t>In-form</a:t>
                </a:r>
                <a:endParaRPr sz="700"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  <p:grpSp>
          <p:nvGrpSpPr>
            <p:cNvPr id="676" name="Google Shape;676;p41"/>
            <p:cNvGrpSpPr/>
            <p:nvPr/>
          </p:nvGrpSpPr>
          <p:grpSpPr>
            <a:xfrm>
              <a:off x="6502780" y="4795965"/>
              <a:ext cx="760561" cy="257100"/>
              <a:chOff x="6498979" y="4795965"/>
              <a:chExt cx="760561" cy="257100"/>
            </a:xfrm>
          </p:grpSpPr>
          <p:pic>
            <p:nvPicPr>
              <p:cNvPr id="677" name="Google Shape;677;p41" title="Frame 2616257 (1).png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498979" y="4845620"/>
                <a:ext cx="171425" cy="1714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78" name="Google Shape;678;p41"/>
              <p:cNvSpPr txBox="1"/>
              <p:nvPr/>
            </p:nvSpPr>
            <p:spPr>
              <a:xfrm>
                <a:off x="6660441" y="4795965"/>
                <a:ext cx="599100" cy="25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00">
                    <a:latin typeface="IBM Plex Sans"/>
                    <a:ea typeface="IBM Plex Sans"/>
                    <a:cs typeface="IBM Plex Sans"/>
                    <a:sym typeface="IBM Plex Sans"/>
                  </a:rPr>
                  <a:t>On-track</a:t>
                </a:r>
                <a:endParaRPr sz="700"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  <p:grpSp>
          <p:nvGrpSpPr>
            <p:cNvPr id="679" name="Google Shape;679;p41"/>
            <p:cNvGrpSpPr/>
            <p:nvPr/>
          </p:nvGrpSpPr>
          <p:grpSpPr>
            <a:xfrm>
              <a:off x="8011577" y="4795965"/>
              <a:ext cx="864961" cy="257100"/>
              <a:chOff x="7249577" y="4795965"/>
              <a:chExt cx="864961" cy="257100"/>
            </a:xfrm>
          </p:grpSpPr>
          <p:pic>
            <p:nvPicPr>
              <p:cNvPr id="680" name="Google Shape;680;p41" title="Group 1430103892 (2).png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7249577" y="4845612"/>
                <a:ext cx="171425" cy="17144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81" name="Google Shape;681;p41"/>
              <p:cNvSpPr txBox="1"/>
              <p:nvPr/>
            </p:nvSpPr>
            <p:spPr>
              <a:xfrm>
                <a:off x="7411039" y="4795965"/>
                <a:ext cx="703500" cy="25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00">
                    <a:latin typeface="IBM Plex Sans"/>
                    <a:ea typeface="IBM Plex Sans"/>
                    <a:cs typeface="IBM Plex Sans"/>
                    <a:sym typeface="IBM Plex Sans"/>
                  </a:rPr>
                  <a:t>Out-of-form</a:t>
                </a:r>
                <a:endParaRPr sz="700"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  <p:grpSp>
          <p:nvGrpSpPr>
            <p:cNvPr id="682" name="Google Shape;682;p41"/>
            <p:cNvGrpSpPr/>
            <p:nvPr/>
          </p:nvGrpSpPr>
          <p:grpSpPr>
            <a:xfrm>
              <a:off x="7257179" y="4795965"/>
              <a:ext cx="760561" cy="257100"/>
              <a:chOff x="8104575" y="4795965"/>
              <a:chExt cx="760561" cy="257100"/>
            </a:xfrm>
          </p:grpSpPr>
          <p:pic>
            <p:nvPicPr>
              <p:cNvPr id="683" name="Google Shape;683;p41" title="Group 1430103892 (1).png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8104575" y="4845629"/>
                <a:ext cx="171425" cy="1714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84" name="Google Shape;684;p41"/>
              <p:cNvSpPr txBox="1"/>
              <p:nvPr/>
            </p:nvSpPr>
            <p:spPr>
              <a:xfrm>
                <a:off x="8266037" y="4795965"/>
                <a:ext cx="599100" cy="25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00">
                    <a:latin typeface="IBM Plex Sans"/>
                    <a:ea typeface="IBM Plex Sans"/>
                    <a:cs typeface="IBM Plex Sans"/>
                    <a:sym typeface="IBM Plex Sans"/>
                  </a:rPr>
                  <a:t>Off-track</a:t>
                </a:r>
                <a:endParaRPr sz="700"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</p:grpSp>
      <p:sp>
        <p:nvSpPr>
          <p:cNvPr id="685" name="Google Shape;685;p41"/>
          <p:cNvSpPr txBox="1"/>
          <p:nvPr/>
        </p:nvSpPr>
        <p:spPr>
          <a:xfrm>
            <a:off x="353850" y="4799913"/>
            <a:ext cx="5427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u="sng">
                <a:solidFill>
                  <a:schemeClr val="hlink"/>
                </a:solidFill>
                <a:latin typeface="IBM Plex Sans Light"/>
                <a:ea typeface="IBM Plex Sans Light"/>
                <a:cs typeface="IBM Plex Sans Light"/>
                <a:sym typeface="IBM Plex Sans Light"/>
                <a:hlinkClick r:id="rId7" action="ppaction://hlinksldjump"/>
              </a:rPr>
              <a:t>Go back</a:t>
            </a:r>
            <a:endParaRPr sz="600"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grpSp>
        <p:nvGrpSpPr>
          <p:cNvPr id="686" name="Google Shape;686;p41"/>
          <p:cNvGrpSpPr/>
          <p:nvPr/>
        </p:nvGrpSpPr>
        <p:grpSpPr>
          <a:xfrm>
            <a:off x="414575" y="1315158"/>
            <a:ext cx="8470200" cy="1160037"/>
            <a:chOff x="414575" y="1315158"/>
            <a:chExt cx="8470200" cy="1160037"/>
          </a:xfrm>
        </p:grpSpPr>
        <p:sp>
          <p:nvSpPr>
            <p:cNvPr id="687" name="Google Shape;687;p41"/>
            <p:cNvSpPr/>
            <p:nvPr/>
          </p:nvSpPr>
          <p:spPr>
            <a:xfrm>
              <a:off x="414575" y="1315158"/>
              <a:ext cx="8470200" cy="1155300"/>
            </a:xfrm>
            <a:prstGeom prst="roundRect">
              <a:avLst>
                <a:gd name="adj" fmla="val 10435"/>
              </a:avLst>
            </a:prstGeom>
            <a:noFill/>
            <a:ln w="50800" cap="flat" cmpd="sng">
              <a:solidFill>
                <a:srgbClr val="F8F8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cxnSp>
          <p:nvCxnSpPr>
            <p:cNvPr id="688" name="Google Shape;688;p41"/>
            <p:cNvCxnSpPr/>
            <p:nvPr/>
          </p:nvCxnSpPr>
          <p:spPr>
            <a:xfrm>
              <a:off x="2622775" y="1324694"/>
              <a:ext cx="0" cy="1150500"/>
            </a:xfrm>
            <a:prstGeom prst="straightConnector1">
              <a:avLst/>
            </a:prstGeom>
            <a:noFill/>
            <a:ln w="50800" cap="flat" cmpd="sng">
              <a:solidFill>
                <a:srgbClr val="F8F8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89" name="Google Shape;689;p41"/>
            <p:cNvCxnSpPr/>
            <p:nvPr/>
          </p:nvCxnSpPr>
          <p:spPr>
            <a:xfrm>
              <a:off x="5823175" y="1324694"/>
              <a:ext cx="0" cy="1150500"/>
            </a:xfrm>
            <a:prstGeom prst="straightConnector1">
              <a:avLst/>
            </a:prstGeom>
            <a:noFill/>
            <a:ln w="50800" cap="flat" cmpd="sng">
              <a:solidFill>
                <a:srgbClr val="F8F8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90" name="Google Shape;690;p41"/>
            <p:cNvCxnSpPr/>
            <p:nvPr/>
          </p:nvCxnSpPr>
          <p:spPr>
            <a:xfrm>
              <a:off x="7347175" y="1324694"/>
              <a:ext cx="0" cy="1150500"/>
            </a:xfrm>
            <a:prstGeom prst="straightConnector1">
              <a:avLst/>
            </a:prstGeom>
            <a:noFill/>
            <a:ln w="50800" cap="flat" cmpd="sng">
              <a:solidFill>
                <a:srgbClr val="F8F8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691" name="Google Shape;691;p41" descr="preencoded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29100" y="1772358"/>
              <a:ext cx="8427600" cy="9675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  <p:cxnSp>
          <p:nvCxnSpPr>
            <p:cNvPr id="692" name="Google Shape;692;p41"/>
            <p:cNvCxnSpPr/>
            <p:nvPr/>
          </p:nvCxnSpPr>
          <p:spPr>
            <a:xfrm>
              <a:off x="4299175" y="1319831"/>
              <a:ext cx="0" cy="1150500"/>
            </a:xfrm>
            <a:prstGeom prst="straightConnector1">
              <a:avLst/>
            </a:prstGeom>
            <a:noFill/>
            <a:ln w="50800" cap="flat" cmpd="sng">
              <a:solidFill>
                <a:srgbClr val="F8F8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aphicFrame>
        <p:nvGraphicFramePr>
          <p:cNvPr id="693" name="Google Shape;693;p41"/>
          <p:cNvGraphicFramePr/>
          <p:nvPr/>
        </p:nvGraphicFramePr>
        <p:xfrm>
          <a:off x="572501" y="1934435"/>
          <a:ext cx="203575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ICICI Prudential Large Cap Fund Regular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94" name="Google Shape;694;p41"/>
          <p:cNvGraphicFramePr/>
          <p:nvPr/>
        </p:nvGraphicFramePr>
        <p:xfrm>
          <a:off x="4271150" y="1934435"/>
          <a:ext cx="156990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5.7L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(6.0%)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95" name="Google Shape;695;p41"/>
          <p:cNvGraphicFramePr/>
          <p:nvPr/>
        </p:nvGraphicFramePr>
        <p:xfrm>
          <a:off x="7635275" y="1934435"/>
          <a:ext cx="93445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93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20K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96" name="Google Shape;696;p41"/>
          <p:cNvGraphicFramePr/>
          <p:nvPr/>
        </p:nvGraphicFramePr>
        <p:xfrm>
          <a:off x="5813826" y="1934435"/>
          <a:ext cx="1513825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16.9% | 14.8%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97" name="Google Shape;697;p41"/>
          <p:cNvGraphicFramePr/>
          <p:nvPr/>
        </p:nvGraphicFramePr>
        <p:xfrm>
          <a:off x="2707092" y="1934435"/>
          <a:ext cx="1489800" cy="472900"/>
        </p:xfrm>
        <a:graphic>
          <a:graphicData uri="http://schemas.openxmlformats.org/drawingml/2006/table">
            <a:tbl>
              <a:tblPr>
                <a:noFill/>
                <a:tableStyleId>{DEABC32E-16CD-4B5A-B3C5-FD2C3B43ADC6}</a:tableStyleId>
              </a:tblPr>
              <a:tblGrid>
                <a:gridCol w="148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98" name="Google Shape;698;p4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4942" y="2040473"/>
            <a:ext cx="255600" cy="2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41"/>
          <p:cNvSpPr/>
          <p:nvPr/>
        </p:nvSpPr>
        <p:spPr>
          <a:xfrm>
            <a:off x="557675" y="1458450"/>
            <a:ext cx="18540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Large Cap</a:t>
            </a:r>
            <a:endParaRPr sz="1050" i="0" u="none" strike="noStrike" cap="none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00" name="Google Shape;700;p41"/>
          <p:cNvSpPr/>
          <p:nvPr/>
        </p:nvSpPr>
        <p:spPr>
          <a:xfrm>
            <a:off x="4236950" y="1365608"/>
            <a:ext cx="16383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Current Value </a:t>
            </a:r>
            <a:b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</a:br>
            <a:r>
              <a:rPr lang="en-GB" sz="7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(% of Portfolio)</a:t>
            </a:r>
            <a:endParaRPr sz="7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01" name="Google Shape;701;p41"/>
          <p:cNvSpPr/>
          <p:nvPr/>
        </p:nvSpPr>
        <p:spPr>
          <a:xfrm>
            <a:off x="5643739" y="1365615"/>
            <a:ext cx="18540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XIRR  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7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Your | Benchmark</a:t>
            </a:r>
            <a:endParaRPr sz="750" i="0" u="none" strike="noStrike" cap="none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02" name="Google Shape;702;p41"/>
          <p:cNvSpPr/>
          <p:nvPr/>
        </p:nvSpPr>
        <p:spPr>
          <a:xfrm>
            <a:off x="7175500" y="1365616"/>
            <a:ext cx="18540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Missed Gains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03" name="Google Shape;703;p41"/>
          <p:cNvSpPr/>
          <p:nvPr/>
        </p:nvSpPr>
        <p:spPr>
          <a:xfrm>
            <a:off x="2643600" y="1355968"/>
            <a:ext cx="16383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Power Rating</a:t>
            </a:r>
            <a:endParaRPr sz="5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42"/>
          <p:cNvSpPr/>
          <p:nvPr/>
        </p:nvSpPr>
        <p:spPr>
          <a:xfrm>
            <a:off x="476250" y="971650"/>
            <a:ext cx="7802400" cy="101640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42"/>
          <p:cNvSpPr/>
          <p:nvPr/>
        </p:nvSpPr>
        <p:spPr>
          <a:xfrm>
            <a:off x="476250" y="476250"/>
            <a:ext cx="76392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Infinite Questionnaire (1/6)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1" name="Google Shape;711;p42"/>
          <p:cNvGrpSpPr/>
          <p:nvPr/>
        </p:nvGrpSpPr>
        <p:grpSpPr>
          <a:xfrm>
            <a:off x="666750" y="1088800"/>
            <a:ext cx="6161100" cy="782100"/>
            <a:chOff x="666750" y="1097244"/>
            <a:chExt cx="6161100" cy="782100"/>
          </a:xfrm>
        </p:grpSpPr>
        <p:sp>
          <p:nvSpPr>
            <p:cNvPr id="712" name="Google Shape;712;p42"/>
            <p:cNvSpPr/>
            <p:nvPr/>
          </p:nvSpPr>
          <p:spPr>
            <a:xfrm>
              <a:off x="666750" y="1097244"/>
              <a:ext cx="43629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IBM Plex Sans"/>
                <a:buNone/>
              </a:pPr>
              <a: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What is your age?</a:t>
              </a:r>
              <a:endParaRPr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713" name="Google Shape;713;p42"/>
            <p:cNvSpPr/>
            <p:nvPr/>
          </p:nvSpPr>
          <p:spPr>
            <a:xfrm>
              <a:off x="666750" y="1440144"/>
              <a:ext cx="6161100" cy="4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46–55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714" name="Google Shape;714;p42"/>
          <p:cNvSpPr/>
          <p:nvPr/>
        </p:nvSpPr>
        <p:spPr>
          <a:xfrm>
            <a:off x="476250" y="3638650"/>
            <a:ext cx="7802400" cy="111150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5" name="Google Shape;715;p42"/>
          <p:cNvGrpSpPr/>
          <p:nvPr/>
        </p:nvGrpSpPr>
        <p:grpSpPr>
          <a:xfrm>
            <a:off x="666750" y="3739049"/>
            <a:ext cx="6603000" cy="910703"/>
            <a:chOff x="666750" y="3734302"/>
            <a:chExt cx="6603000" cy="910703"/>
          </a:xfrm>
        </p:grpSpPr>
        <p:sp>
          <p:nvSpPr>
            <p:cNvPr id="716" name="Google Shape;716;p42"/>
            <p:cNvSpPr/>
            <p:nvPr/>
          </p:nvSpPr>
          <p:spPr>
            <a:xfrm>
              <a:off x="666750" y="3734302"/>
              <a:ext cx="6603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IBM Plex Sans"/>
                <a:buNone/>
              </a:pPr>
              <a: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What is your primary source of income?</a:t>
              </a:r>
              <a:endParaRPr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717" name="Google Shape;717;p42"/>
            <p:cNvSpPr/>
            <p:nvPr/>
          </p:nvSpPr>
          <p:spPr>
            <a:xfrm>
              <a:off x="666750" y="4205805"/>
              <a:ext cx="6161100" cy="4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Active income only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 i="1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Regular earnings from salary, freelancing, or business.</a:t>
              </a:r>
              <a:endParaRPr sz="1050" i="1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718" name="Google Shape;718;p42"/>
          <p:cNvSpPr/>
          <p:nvPr/>
        </p:nvSpPr>
        <p:spPr>
          <a:xfrm>
            <a:off x="476250" y="2190850"/>
            <a:ext cx="7802400" cy="121800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9" name="Google Shape;719;p42"/>
          <p:cNvGrpSpPr/>
          <p:nvPr/>
        </p:nvGrpSpPr>
        <p:grpSpPr>
          <a:xfrm>
            <a:off x="666750" y="2332603"/>
            <a:ext cx="6603000" cy="934494"/>
            <a:chOff x="666750" y="2316450"/>
            <a:chExt cx="6603000" cy="934494"/>
          </a:xfrm>
        </p:grpSpPr>
        <p:sp>
          <p:nvSpPr>
            <p:cNvPr id="720" name="Google Shape;720;p42"/>
            <p:cNvSpPr/>
            <p:nvPr/>
          </p:nvSpPr>
          <p:spPr>
            <a:xfrm>
              <a:off x="666750" y="2316450"/>
              <a:ext cx="6603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IBM Plex Sans"/>
                <a:buNone/>
              </a:pPr>
              <a: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What is your current employment status?</a:t>
              </a:r>
              <a:endParaRPr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721" name="Google Shape;721;p42"/>
            <p:cNvSpPr/>
            <p:nvPr/>
          </p:nvSpPr>
          <p:spPr>
            <a:xfrm>
              <a:off x="666750" y="2811744"/>
              <a:ext cx="6161100" cy="4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Actively working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 i="1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Engaged in a full-time or part-time job, business, or self-employed with regular active income.</a:t>
              </a:r>
              <a:endParaRPr sz="1050" i="1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722" name="Google Shape;722;p42"/>
          <p:cNvSpPr txBox="1"/>
          <p:nvPr/>
        </p:nvSpPr>
        <p:spPr>
          <a:xfrm>
            <a:off x="8278650" y="4849600"/>
            <a:ext cx="5427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u="sng">
                <a:solidFill>
                  <a:srgbClr val="0563C1"/>
                </a:solidFill>
                <a:latin typeface="IBM Plex Sans Light"/>
                <a:ea typeface="IBM Plex Sans Light"/>
                <a:cs typeface="IBM Plex Sans Light"/>
                <a:sym typeface="IBM Plex Sans Light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 back</a:t>
            </a:r>
            <a:endParaRPr sz="600"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43"/>
          <p:cNvSpPr/>
          <p:nvPr/>
        </p:nvSpPr>
        <p:spPr>
          <a:xfrm>
            <a:off x="476250" y="971650"/>
            <a:ext cx="7802400" cy="101640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43"/>
          <p:cNvSpPr/>
          <p:nvPr/>
        </p:nvSpPr>
        <p:spPr>
          <a:xfrm>
            <a:off x="476250" y="476250"/>
            <a:ext cx="76392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Infinite Questionnaire (2/6)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0" name="Google Shape;730;p43"/>
          <p:cNvGrpSpPr/>
          <p:nvPr/>
        </p:nvGrpSpPr>
        <p:grpSpPr>
          <a:xfrm>
            <a:off x="666750" y="1050703"/>
            <a:ext cx="6917400" cy="858294"/>
            <a:chOff x="666750" y="1097250"/>
            <a:chExt cx="6917400" cy="858294"/>
          </a:xfrm>
        </p:grpSpPr>
        <p:sp>
          <p:nvSpPr>
            <p:cNvPr id="731" name="Google Shape;731;p43"/>
            <p:cNvSpPr/>
            <p:nvPr/>
          </p:nvSpPr>
          <p:spPr>
            <a:xfrm>
              <a:off x="666750" y="1097250"/>
              <a:ext cx="69174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IBM Plex Sans"/>
                <a:buNone/>
              </a:pPr>
              <a: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What is your reason for investing in mutual funds?</a:t>
              </a:r>
              <a:endParaRPr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732" name="Google Shape;732;p43"/>
            <p:cNvSpPr/>
            <p:nvPr/>
          </p:nvSpPr>
          <p:spPr>
            <a:xfrm>
              <a:off x="666750" y="1516344"/>
              <a:ext cx="6161100" cy="4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Retirement Planning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733" name="Google Shape;733;p43"/>
          <p:cNvSpPr/>
          <p:nvPr/>
        </p:nvSpPr>
        <p:spPr>
          <a:xfrm>
            <a:off x="476250" y="3638650"/>
            <a:ext cx="7802400" cy="111150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43"/>
          <p:cNvSpPr/>
          <p:nvPr/>
        </p:nvSpPr>
        <p:spPr>
          <a:xfrm>
            <a:off x="476250" y="2190850"/>
            <a:ext cx="7802400" cy="121800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5" name="Google Shape;735;p43"/>
          <p:cNvGrpSpPr/>
          <p:nvPr/>
        </p:nvGrpSpPr>
        <p:grpSpPr>
          <a:xfrm>
            <a:off x="666750" y="2279686"/>
            <a:ext cx="6603000" cy="934494"/>
            <a:chOff x="666750" y="2316450"/>
            <a:chExt cx="6603000" cy="934494"/>
          </a:xfrm>
        </p:grpSpPr>
        <p:sp>
          <p:nvSpPr>
            <p:cNvPr id="736" name="Google Shape;736;p43"/>
            <p:cNvSpPr/>
            <p:nvPr/>
          </p:nvSpPr>
          <p:spPr>
            <a:xfrm>
              <a:off x="666750" y="2316450"/>
              <a:ext cx="6603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IBM Plex Sans"/>
                <a:buNone/>
              </a:pPr>
              <a: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What types of liabilities do you have?</a:t>
              </a:r>
              <a:endParaRPr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737" name="Google Shape;737;p43"/>
            <p:cNvSpPr/>
            <p:nvPr/>
          </p:nvSpPr>
          <p:spPr>
            <a:xfrm>
              <a:off x="666750" y="2811744"/>
              <a:ext cx="6161100" cy="4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Dependent liabilities only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 i="1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People depend on your income, no loans.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738" name="Google Shape;738;p43"/>
          <p:cNvSpPr txBox="1"/>
          <p:nvPr/>
        </p:nvSpPr>
        <p:spPr>
          <a:xfrm>
            <a:off x="8278650" y="4849600"/>
            <a:ext cx="5427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u="sng">
                <a:solidFill>
                  <a:srgbClr val="0563C1"/>
                </a:solidFill>
                <a:latin typeface="IBM Plex Sans Light"/>
                <a:ea typeface="IBM Plex Sans Light"/>
                <a:cs typeface="IBM Plex Sans Light"/>
                <a:sym typeface="IBM Plex Sans Light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 back</a:t>
            </a:r>
            <a:endParaRPr sz="600"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grpSp>
        <p:nvGrpSpPr>
          <p:cNvPr id="739" name="Google Shape;739;p43"/>
          <p:cNvGrpSpPr/>
          <p:nvPr/>
        </p:nvGrpSpPr>
        <p:grpSpPr>
          <a:xfrm>
            <a:off x="666750" y="3713538"/>
            <a:ext cx="7524000" cy="972061"/>
            <a:chOff x="666750" y="3674923"/>
            <a:chExt cx="7524000" cy="972061"/>
          </a:xfrm>
        </p:grpSpPr>
        <p:sp>
          <p:nvSpPr>
            <p:cNvPr id="740" name="Google Shape;740;p43"/>
            <p:cNvSpPr/>
            <p:nvPr/>
          </p:nvSpPr>
          <p:spPr>
            <a:xfrm>
              <a:off x="666750" y="3674923"/>
              <a:ext cx="7524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IBM Plex Sans"/>
                <a:buNone/>
              </a:pPr>
              <a: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Can you comfortably meet your liabilities (as answered in the above question) from your current income?</a:t>
              </a:r>
              <a:endParaRPr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741" name="Google Shape;741;p43"/>
            <p:cNvSpPr/>
            <p:nvPr/>
          </p:nvSpPr>
          <p:spPr>
            <a:xfrm>
              <a:off x="666750" y="4207784"/>
              <a:ext cx="6161100" cy="4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Yes - comfortably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 i="1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 have enough surplus, no stress.</a:t>
              </a:r>
              <a:endParaRPr sz="1050" i="1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44"/>
          <p:cNvSpPr/>
          <p:nvPr/>
        </p:nvSpPr>
        <p:spPr>
          <a:xfrm>
            <a:off x="476250" y="975350"/>
            <a:ext cx="7802400" cy="101640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44"/>
          <p:cNvSpPr/>
          <p:nvPr/>
        </p:nvSpPr>
        <p:spPr>
          <a:xfrm>
            <a:off x="476250" y="476250"/>
            <a:ext cx="76392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Infinite Questionnaire (3/6)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44"/>
          <p:cNvSpPr/>
          <p:nvPr/>
        </p:nvSpPr>
        <p:spPr>
          <a:xfrm>
            <a:off x="476250" y="3867250"/>
            <a:ext cx="7802400" cy="111150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0" name="Google Shape;750;p44"/>
          <p:cNvGrpSpPr/>
          <p:nvPr/>
        </p:nvGrpSpPr>
        <p:grpSpPr>
          <a:xfrm>
            <a:off x="666750" y="3914731"/>
            <a:ext cx="7524000" cy="921288"/>
            <a:chOff x="666750" y="3922369"/>
            <a:chExt cx="7524000" cy="921288"/>
          </a:xfrm>
        </p:grpSpPr>
        <p:sp>
          <p:nvSpPr>
            <p:cNvPr id="751" name="Google Shape;751;p44"/>
            <p:cNvSpPr/>
            <p:nvPr/>
          </p:nvSpPr>
          <p:spPr>
            <a:xfrm>
              <a:off x="666750" y="3922369"/>
              <a:ext cx="7524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IBM Plex Sans"/>
                <a:buNone/>
              </a:pPr>
              <a: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What is your investment horizon?</a:t>
              </a:r>
              <a:endParaRPr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752" name="Google Shape;752;p44"/>
            <p:cNvSpPr/>
            <p:nvPr/>
          </p:nvSpPr>
          <p:spPr>
            <a:xfrm>
              <a:off x="666750" y="4404457"/>
              <a:ext cx="6161100" cy="4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Long-term wealth creation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 i="1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More than 8 years</a:t>
              </a:r>
              <a:endParaRPr sz="1050" i="1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753" name="Google Shape;753;p44"/>
          <p:cNvGrpSpPr/>
          <p:nvPr/>
        </p:nvGrpSpPr>
        <p:grpSpPr>
          <a:xfrm>
            <a:off x="666750" y="1054403"/>
            <a:ext cx="8385000" cy="865716"/>
            <a:chOff x="666750" y="1097250"/>
            <a:chExt cx="8385000" cy="865716"/>
          </a:xfrm>
        </p:grpSpPr>
        <p:sp>
          <p:nvSpPr>
            <p:cNvPr id="754" name="Google Shape;754;p44"/>
            <p:cNvSpPr/>
            <p:nvPr/>
          </p:nvSpPr>
          <p:spPr>
            <a:xfrm>
              <a:off x="666750" y="1097250"/>
              <a:ext cx="8385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IBM Plex Sans"/>
                <a:buNone/>
              </a:pPr>
              <a: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How many months of emergency fund do you currently have saved?</a:t>
              </a:r>
              <a:endParaRPr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755" name="Google Shape;755;p44"/>
            <p:cNvSpPr/>
            <p:nvPr/>
          </p:nvSpPr>
          <p:spPr>
            <a:xfrm>
              <a:off x="666750" y="1523766"/>
              <a:ext cx="6161100" cy="4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Upto 6 months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756" name="Google Shape;756;p44"/>
          <p:cNvSpPr/>
          <p:nvPr/>
        </p:nvSpPr>
        <p:spPr>
          <a:xfrm>
            <a:off x="476250" y="2190850"/>
            <a:ext cx="7802400" cy="149250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7" name="Google Shape;757;p44"/>
          <p:cNvGrpSpPr/>
          <p:nvPr/>
        </p:nvGrpSpPr>
        <p:grpSpPr>
          <a:xfrm>
            <a:off x="666750" y="2259598"/>
            <a:ext cx="6603000" cy="1291504"/>
            <a:chOff x="666750" y="2301476"/>
            <a:chExt cx="6603000" cy="1291504"/>
          </a:xfrm>
        </p:grpSpPr>
        <p:sp>
          <p:nvSpPr>
            <p:cNvPr id="758" name="Google Shape;758;p44"/>
            <p:cNvSpPr/>
            <p:nvPr/>
          </p:nvSpPr>
          <p:spPr>
            <a:xfrm>
              <a:off x="666750" y="2301476"/>
              <a:ext cx="6603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IBM Plex Sans"/>
                <a:buNone/>
              </a:pPr>
              <a: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How do you prefer your mutual fund portfolio to grow?</a:t>
              </a:r>
              <a:endParaRPr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759" name="Google Shape;759;p44"/>
            <p:cNvSpPr/>
            <p:nvPr/>
          </p:nvSpPr>
          <p:spPr>
            <a:xfrm>
              <a:off x="666750" y="2796781"/>
              <a:ext cx="6161100" cy="79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Grow faster, even if it means high risk.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66666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High risk</a:t>
              </a:r>
              <a:endParaRPr sz="1050" i="1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Average returns: 15% p.a. 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Worst &amp; best case: </a:t>
              </a:r>
              <a:r>
                <a:rPr lang="en-GB" sz="1050">
                  <a:solidFill>
                    <a:srgbClr val="CC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-10%</a:t>
              </a: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to </a:t>
              </a:r>
              <a:r>
                <a:rPr lang="en-GB" sz="1050">
                  <a:solidFill>
                    <a:srgbClr val="38761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+25%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760" name="Google Shape;760;p44"/>
          <p:cNvSpPr txBox="1"/>
          <p:nvPr/>
        </p:nvSpPr>
        <p:spPr>
          <a:xfrm>
            <a:off x="8278650" y="4849600"/>
            <a:ext cx="5427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u="sng">
                <a:solidFill>
                  <a:srgbClr val="0563C1"/>
                </a:solidFill>
                <a:latin typeface="IBM Plex Sans Light"/>
                <a:ea typeface="IBM Plex Sans Light"/>
                <a:cs typeface="IBM Plex Sans Light"/>
                <a:sym typeface="IBM Plex Sans Light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 back</a:t>
            </a:r>
            <a:endParaRPr sz="600"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45"/>
          <p:cNvSpPr/>
          <p:nvPr/>
        </p:nvSpPr>
        <p:spPr>
          <a:xfrm>
            <a:off x="476250" y="2346950"/>
            <a:ext cx="7802400" cy="122580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45"/>
          <p:cNvSpPr/>
          <p:nvPr/>
        </p:nvSpPr>
        <p:spPr>
          <a:xfrm>
            <a:off x="476250" y="975350"/>
            <a:ext cx="7802400" cy="122580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45"/>
          <p:cNvSpPr/>
          <p:nvPr/>
        </p:nvSpPr>
        <p:spPr>
          <a:xfrm>
            <a:off x="476250" y="476250"/>
            <a:ext cx="76392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Infinite Questionnaire (4/6)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69" name="Google Shape;769;p45"/>
          <p:cNvGrpSpPr/>
          <p:nvPr/>
        </p:nvGrpSpPr>
        <p:grpSpPr>
          <a:xfrm>
            <a:off x="590550" y="2460853"/>
            <a:ext cx="8385000" cy="934494"/>
            <a:chOff x="666750" y="1065500"/>
            <a:chExt cx="8385000" cy="934494"/>
          </a:xfrm>
        </p:grpSpPr>
        <p:sp>
          <p:nvSpPr>
            <p:cNvPr id="770" name="Google Shape;770;p45"/>
            <p:cNvSpPr/>
            <p:nvPr/>
          </p:nvSpPr>
          <p:spPr>
            <a:xfrm>
              <a:off x="666750" y="1065500"/>
              <a:ext cx="8385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IBM Plex Sans"/>
                <a:buNone/>
              </a:pPr>
              <a: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Lumpsum Investment Amount (your existing mutual funds and / or cash)</a:t>
              </a:r>
              <a:endParaRPr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771" name="Google Shape;771;p45"/>
            <p:cNvSpPr/>
            <p:nvPr/>
          </p:nvSpPr>
          <p:spPr>
            <a:xfrm>
              <a:off x="666750" y="1560794"/>
              <a:ext cx="6161100" cy="4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INR 1 Cr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772" name="Google Shape;772;p45"/>
          <p:cNvGrpSpPr/>
          <p:nvPr/>
        </p:nvGrpSpPr>
        <p:grpSpPr>
          <a:xfrm>
            <a:off x="590550" y="1089253"/>
            <a:ext cx="8385000" cy="934494"/>
            <a:chOff x="666750" y="1065500"/>
            <a:chExt cx="8385000" cy="934494"/>
          </a:xfrm>
        </p:grpSpPr>
        <p:sp>
          <p:nvSpPr>
            <p:cNvPr id="773" name="Google Shape;773;p45"/>
            <p:cNvSpPr/>
            <p:nvPr/>
          </p:nvSpPr>
          <p:spPr>
            <a:xfrm>
              <a:off x="666750" y="1065500"/>
              <a:ext cx="8385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IBM Plex Sans"/>
                <a:buNone/>
              </a:pPr>
              <a: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If your investments fall by 20% within a few months, what would you do?</a:t>
              </a:r>
              <a:endParaRPr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774" name="Google Shape;774;p45"/>
            <p:cNvSpPr/>
            <p:nvPr/>
          </p:nvSpPr>
          <p:spPr>
            <a:xfrm>
              <a:off x="666750" y="1560794"/>
              <a:ext cx="6161100" cy="4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Invest more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 i="1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 will average my cost</a:t>
              </a:r>
              <a:endParaRPr sz="1050" i="1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775" name="Google Shape;775;p45"/>
          <p:cNvSpPr/>
          <p:nvPr/>
        </p:nvSpPr>
        <p:spPr>
          <a:xfrm>
            <a:off x="476250" y="3718550"/>
            <a:ext cx="7802400" cy="122580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6" name="Google Shape;776;p45"/>
          <p:cNvGrpSpPr/>
          <p:nvPr/>
        </p:nvGrpSpPr>
        <p:grpSpPr>
          <a:xfrm>
            <a:off x="590550" y="3832453"/>
            <a:ext cx="8385000" cy="934494"/>
            <a:chOff x="666750" y="1065500"/>
            <a:chExt cx="8385000" cy="934494"/>
          </a:xfrm>
        </p:grpSpPr>
        <p:sp>
          <p:nvSpPr>
            <p:cNvPr id="777" name="Google Shape;777;p45"/>
            <p:cNvSpPr/>
            <p:nvPr/>
          </p:nvSpPr>
          <p:spPr>
            <a:xfrm>
              <a:off x="666750" y="1065500"/>
              <a:ext cx="8385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IBM Plex Sans"/>
                <a:buNone/>
              </a:pPr>
              <a: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Monthly SIP Amount</a:t>
              </a:r>
              <a:endParaRPr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778" name="Google Shape;778;p45"/>
            <p:cNvSpPr/>
            <p:nvPr/>
          </p:nvSpPr>
          <p:spPr>
            <a:xfrm>
              <a:off x="666750" y="1560794"/>
              <a:ext cx="6161100" cy="4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INR 25K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779" name="Google Shape;779;p45"/>
          <p:cNvSpPr txBox="1"/>
          <p:nvPr/>
        </p:nvSpPr>
        <p:spPr>
          <a:xfrm>
            <a:off x="8278650" y="4849600"/>
            <a:ext cx="5427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u="sng">
                <a:solidFill>
                  <a:srgbClr val="0563C1"/>
                </a:solidFill>
                <a:latin typeface="IBM Plex Sans Light"/>
                <a:ea typeface="IBM Plex Sans Light"/>
                <a:cs typeface="IBM Plex Sans Light"/>
                <a:sym typeface="IBM Plex Sans Light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 back</a:t>
            </a:r>
            <a:endParaRPr sz="600"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46"/>
          <p:cNvSpPr/>
          <p:nvPr/>
        </p:nvSpPr>
        <p:spPr>
          <a:xfrm>
            <a:off x="476250" y="2346950"/>
            <a:ext cx="7802400" cy="122580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46"/>
          <p:cNvSpPr/>
          <p:nvPr/>
        </p:nvSpPr>
        <p:spPr>
          <a:xfrm>
            <a:off x="476250" y="975350"/>
            <a:ext cx="7802400" cy="122580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46"/>
          <p:cNvSpPr/>
          <p:nvPr/>
        </p:nvSpPr>
        <p:spPr>
          <a:xfrm>
            <a:off x="476250" y="476250"/>
            <a:ext cx="76392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Infinite Questionnaire | Goals (5/6)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88" name="Google Shape;788;p46"/>
          <p:cNvGrpSpPr/>
          <p:nvPr/>
        </p:nvGrpSpPr>
        <p:grpSpPr>
          <a:xfrm>
            <a:off x="590550" y="2460853"/>
            <a:ext cx="8385000" cy="934494"/>
            <a:chOff x="666750" y="1065500"/>
            <a:chExt cx="8385000" cy="934494"/>
          </a:xfrm>
        </p:grpSpPr>
        <p:sp>
          <p:nvSpPr>
            <p:cNvPr id="789" name="Google Shape;789;p46"/>
            <p:cNvSpPr/>
            <p:nvPr/>
          </p:nvSpPr>
          <p:spPr>
            <a:xfrm>
              <a:off x="666750" y="1065500"/>
              <a:ext cx="8385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IBM Plex Sans"/>
                <a:buNone/>
              </a:pPr>
              <a: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Expected change in expenses post-retirement (-40% to +40%)</a:t>
              </a:r>
              <a:endParaRPr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790" name="Google Shape;790;p46"/>
            <p:cNvSpPr/>
            <p:nvPr/>
          </p:nvSpPr>
          <p:spPr>
            <a:xfrm>
              <a:off x="666750" y="1560794"/>
              <a:ext cx="6161100" cy="4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10%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791" name="Google Shape;791;p46"/>
          <p:cNvGrpSpPr/>
          <p:nvPr/>
        </p:nvGrpSpPr>
        <p:grpSpPr>
          <a:xfrm>
            <a:off x="590550" y="1089253"/>
            <a:ext cx="8385000" cy="934494"/>
            <a:chOff x="666750" y="1065500"/>
            <a:chExt cx="8385000" cy="934494"/>
          </a:xfrm>
        </p:grpSpPr>
        <p:sp>
          <p:nvSpPr>
            <p:cNvPr id="792" name="Google Shape;792;p46"/>
            <p:cNvSpPr/>
            <p:nvPr/>
          </p:nvSpPr>
          <p:spPr>
            <a:xfrm>
              <a:off x="666750" y="1065500"/>
              <a:ext cx="8385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IBM Plex Sans"/>
                <a:buNone/>
              </a:pPr>
              <a: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Current monthly income &amp; monthly expense</a:t>
              </a:r>
              <a:endParaRPr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793" name="Google Shape;793;p46"/>
            <p:cNvSpPr/>
            <p:nvPr/>
          </p:nvSpPr>
          <p:spPr>
            <a:xfrm>
              <a:off x="666750" y="1560794"/>
              <a:ext cx="6161100" cy="4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Income: INR 2.5L ; Expenses: INR 1L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794" name="Google Shape;794;p46"/>
          <p:cNvSpPr/>
          <p:nvPr/>
        </p:nvSpPr>
        <p:spPr>
          <a:xfrm>
            <a:off x="476250" y="3718550"/>
            <a:ext cx="7802400" cy="122580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95" name="Google Shape;795;p46"/>
          <p:cNvGrpSpPr/>
          <p:nvPr/>
        </p:nvGrpSpPr>
        <p:grpSpPr>
          <a:xfrm>
            <a:off x="590550" y="3832453"/>
            <a:ext cx="8385000" cy="934494"/>
            <a:chOff x="666750" y="1065500"/>
            <a:chExt cx="8385000" cy="934494"/>
          </a:xfrm>
        </p:grpSpPr>
        <p:sp>
          <p:nvSpPr>
            <p:cNvPr id="796" name="Google Shape;796;p46"/>
            <p:cNvSpPr/>
            <p:nvPr/>
          </p:nvSpPr>
          <p:spPr>
            <a:xfrm>
              <a:off x="666750" y="1065500"/>
              <a:ext cx="8385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IBM Plex Sans"/>
                <a:buNone/>
              </a:pPr>
              <a: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Current monthly investment</a:t>
              </a:r>
              <a:endParaRPr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797" name="Google Shape;797;p46"/>
            <p:cNvSpPr/>
            <p:nvPr/>
          </p:nvSpPr>
          <p:spPr>
            <a:xfrm>
              <a:off x="666750" y="1560794"/>
              <a:ext cx="6161100" cy="4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-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798" name="Google Shape;798;p46"/>
          <p:cNvSpPr txBox="1"/>
          <p:nvPr/>
        </p:nvSpPr>
        <p:spPr>
          <a:xfrm>
            <a:off x="8278650" y="4849600"/>
            <a:ext cx="5427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u="sng">
                <a:solidFill>
                  <a:srgbClr val="0563C1"/>
                </a:solidFill>
                <a:latin typeface="IBM Plex Sans Light"/>
                <a:ea typeface="IBM Plex Sans Light"/>
                <a:cs typeface="IBM Plex Sans Light"/>
                <a:sym typeface="IBM Plex Sans Light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 back</a:t>
            </a:r>
            <a:endParaRPr sz="600"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47"/>
          <p:cNvSpPr/>
          <p:nvPr/>
        </p:nvSpPr>
        <p:spPr>
          <a:xfrm>
            <a:off x="476250" y="2346950"/>
            <a:ext cx="7802400" cy="122580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47"/>
          <p:cNvSpPr/>
          <p:nvPr/>
        </p:nvSpPr>
        <p:spPr>
          <a:xfrm>
            <a:off x="476250" y="975350"/>
            <a:ext cx="7802400" cy="122580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47"/>
          <p:cNvSpPr/>
          <p:nvPr/>
        </p:nvSpPr>
        <p:spPr>
          <a:xfrm>
            <a:off x="476250" y="476250"/>
            <a:ext cx="76392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Infinite Questionnaire | Goals (6/6)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7" name="Google Shape;807;p47"/>
          <p:cNvGrpSpPr/>
          <p:nvPr/>
        </p:nvGrpSpPr>
        <p:grpSpPr>
          <a:xfrm>
            <a:off x="590550" y="2460853"/>
            <a:ext cx="8385000" cy="1041677"/>
            <a:chOff x="666750" y="1065500"/>
            <a:chExt cx="8385000" cy="1041677"/>
          </a:xfrm>
        </p:grpSpPr>
        <p:sp>
          <p:nvSpPr>
            <p:cNvPr id="808" name="Google Shape;808;p47"/>
            <p:cNvSpPr/>
            <p:nvPr/>
          </p:nvSpPr>
          <p:spPr>
            <a:xfrm>
              <a:off x="666750" y="1065500"/>
              <a:ext cx="8385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IBM Plex Sans"/>
                <a:buNone/>
              </a:pPr>
              <a: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Value of financial investments apart from mutual funds </a:t>
              </a:r>
              <a:b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</a:br>
              <a: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(e.g., FD, stocks, PMS, etc.)</a:t>
              </a:r>
              <a:endParaRPr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809" name="Google Shape;809;p47"/>
            <p:cNvSpPr/>
            <p:nvPr/>
          </p:nvSpPr>
          <p:spPr>
            <a:xfrm>
              <a:off x="666750" y="1667977"/>
              <a:ext cx="6161100" cy="4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INR 15L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810" name="Google Shape;810;p47"/>
          <p:cNvGrpSpPr/>
          <p:nvPr/>
        </p:nvGrpSpPr>
        <p:grpSpPr>
          <a:xfrm>
            <a:off x="590550" y="1089253"/>
            <a:ext cx="8385000" cy="934494"/>
            <a:chOff x="666750" y="1065500"/>
            <a:chExt cx="8385000" cy="934494"/>
          </a:xfrm>
        </p:grpSpPr>
        <p:sp>
          <p:nvSpPr>
            <p:cNvPr id="811" name="Google Shape;811;p47"/>
            <p:cNvSpPr/>
            <p:nvPr/>
          </p:nvSpPr>
          <p:spPr>
            <a:xfrm>
              <a:off x="666750" y="1065500"/>
              <a:ext cx="8385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IBM Plex Sans"/>
                <a:buNone/>
              </a:pPr>
              <a: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Expected year-on-year increase in investment</a:t>
              </a:r>
              <a:endParaRPr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812" name="Google Shape;812;p47"/>
            <p:cNvSpPr/>
            <p:nvPr/>
          </p:nvSpPr>
          <p:spPr>
            <a:xfrm>
              <a:off x="666750" y="1560794"/>
              <a:ext cx="6161100" cy="4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10%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813" name="Google Shape;813;p47"/>
          <p:cNvSpPr/>
          <p:nvPr/>
        </p:nvSpPr>
        <p:spPr>
          <a:xfrm>
            <a:off x="476250" y="3718550"/>
            <a:ext cx="7802400" cy="122580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4" name="Google Shape;814;p47"/>
          <p:cNvGrpSpPr/>
          <p:nvPr/>
        </p:nvGrpSpPr>
        <p:grpSpPr>
          <a:xfrm>
            <a:off x="590550" y="3832453"/>
            <a:ext cx="8385000" cy="934494"/>
            <a:chOff x="666750" y="1065500"/>
            <a:chExt cx="8385000" cy="934494"/>
          </a:xfrm>
        </p:grpSpPr>
        <p:sp>
          <p:nvSpPr>
            <p:cNvPr id="815" name="Google Shape;815;p47"/>
            <p:cNvSpPr/>
            <p:nvPr/>
          </p:nvSpPr>
          <p:spPr>
            <a:xfrm>
              <a:off x="666750" y="1065500"/>
              <a:ext cx="8385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IBM Plex Sans"/>
                <a:buNone/>
              </a:pPr>
              <a: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Liabilities (EMI / Loans)</a:t>
              </a:r>
              <a:endParaRPr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816" name="Google Shape;816;p47"/>
            <p:cNvSpPr/>
            <p:nvPr/>
          </p:nvSpPr>
          <p:spPr>
            <a:xfrm>
              <a:off x="666750" y="1560794"/>
              <a:ext cx="6161100" cy="4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None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817" name="Google Shape;817;p47"/>
          <p:cNvSpPr txBox="1"/>
          <p:nvPr/>
        </p:nvSpPr>
        <p:spPr>
          <a:xfrm>
            <a:off x="8278650" y="4849600"/>
            <a:ext cx="5427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u="sng">
                <a:solidFill>
                  <a:srgbClr val="0563C1"/>
                </a:solidFill>
                <a:latin typeface="IBM Plex Sans Light"/>
                <a:ea typeface="IBM Plex Sans Light"/>
                <a:cs typeface="IBM Plex Sans Light"/>
                <a:sym typeface="IBM Plex Sans Light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 back</a:t>
            </a:r>
            <a:endParaRPr sz="600"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6" name="Google Shape;2566;p89"/>
          <p:cNvSpPr/>
          <p:nvPr/>
        </p:nvSpPr>
        <p:spPr>
          <a:xfrm>
            <a:off x="476250" y="2324341"/>
            <a:ext cx="7802400" cy="122580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7" name="Google Shape;2567;p89"/>
          <p:cNvSpPr/>
          <p:nvPr/>
        </p:nvSpPr>
        <p:spPr>
          <a:xfrm>
            <a:off x="476250" y="952741"/>
            <a:ext cx="7802400" cy="122580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8" name="Google Shape;2568;p89"/>
          <p:cNvSpPr/>
          <p:nvPr/>
        </p:nvSpPr>
        <p:spPr>
          <a:xfrm>
            <a:off x="476250" y="476250"/>
            <a:ext cx="76392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Infinite Questionnaire | Home Purchase (7/10)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69" name="Google Shape;2569;p89"/>
          <p:cNvGrpSpPr/>
          <p:nvPr/>
        </p:nvGrpSpPr>
        <p:grpSpPr>
          <a:xfrm>
            <a:off x="590550" y="2438244"/>
            <a:ext cx="8385000" cy="1041677"/>
            <a:chOff x="666750" y="1065500"/>
            <a:chExt cx="8385000" cy="1041677"/>
          </a:xfrm>
        </p:grpSpPr>
        <p:sp>
          <p:nvSpPr>
            <p:cNvPr id="2570" name="Google Shape;2570;p89"/>
            <p:cNvSpPr/>
            <p:nvPr/>
          </p:nvSpPr>
          <p:spPr>
            <a:xfrm>
              <a:off x="666750" y="1065500"/>
              <a:ext cx="8385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IBM Plex Sans"/>
                <a:buNone/>
              </a:pPr>
              <a: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Flexibility to shift your purchase timeline by the number of years?</a:t>
              </a:r>
              <a:endParaRPr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571" name="Google Shape;2571;p89"/>
            <p:cNvSpPr/>
            <p:nvPr/>
          </p:nvSpPr>
          <p:spPr>
            <a:xfrm>
              <a:off x="666750" y="1667977"/>
              <a:ext cx="6161100" cy="4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5 years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2572" name="Google Shape;2572;p89"/>
          <p:cNvGrpSpPr/>
          <p:nvPr/>
        </p:nvGrpSpPr>
        <p:grpSpPr>
          <a:xfrm>
            <a:off x="590550" y="1066644"/>
            <a:ext cx="8385000" cy="934494"/>
            <a:chOff x="666750" y="1065500"/>
            <a:chExt cx="8385000" cy="934494"/>
          </a:xfrm>
        </p:grpSpPr>
        <p:sp>
          <p:nvSpPr>
            <p:cNvPr id="2573" name="Google Shape;2573;p89"/>
            <p:cNvSpPr/>
            <p:nvPr/>
          </p:nvSpPr>
          <p:spPr>
            <a:xfrm>
              <a:off x="666750" y="1065500"/>
              <a:ext cx="8385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IBM Plex Sans"/>
                <a:buNone/>
              </a:pPr>
              <a: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When do you want to purchase it?</a:t>
              </a:r>
              <a:endParaRPr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574" name="Google Shape;2574;p89"/>
            <p:cNvSpPr/>
            <p:nvPr/>
          </p:nvSpPr>
          <p:spPr>
            <a:xfrm>
              <a:off x="666750" y="1560794"/>
              <a:ext cx="6161100" cy="4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2035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2575" name="Google Shape;2575;p89"/>
          <p:cNvSpPr/>
          <p:nvPr/>
        </p:nvSpPr>
        <p:spPr>
          <a:xfrm>
            <a:off x="476250" y="3695941"/>
            <a:ext cx="7802400" cy="122580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76" name="Google Shape;2576;p89"/>
          <p:cNvGrpSpPr/>
          <p:nvPr/>
        </p:nvGrpSpPr>
        <p:grpSpPr>
          <a:xfrm>
            <a:off x="590550" y="3809844"/>
            <a:ext cx="8385000" cy="934494"/>
            <a:chOff x="666750" y="1065500"/>
            <a:chExt cx="8385000" cy="934494"/>
          </a:xfrm>
        </p:grpSpPr>
        <p:sp>
          <p:nvSpPr>
            <p:cNvPr id="2577" name="Google Shape;2577;p89"/>
            <p:cNvSpPr/>
            <p:nvPr/>
          </p:nvSpPr>
          <p:spPr>
            <a:xfrm>
              <a:off x="666750" y="1065500"/>
              <a:ext cx="8385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IBM Plex Sans"/>
                <a:buNone/>
              </a:pPr>
              <a: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Estimated value of home (in today’s value)</a:t>
              </a:r>
              <a:endParaRPr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578" name="Google Shape;2578;p89"/>
            <p:cNvSpPr/>
            <p:nvPr/>
          </p:nvSpPr>
          <p:spPr>
            <a:xfrm>
              <a:off x="666750" y="1560794"/>
              <a:ext cx="6161100" cy="4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INR 2,00,00,000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2579" name="Google Shape;2579;p89"/>
          <p:cNvSpPr txBox="1"/>
          <p:nvPr/>
        </p:nvSpPr>
        <p:spPr>
          <a:xfrm>
            <a:off x="8278650" y="4849600"/>
            <a:ext cx="5427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u="sng">
                <a:solidFill>
                  <a:srgbClr val="0563C1"/>
                </a:solidFill>
                <a:latin typeface="IBM Plex Sans Light"/>
                <a:ea typeface="IBM Plex Sans Light"/>
                <a:cs typeface="IBM Plex Sans Light"/>
                <a:sym typeface="IBM Plex Sans Light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 back</a:t>
            </a:r>
            <a:endParaRPr sz="600"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5" name="Google Shape;2585;p90"/>
          <p:cNvSpPr/>
          <p:nvPr/>
        </p:nvSpPr>
        <p:spPr>
          <a:xfrm>
            <a:off x="476250" y="2324341"/>
            <a:ext cx="7802400" cy="122580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6" name="Google Shape;2586;p90"/>
          <p:cNvSpPr/>
          <p:nvPr/>
        </p:nvSpPr>
        <p:spPr>
          <a:xfrm>
            <a:off x="476250" y="952741"/>
            <a:ext cx="7802400" cy="122580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7" name="Google Shape;2587;p90"/>
          <p:cNvSpPr/>
          <p:nvPr/>
        </p:nvSpPr>
        <p:spPr>
          <a:xfrm>
            <a:off x="476250" y="476250"/>
            <a:ext cx="76392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Infinite Questionnaire | Home Purchase (8/10)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88" name="Google Shape;2588;p90"/>
          <p:cNvGrpSpPr/>
          <p:nvPr/>
        </p:nvGrpSpPr>
        <p:grpSpPr>
          <a:xfrm>
            <a:off x="590550" y="2438244"/>
            <a:ext cx="8385000" cy="1041677"/>
            <a:chOff x="666750" y="1065500"/>
            <a:chExt cx="8385000" cy="1041677"/>
          </a:xfrm>
        </p:grpSpPr>
        <p:sp>
          <p:nvSpPr>
            <p:cNvPr id="2589" name="Google Shape;2589;p90"/>
            <p:cNvSpPr/>
            <p:nvPr/>
          </p:nvSpPr>
          <p:spPr>
            <a:xfrm>
              <a:off x="666750" y="1065500"/>
              <a:ext cx="8385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IBM Plex Sans"/>
                <a:buNone/>
              </a:pPr>
              <a: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Estimated down payment if opted "Yes" for debt financing?</a:t>
              </a:r>
              <a:endParaRPr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590" name="Google Shape;2590;p90"/>
            <p:cNvSpPr/>
            <p:nvPr/>
          </p:nvSpPr>
          <p:spPr>
            <a:xfrm>
              <a:off x="666750" y="1667977"/>
              <a:ext cx="6161100" cy="4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40%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2591" name="Google Shape;2591;p90"/>
          <p:cNvGrpSpPr/>
          <p:nvPr/>
        </p:nvGrpSpPr>
        <p:grpSpPr>
          <a:xfrm>
            <a:off x="590550" y="1066644"/>
            <a:ext cx="8385000" cy="934494"/>
            <a:chOff x="666750" y="1065500"/>
            <a:chExt cx="8385000" cy="934494"/>
          </a:xfrm>
        </p:grpSpPr>
        <p:sp>
          <p:nvSpPr>
            <p:cNvPr id="2592" name="Google Shape;2592;p90"/>
            <p:cNvSpPr/>
            <p:nvPr/>
          </p:nvSpPr>
          <p:spPr>
            <a:xfrm>
              <a:off x="666750" y="1065500"/>
              <a:ext cx="8385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IBM Plex Sans"/>
                <a:buNone/>
              </a:pPr>
              <a: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Would you be open to opting for debt financing (Home loan)?</a:t>
              </a:r>
              <a:endParaRPr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593" name="Google Shape;2593;p90"/>
            <p:cNvSpPr/>
            <p:nvPr/>
          </p:nvSpPr>
          <p:spPr>
            <a:xfrm>
              <a:off x="666750" y="1560794"/>
              <a:ext cx="6161100" cy="4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Yes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2594" name="Google Shape;2594;p90"/>
          <p:cNvSpPr/>
          <p:nvPr/>
        </p:nvSpPr>
        <p:spPr>
          <a:xfrm>
            <a:off x="476250" y="3695941"/>
            <a:ext cx="7802400" cy="122580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95" name="Google Shape;2595;p90"/>
          <p:cNvGrpSpPr/>
          <p:nvPr/>
        </p:nvGrpSpPr>
        <p:grpSpPr>
          <a:xfrm>
            <a:off x="590550" y="3809844"/>
            <a:ext cx="8385000" cy="934494"/>
            <a:chOff x="666750" y="1065500"/>
            <a:chExt cx="8385000" cy="934494"/>
          </a:xfrm>
        </p:grpSpPr>
        <p:sp>
          <p:nvSpPr>
            <p:cNvPr id="2596" name="Google Shape;2596;p90"/>
            <p:cNvSpPr/>
            <p:nvPr/>
          </p:nvSpPr>
          <p:spPr>
            <a:xfrm>
              <a:off x="666750" y="1065500"/>
              <a:ext cx="8385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IBM Plex Sans"/>
                <a:buNone/>
              </a:pPr>
              <a: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Current monthly rent</a:t>
              </a:r>
              <a:endParaRPr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597" name="Google Shape;2597;p90"/>
            <p:cNvSpPr/>
            <p:nvPr/>
          </p:nvSpPr>
          <p:spPr>
            <a:xfrm>
              <a:off x="666750" y="1560794"/>
              <a:ext cx="6161100" cy="4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None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2598" name="Google Shape;2598;p90"/>
          <p:cNvSpPr txBox="1"/>
          <p:nvPr/>
        </p:nvSpPr>
        <p:spPr>
          <a:xfrm>
            <a:off x="8278650" y="4849600"/>
            <a:ext cx="5427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u="sng">
                <a:solidFill>
                  <a:srgbClr val="0563C1"/>
                </a:solidFill>
                <a:latin typeface="IBM Plex Sans Light"/>
                <a:ea typeface="IBM Plex Sans Light"/>
                <a:cs typeface="IBM Plex Sans Light"/>
                <a:sym typeface="IBM Plex Sans Light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 back</a:t>
            </a:r>
            <a:endParaRPr sz="600"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4" name="Google Shape;2604;p91"/>
          <p:cNvSpPr/>
          <p:nvPr/>
        </p:nvSpPr>
        <p:spPr>
          <a:xfrm>
            <a:off x="476250" y="2346950"/>
            <a:ext cx="7802400" cy="122580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5" name="Google Shape;2605;p91"/>
          <p:cNvSpPr/>
          <p:nvPr/>
        </p:nvSpPr>
        <p:spPr>
          <a:xfrm>
            <a:off x="476250" y="975350"/>
            <a:ext cx="7802400" cy="122580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6" name="Google Shape;2606;p91"/>
          <p:cNvSpPr/>
          <p:nvPr/>
        </p:nvSpPr>
        <p:spPr>
          <a:xfrm>
            <a:off x="476250" y="476250"/>
            <a:ext cx="76392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Infinite Questionnaire | Children's Education (9/10)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07" name="Google Shape;2607;p91"/>
          <p:cNvGrpSpPr/>
          <p:nvPr/>
        </p:nvGrpSpPr>
        <p:grpSpPr>
          <a:xfrm>
            <a:off x="590550" y="2460853"/>
            <a:ext cx="8385000" cy="1041677"/>
            <a:chOff x="666750" y="1065500"/>
            <a:chExt cx="8385000" cy="1041677"/>
          </a:xfrm>
        </p:grpSpPr>
        <p:sp>
          <p:nvSpPr>
            <p:cNvPr id="2608" name="Google Shape;2608;p91"/>
            <p:cNvSpPr/>
            <p:nvPr/>
          </p:nvSpPr>
          <p:spPr>
            <a:xfrm>
              <a:off x="666750" y="1065500"/>
              <a:ext cx="8385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IBM Plex Sans"/>
                <a:buNone/>
              </a:pPr>
              <a: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Expected start year of your child’s undergraduate education</a:t>
              </a:r>
              <a:endParaRPr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609" name="Google Shape;2609;p91"/>
            <p:cNvSpPr/>
            <p:nvPr/>
          </p:nvSpPr>
          <p:spPr>
            <a:xfrm>
              <a:off x="666750" y="1667977"/>
              <a:ext cx="6161100" cy="4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2037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2610" name="Google Shape;2610;p91"/>
          <p:cNvGrpSpPr/>
          <p:nvPr/>
        </p:nvGrpSpPr>
        <p:grpSpPr>
          <a:xfrm>
            <a:off x="590550" y="1089253"/>
            <a:ext cx="8385000" cy="934494"/>
            <a:chOff x="666750" y="1065500"/>
            <a:chExt cx="8385000" cy="934494"/>
          </a:xfrm>
        </p:grpSpPr>
        <p:sp>
          <p:nvSpPr>
            <p:cNvPr id="2611" name="Google Shape;2611;p91"/>
            <p:cNvSpPr/>
            <p:nvPr/>
          </p:nvSpPr>
          <p:spPr>
            <a:xfrm>
              <a:off x="666750" y="1065500"/>
              <a:ext cx="8385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IBM Plex Sans"/>
                <a:buNone/>
              </a:pPr>
              <a: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Number of children whose education you want to plan for?	</a:t>
              </a:r>
              <a:endParaRPr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612" name="Google Shape;2612;p91"/>
            <p:cNvSpPr/>
            <p:nvPr/>
          </p:nvSpPr>
          <p:spPr>
            <a:xfrm>
              <a:off x="666750" y="1560794"/>
              <a:ext cx="6161100" cy="4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1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2613" name="Google Shape;2613;p91"/>
          <p:cNvSpPr/>
          <p:nvPr/>
        </p:nvSpPr>
        <p:spPr>
          <a:xfrm>
            <a:off x="476250" y="3718550"/>
            <a:ext cx="7802400" cy="122580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14" name="Google Shape;2614;p91"/>
          <p:cNvGrpSpPr/>
          <p:nvPr/>
        </p:nvGrpSpPr>
        <p:grpSpPr>
          <a:xfrm>
            <a:off x="590550" y="3832453"/>
            <a:ext cx="8385000" cy="934494"/>
            <a:chOff x="666750" y="1065500"/>
            <a:chExt cx="8385000" cy="934494"/>
          </a:xfrm>
        </p:grpSpPr>
        <p:sp>
          <p:nvSpPr>
            <p:cNvPr id="2615" name="Google Shape;2615;p91"/>
            <p:cNvSpPr/>
            <p:nvPr/>
          </p:nvSpPr>
          <p:spPr>
            <a:xfrm>
              <a:off x="666750" y="1065500"/>
              <a:ext cx="8385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IBM Plex Sans"/>
                <a:buNone/>
              </a:pPr>
              <a: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Estimated cost for undergraduate education (in today’s value)</a:t>
              </a:r>
              <a:endParaRPr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616" name="Google Shape;2616;p91"/>
            <p:cNvSpPr/>
            <p:nvPr/>
          </p:nvSpPr>
          <p:spPr>
            <a:xfrm>
              <a:off x="666750" y="1560794"/>
              <a:ext cx="6161100" cy="4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INR 12,00,000 for each of them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2617" name="Google Shape;2617;p91"/>
          <p:cNvSpPr txBox="1"/>
          <p:nvPr/>
        </p:nvSpPr>
        <p:spPr>
          <a:xfrm>
            <a:off x="8278650" y="4849600"/>
            <a:ext cx="5427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u="sng">
                <a:solidFill>
                  <a:srgbClr val="0563C1"/>
                </a:solidFill>
                <a:latin typeface="IBM Plex Sans Light"/>
                <a:ea typeface="IBM Plex Sans Light"/>
                <a:cs typeface="IBM Plex Sans Light"/>
                <a:sym typeface="IBM Plex Sans Light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 back</a:t>
            </a:r>
            <a:endParaRPr sz="600"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3" name="Google Shape;2623;p92"/>
          <p:cNvSpPr/>
          <p:nvPr/>
        </p:nvSpPr>
        <p:spPr>
          <a:xfrm>
            <a:off x="476250" y="2346950"/>
            <a:ext cx="7802400" cy="122580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4" name="Google Shape;2624;p92"/>
          <p:cNvSpPr/>
          <p:nvPr/>
        </p:nvSpPr>
        <p:spPr>
          <a:xfrm>
            <a:off x="476250" y="975350"/>
            <a:ext cx="7802400" cy="122580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5" name="Google Shape;2625;p92"/>
          <p:cNvSpPr/>
          <p:nvPr/>
        </p:nvSpPr>
        <p:spPr>
          <a:xfrm>
            <a:off x="476250" y="476250"/>
            <a:ext cx="76392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Infinite Questionnaire | Children's Education (10/10)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26" name="Google Shape;2626;p92"/>
          <p:cNvGrpSpPr/>
          <p:nvPr/>
        </p:nvGrpSpPr>
        <p:grpSpPr>
          <a:xfrm>
            <a:off x="590550" y="2460853"/>
            <a:ext cx="8385000" cy="1041677"/>
            <a:chOff x="666750" y="1065500"/>
            <a:chExt cx="8385000" cy="1041677"/>
          </a:xfrm>
        </p:grpSpPr>
        <p:sp>
          <p:nvSpPr>
            <p:cNvPr id="2627" name="Google Shape;2627;p92"/>
            <p:cNvSpPr/>
            <p:nvPr/>
          </p:nvSpPr>
          <p:spPr>
            <a:xfrm>
              <a:off x="666750" y="1065500"/>
              <a:ext cx="8385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IBM Plex Sans"/>
                <a:buNone/>
              </a:pPr>
              <a: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Estimated cost of postgraduate education (in today’s value)</a:t>
              </a:r>
              <a:endParaRPr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628" name="Google Shape;2628;p92"/>
            <p:cNvSpPr/>
            <p:nvPr/>
          </p:nvSpPr>
          <p:spPr>
            <a:xfrm>
              <a:off x="666750" y="1667977"/>
              <a:ext cx="6161100" cy="4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INR 1,20,00,000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2629" name="Google Shape;2629;p92"/>
          <p:cNvGrpSpPr/>
          <p:nvPr/>
        </p:nvGrpSpPr>
        <p:grpSpPr>
          <a:xfrm>
            <a:off x="590550" y="1089253"/>
            <a:ext cx="8385000" cy="934494"/>
            <a:chOff x="666750" y="1065500"/>
            <a:chExt cx="8385000" cy="934494"/>
          </a:xfrm>
        </p:grpSpPr>
        <p:sp>
          <p:nvSpPr>
            <p:cNvPr id="2630" name="Google Shape;2630;p92"/>
            <p:cNvSpPr/>
            <p:nvPr/>
          </p:nvSpPr>
          <p:spPr>
            <a:xfrm>
              <a:off x="666750" y="1065500"/>
              <a:ext cx="8385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IBM Plex Sans"/>
                <a:buNone/>
              </a:pPr>
              <a: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Expected start year of your child’s postgraduate education</a:t>
              </a:r>
              <a:endParaRPr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631" name="Google Shape;2631;p92"/>
            <p:cNvSpPr/>
            <p:nvPr/>
          </p:nvSpPr>
          <p:spPr>
            <a:xfrm>
              <a:off x="666750" y="1560794"/>
              <a:ext cx="6161100" cy="4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2039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2632" name="Google Shape;2632;p92"/>
          <p:cNvSpPr txBox="1"/>
          <p:nvPr/>
        </p:nvSpPr>
        <p:spPr>
          <a:xfrm>
            <a:off x="8278650" y="4849600"/>
            <a:ext cx="5427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u="sng">
                <a:solidFill>
                  <a:srgbClr val="0563C1"/>
                </a:solidFill>
                <a:latin typeface="IBM Plex Sans Light"/>
                <a:ea typeface="IBM Plex Sans Light"/>
                <a:cs typeface="IBM Plex Sans Light"/>
                <a:sym typeface="IBM Plex Sans Light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 back</a:t>
            </a:r>
            <a:endParaRPr sz="600"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8" name="Google Shape;2638;p93"/>
          <p:cNvSpPr/>
          <p:nvPr/>
        </p:nvSpPr>
        <p:spPr>
          <a:xfrm>
            <a:off x="476250" y="2324341"/>
            <a:ext cx="7802400" cy="122580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9" name="Google Shape;2639;p93"/>
          <p:cNvSpPr/>
          <p:nvPr/>
        </p:nvSpPr>
        <p:spPr>
          <a:xfrm>
            <a:off x="476250" y="952741"/>
            <a:ext cx="7802400" cy="122580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0" name="Google Shape;2640;p93"/>
          <p:cNvSpPr/>
          <p:nvPr/>
        </p:nvSpPr>
        <p:spPr>
          <a:xfrm>
            <a:off x="476250" y="476250"/>
            <a:ext cx="76392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Infinite Questionnaire | Children’s Marriage (11/11)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41" name="Google Shape;2641;p93"/>
          <p:cNvGrpSpPr/>
          <p:nvPr/>
        </p:nvGrpSpPr>
        <p:grpSpPr>
          <a:xfrm>
            <a:off x="590550" y="2438244"/>
            <a:ext cx="8385000" cy="1041677"/>
            <a:chOff x="666750" y="1065500"/>
            <a:chExt cx="8385000" cy="1041677"/>
          </a:xfrm>
        </p:grpSpPr>
        <p:sp>
          <p:nvSpPr>
            <p:cNvPr id="2642" name="Google Shape;2642;p93"/>
            <p:cNvSpPr/>
            <p:nvPr/>
          </p:nvSpPr>
          <p:spPr>
            <a:xfrm>
              <a:off x="666750" y="1065500"/>
              <a:ext cx="8385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IBM Plex Sans"/>
                <a:buNone/>
              </a:pPr>
              <a: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What is the expected timeframe for the marriage?</a:t>
              </a:r>
              <a:endParaRPr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643" name="Google Shape;2643;p93"/>
            <p:cNvSpPr/>
            <p:nvPr/>
          </p:nvSpPr>
          <p:spPr>
            <a:xfrm>
              <a:off x="666750" y="1667977"/>
              <a:ext cx="6161100" cy="4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2032 (7 years from now)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2644" name="Google Shape;2644;p93"/>
          <p:cNvGrpSpPr/>
          <p:nvPr/>
        </p:nvGrpSpPr>
        <p:grpSpPr>
          <a:xfrm>
            <a:off x="590550" y="1066644"/>
            <a:ext cx="8385000" cy="934494"/>
            <a:chOff x="666750" y="1065500"/>
            <a:chExt cx="8385000" cy="934494"/>
          </a:xfrm>
        </p:grpSpPr>
        <p:sp>
          <p:nvSpPr>
            <p:cNvPr id="2645" name="Google Shape;2645;p93"/>
            <p:cNvSpPr/>
            <p:nvPr/>
          </p:nvSpPr>
          <p:spPr>
            <a:xfrm>
              <a:off x="666750" y="1065500"/>
              <a:ext cx="8385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IBM Plex Sans"/>
                <a:buNone/>
              </a:pPr>
              <a: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Number of children whose marriage you want to plan for?</a:t>
              </a:r>
              <a:endParaRPr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646" name="Google Shape;2646;p93"/>
            <p:cNvSpPr/>
            <p:nvPr/>
          </p:nvSpPr>
          <p:spPr>
            <a:xfrm>
              <a:off x="666750" y="1560794"/>
              <a:ext cx="6161100" cy="4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1 - Manya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2647" name="Google Shape;2647;p93"/>
          <p:cNvSpPr/>
          <p:nvPr/>
        </p:nvSpPr>
        <p:spPr>
          <a:xfrm>
            <a:off x="476250" y="3695941"/>
            <a:ext cx="7802400" cy="122580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48" name="Google Shape;2648;p93"/>
          <p:cNvGrpSpPr/>
          <p:nvPr/>
        </p:nvGrpSpPr>
        <p:grpSpPr>
          <a:xfrm>
            <a:off x="590550" y="3809844"/>
            <a:ext cx="8385000" cy="934494"/>
            <a:chOff x="666750" y="1065500"/>
            <a:chExt cx="8385000" cy="934494"/>
          </a:xfrm>
        </p:grpSpPr>
        <p:sp>
          <p:nvSpPr>
            <p:cNvPr id="2649" name="Google Shape;2649;p93"/>
            <p:cNvSpPr/>
            <p:nvPr/>
          </p:nvSpPr>
          <p:spPr>
            <a:xfrm>
              <a:off x="666750" y="1065500"/>
              <a:ext cx="8385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IBM Plex Sans"/>
                <a:buNone/>
              </a:pPr>
              <a: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Estimated budget for marriage (in today’s value)</a:t>
              </a:r>
              <a:endParaRPr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650" name="Google Shape;2650;p93"/>
            <p:cNvSpPr/>
            <p:nvPr/>
          </p:nvSpPr>
          <p:spPr>
            <a:xfrm>
              <a:off x="666750" y="1560794"/>
              <a:ext cx="6161100" cy="4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INR 1.5 Cr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2651" name="Google Shape;2651;p93"/>
          <p:cNvSpPr txBox="1"/>
          <p:nvPr/>
        </p:nvSpPr>
        <p:spPr>
          <a:xfrm>
            <a:off x="8278650" y="4849600"/>
            <a:ext cx="5427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u="sng">
                <a:solidFill>
                  <a:schemeClr val="hlink"/>
                </a:solidFill>
                <a:latin typeface="IBM Plex Sans Light"/>
                <a:ea typeface="IBM Plex Sans Light"/>
                <a:cs typeface="IBM Plex Sans Light"/>
                <a:sym typeface="IBM Plex Sans Light"/>
                <a:hlinkClick r:id="rId3" action="ppaction://hlinksldjump"/>
              </a:rPr>
              <a:t>Go back</a:t>
            </a:r>
            <a:endParaRPr sz="600"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58"/>
          <p:cNvSpPr/>
          <p:nvPr/>
        </p:nvSpPr>
        <p:spPr>
          <a:xfrm>
            <a:off x="476250" y="2324341"/>
            <a:ext cx="7802400" cy="122580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4" name="Google Shape;1434;p58"/>
          <p:cNvSpPr/>
          <p:nvPr/>
        </p:nvSpPr>
        <p:spPr>
          <a:xfrm>
            <a:off x="476250" y="952741"/>
            <a:ext cx="7802400" cy="122580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5" name="Google Shape;1435;p58"/>
          <p:cNvSpPr/>
          <p:nvPr/>
        </p:nvSpPr>
        <p:spPr>
          <a:xfrm>
            <a:off x="476250" y="476250"/>
            <a:ext cx="76392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Infinite Questionnaire | Vehicle Purchase (7/8)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36" name="Google Shape;1436;p58"/>
          <p:cNvGrpSpPr/>
          <p:nvPr/>
        </p:nvGrpSpPr>
        <p:grpSpPr>
          <a:xfrm>
            <a:off x="590550" y="2438244"/>
            <a:ext cx="8385000" cy="1041677"/>
            <a:chOff x="666750" y="1065500"/>
            <a:chExt cx="8385000" cy="1041677"/>
          </a:xfrm>
        </p:grpSpPr>
        <p:sp>
          <p:nvSpPr>
            <p:cNvPr id="1437" name="Google Shape;1437;p58"/>
            <p:cNvSpPr/>
            <p:nvPr/>
          </p:nvSpPr>
          <p:spPr>
            <a:xfrm>
              <a:off x="666750" y="1065500"/>
              <a:ext cx="8385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IBM Plex Sans"/>
                <a:buNone/>
              </a:pPr>
              <a: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Flexibility to shift your purchase timeline by the number of years?</a:t>
              </a:r>
              <a:endParaRPr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438" name="Google Shape;1438;p58"/>
            <p:cNvSpPr/>
            <p:nvPr/>
          </p:nvSpPr>
          <p:spPr>
            <a:xfrm>
              <a:off x="666750" y="1667977"/>
              <a:ext cx="6161100" cy="4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Yes, open ended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1439" name="Google Shape;1439;p58"/>
          <p:cNvGrpSpPr/>
          <p:nvPr/>
        </p:nvGrpSpPr>
        <p:grpSpPr>
          <a:xfrm>
            <a:off x="590550" y="1066644"/>
            <a:ext cx="8385000" cy="934494"/>
            <a:chOff x="666750" y="1065500"/>
            <a:chExt cx="8385000" cy="934494"/>
          </a:xfrm>
        </p:grpSpPr>
        <p:sp>
          <p:nvSpPr>
            <p:cNvPr id="1440" name="Google Shape;1440;p58"/>
            <p:cNvSpPr/>
            <p:nvPr/>
          </p:nvSpPr>
          <p:spPr>
            <a:xfrm>
              <a:off x="666750" y="1065500"/>
              <a:ext cx="8385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IBM Plex Sans"/>
                <a:buNone/>
              </a:pPr>
              <a: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When do you want to purchase it?</a:t>
              </a:r>
              <a:endParaRPr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441" name="Google Shape;1441;p58"/>
            <p:cNvSpPr/>
            <p:nvPr/>
          </p:nvSpPr>
          <p:spPr>
            <a:xfrm>
              <a:off x="666750" y="1560794"/>
              <a:ext cx="6161100" cy="4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2027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1442" name="Google Shape;1442;p58"/>
          <p:cNvSpPr/>
          <p:nvPr/>
        </p:nvSpPr>
        <p:spPr>
          <a:xfrm>
            <a:off x="476250" y="3695941"/>
            <a:ext cx="7802400" cy="122580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43" name="Google Shape;1443;p58"/>
          <p:cNvGrpSpPr/>
          <p:nvPr/>
        </p:nvGrpSpPr>
        <p:grpSpPr>
          <a:xfrm>
            <a:off x="590550" y="3809844"/>
            <a:ext cx="8385000" cy="934494"/>
            <a:chOff x="666750" y="1065500"/>
            <a:chExt cx="8385000" cy="934494"/>
          </a:xfrm>
        </p:grpSpPr>
        <p:sp>
          <p:nvSpPr>
            <p:cNvPr id="1444" name="Google Shape;1444;p58"/>
            <p:cNvSpPr/>
            <p:nvPr/>
          </p:nvSpPr>
          <p:spPr>
            <a:xfrm>
              <a:off x="666750" y="1065500"/>
              <a:ext cx="8385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IBM Plex Sans"/>
                <a:buNone/>
              </a:pPr>
              <a: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Estimated value of vehicle (in today’s value)</a:t>
              </a:r>
              <a:endParaRPr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445" name="Google Shape;1445;p58"/>
            <p:cNvSpPr/>
            <p:nvPr/>
          </p:nvSpPr>
          <p:spPr>
            <a:xfrm>
              <a:off x="666750" y="1560794"/>
              <a:ext cx="6161100" cy="4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INR 40L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1446" name="Google Shape;1446;p58"/>
          <p:cNvSpPr txBox="1"/>
          <p:nvPr/>
        </p:nvSpPr>
        <p:spPr>
          <a:xfrm>
            <a:off x="8278650" y="4849600"/>
            <a:ext cx="5427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u="sng">
                <a:solidFill>
                  <a:srgbClr val="0563C1"/>
                </a:solidFill>
                <a:latin typeface="IBM Plex Sans Light"/>
                <a:ea typeface="IBM Plex Sans Light"/>
                <a:cs typeface="IBM Plex Sans Light"/>
                <a:sym typeface="IBM Plex Sans Light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 back</a:t>
            </a:r>
            <a:endParaRPr sz="600"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59"/>
          <p:cNvSpPr/>
          <p:nvPr/>
        </p:nvSpPr>
        <p:spPr>
          <a:xfrm>
            <a:off x="476250" y="2324341"/>
            <a:ext cx="7802400" cy="122580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3" name="Google Shape;1453;p59"/>
          <p:cNvSpPr/>
          <p:nvPr/>
        </p:nvSpPr>
        <p:spPr>
          <a:xfrm>
            <a:off x="476250" y="952741"/>
            <a:ext cx="7802400" cy="1225800"/>
          </a:xfrm>
          <a:prstGeom prst="roundRect">
            <a:avLst>
              <a:gd name="adj" fmla="val 8136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4" name="Google Shape;1454;p59"/>
          <p:cNvSpPr/>
          <p:nvPr/>
        </p:nvSpPr>
        <p:spPr>
          <a:xfrm>
            <a:off x="476250" y="476250"/>
            <a:ext cx="76392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Infinite Questionnaire | Vehicle Purchase (8/8)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55" name="Google Shape;1455;p59"/>
          <p:cNvGrpSpPr/>
          <p:nvPr/>
        </p:nvGrpSpPr>
        <p:grpSpPr>
          <a:xfrm>
            <a:off x="590550" y="2438244"/>
            <a:ext cx="8385000" cy="1041677"/>
            <a:chOff x="666750" y="1065500"/>
            <a:chExt cx="8385000" cy="1041677"/>
          </a:xfrm>
        </p:grpSpPr>
        <p:sp>
          <p:nvSpPr>
            <p:cNvPr id="1456" name="Google Shape;1456;p59"/>
            <p:cNvSpPr/>
            <p:nvPr/>
          </p:nvSpPr>
          <p:spPr>
            <a:xfrm>
              <a:off x="666750" y="1065500"/>
              <a:ext cx="8385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IBM Plex Sans"/>
                <a:buNone/>
              </a:pPr>
              <a: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Estimated down payment if opted "Yes" for debt financing?</a:t>
              </a:r>
              <a:endParaRPr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457" name="Google Shape;1457;p59"/>
            <p:cNvSpPr/>
            <p:nvPr/>
          </p:nvSpPr>
          <p:spPr>
            <a:xfrm>
              <a:off x="666750" y="1667977"/>
              <a:ext cx="6161100" cy="4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20%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1458" name="Google Shape;1458;p59"/>
          <p:cNvGrpSpPr/>
          <p:nvPr/>
        </p:nvGrpSpPr>
        <p:grpSpPr>
          <a:xfrm>
            <a:off x="590550" y="1066644"/>
            <a:ext cx="8385000" cy="934494"/>
            <a:chOff x="666750" y="1065500"/>
            <a:chExt cx="8385000" cy="934494"/>
          </a:xfrm>
        </p:grpSpPr>
        <p:sp>
          <p:nvSpPr>
            <p:cNvPr id="1459" name="Google Shape;1459;p59"/>
            <p:cNvSpPr/>
            <p:nvPr/>
          </p:nvSpPr>
          <p:spPr>
            <a:xfrm>
              <a:off x="666750" y="1065500"/>
              <a:ext cx="8385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IBM Plex Sans"/>
                <a:buNone/>
              </a:pPr>
              <a:r>
                <a:rPr lang="en-GB" sz="1800">
                  <a:solidFill>
                    <a:srgbClr val="11111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Would you be open to opting for debt financing (Vehicle loan)?</a:t>
              </a:r>
              <a:endParaRPr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460" name="Google Shape;1460;p59"/>
            <p:cNvSpPr/>
            <p:nvPr/>
          </p:nvSpPr>
          <p:spPr>
            <a:xfrm>
              <a:off x="666750" y="1560794"/>
              <a:ext cx="6161100" cy="4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050"/>
                <a:buFont typeface="IBM Plex Sans"/>
                <a:buNone/>
              </a:pPr>
              <a:r>
                <a:rPr lang="en-GB" sz="1050">
                  <a:solidFill>
                    <a:srgbClr val="23232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Yes</a:t>
              </a:r>
              <a:endParaRPr sz="10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1461" name="Google Shape;1461;p59"/>
          <p:cNvSpPr txBox="1"/>
          <p:nvPr/>
        </p:nvSpPr>
        <p:spPr>
          <a:xfrm>
            <a:off x="8278650" y="4849600"/>
            <a:ext cx="5427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u="sng">
                <a:solidFill>
                  <a:srgbClr val="0563C1"/>
                </a:solidFill>
                <a:latin typeface="IBM Plex Sans Light"/>
                <a:ea typeface="IBM Plex Sans Light"/>
                <a:cs typeface="IBM Plex Sans Light"/>
                <a:sym typeface="IBM Plex Sans Light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 back</a:t>
            </a:r>
            <a:endParaRPr sz="600"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2372</Words>
  <Application>Microsoft Office PowerPoint</Application>
  <PresentationFormat>On-screen Show (16:9)</PresentationFormat>
  <Paragraphs>553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Calibri</vt:lpstr>
      <vt:lpstr>IBM Plex Sans Light</vt:lpstr>
      <vt:lpstr>IBM Plex Sans Medium</vt:lpstr>
      <vt:lpstr>Arial</vt:lpstr>
      <vt:lpstr>IBM Plex Sans</vt:lpstr>
      <vt:lpstr>DM Sans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Krutang Thakor</cp:lastModifiedBy>
  <cp:revision>3</cp:revision>
  <dcterms:modified xsi:type="dcterms:W3CDTF">2026-04-07T14:41:33Z</dcterms:modified>
</cp:coreProperties>
</file>