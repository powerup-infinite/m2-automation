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62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embeddedFontLst>
    <p:embeddedFont>
      <p:font typeface="DM Sans" pitchFamily="2" charset="0"/>
      <p:regular r:id="rId20"/>
      <p:bold r:id="rId21"/>
      <p:italic r:id="rId22"/>
      <p:boldItalic r:id="rId23"/>
    </p:embeddedFont>
    <p:embeddedFont>
      <p:font typeface="IBM Plex Sans" panose="020B0503050203000203" pitchFamily="34" charset="0"/>
      <p:regular r:id="rId24"/>
      <p:bold r:id="rId25"/>
      <p:italic r:id="rId26"/>
      <p:boldItalic r:id="rId27"/>
    </p:embeddedFont>
    <p:embeddedFont>
      <p:font typeface="IBM Plex Sans Light" panose="020B0403050203000203" pitchFamily="34" charset="0"/>
      <p:regular r:id="rId28"/>
      <p:bold r:id="rId29"/>
      <p:italic r:id="rId30"/>
      <p:boldItalic r:id="rId31"/>
    </p:embeddedFont>
    <p:embeddedFont>
      <p:font typeface="IBM Plex Sans Medium" panose="020B0603050203000203" pitchFamily="3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459D17D-62DC-4A0E-A9B0-A4B277B70E27}">
  <a:tblStyle styleId="{0459D17D-62DC-4A0E-A9B0-A4B277B70E27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018B992-A05E-4D5A-892B-BA135F09D36C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99" d="100"/>
          <a:sy n="199" d="100"/>
        </p:scale>
        <p:origin x="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7.fntdata"/><Relationship Id="rId39" Type="http://schemas.openxmlformats.org/officeDocument/2006/relationships/tableStyles" Target="tableStyles.xml"/><Relationship Id="rId21" Type="http://schemas.openxmlformats.org/officeDocument/2006/relationships/font" Target="fonts/font2.fntdata"/><Relationship Id="rId34" Type="http://schemas.openxmlformats.org/officeDocument/2006/relationships/font" Target="fonts/font1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6.fntdata"/><Relationship Id="rId33" Type="http://schemas.openxmlformats.org/officeDocument/2006/relationships/font" Target="fonts/font14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5.fntdata"/><Relationship Id="rId32" Type="http://schemas.openxmlformats.org/officeDocument/2006/relationships/font" Target="fonts/font13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31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35" Type="http://schemas.openxmlformats.org/officeDocument/2006/relationships/font" Target="fonts/font16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28c8b06cd_1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b28c8b06cd_1_6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Ascend</a:t>
            </a:r>
            <a:r>
              <a:rPr lang="en-GB">
                <a:solidFill>
                  <a:schemeClr val="dk1"/>
                </a:solidFill>
              </a:rPr>
              <a:t> (Very 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Propel</a:t>
            </a:r>
            <a:r>
              <a:rPr lang="en-GB">
                <a:solidFill>
                  <a:schemeClr val="dk1"/>
                </a:solidFill>
              </a:rPr>
              <a:t> (Aggressive)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Core</a:t>
            </a:r>
            <a:r>
              <a:rPr lang="en-GB">
                <a:solidFill>
                  <a:schemeClr val="dk1"/>
                </a:solidFill>
              </a:rPr>
              <a:t> (Balanced)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Secure</a:t>
            </a:r>
            <a:r>
              <a:rPr lang="en-GB">
                <a:solidFill>
                  <a:schemeClr val="dk1"/>
                </a:solidFill>
              </a:rPr>
              <a:t> (Conservative)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>
                <a:solidFill>
                  <a:schemeClr val="dk1"/>
                </a:solidFill>
              </a:rPr>
              <a:t>Infinite Anchor</a:t>
            </a:r>
            <a:r>
              <a:rPr lang="en-GB">
                <a:solidFill>
                  <a:schemeClr val="dk1"/>
                </a:solidFill>
              </a:rPr>
              <a:t> (Very Conservative)</a:t>
            </a:r>
            <a:endParaRPr/>
          </a:p>
        </p:txBody>
      </p:sp>
      <p:sp>
        <p:nvSpPr>
          <p:cNvPr id="59" name="Google Shape;59;g3b28c8b06cd_1_6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f649fb848_0_2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g3cf649fb848_0_2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5ca9e79a8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8" name="Google Shape;118;g3b5ca9e79a8_0_16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Ascend</a:t>
            </a:r>
            <a:r>
              <a:rPr lang="en-GB">
                <a:solidFill>
                  <a:schemeClr val="dk1"/>
                </a:solidFill>
              </a:rPr>
              <a:t> (Very 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Propel</a:t>
            </a:r>
            <a:r>
              <a:rPr lang="en-GB">
                <a:solidFill>
                  <a:schemeClr val="dk1"/>
                </a:solidFill>
              </a:rPr>
              <a:t> (Aggressive)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Core</a:t>
            </a:r>
            <a:r>
              <a:rPr lang="en-GB">
                <a:solidFill>
                  <a:schemeClr val="dk1"/>
                </a:solidFill>
              </a:rPr>
              <a:t> (Balanced)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Secure</a:t>
            </a:r>
            <a:r>
              <a:rPr lang="en-GB">
                <a:solidFill>
                  <a:schemeClr val="dk1"/>
                </a:solidFill>
              </a:rPr>
              <a:t> (Conservative)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>
                <a:solidFill>
                  <a:schemeClr val="dk1"/>
                </a:solidFill>
              </a:rPr>
              <a:t>Infinite Anchor</a:t>
            </a:r>
            <a:r>
              <a:rPr lang="en-GB">
                <a:solidFill>
                  <a:schemeClr val="dk1"/>
                </a:solidFill>
              </a:rPr>
              <a:t> (Very Conservative)</a:t>
            </a:r>
            <a:endParaRPr/>
          </a:p>
        </p:txBody>
      </p:sp>
      <p:sp>
        <p:nvSpPr>
          <p:cNvPr id="119" name="Google Shape;119;g3b5ca9e79a8_0_16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f649fb848_0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5" name="Google Shape;165;g3cf649fb848_0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b7b2889e8e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3" name="Google Shape;183;g3b7b2889e8e_0_11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Ascend</a:t>
            </a:r>
            <a:r>
              <a:rPr lang="en-GB">
                <a:solidFill>
                  <a:schemeClr val="dk1"/>
                </a:solidFill>
              </a:rPr>
              <a:t> (Very 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Propel</a:t>
            </a:r>
            <a:r>
              <a:rPr lang="en-GB">
                <a:solidFill>
                  <a:schemeClr val="dk1"/>
                </a:solidFill>
              </a:rPr>
              <a:t> (Aggressive)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Core</a:t>
            </a:r>
            <a:r>
              <a:rPr lang="en-GB">
                <a:solidFill>
                  <a:schemeClr val="dk1"/>
                </a:solidFill>
              </a:rPr>
              <a:t> (Balanced)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Secure</a:t>
            </a:r>
            <a:r>
              <a:rPr lang="en-GB">
                <a:solidFill>
                  <a:schemeClr val="dk1"/>
                </a:solidFill>
              </a:rPr>
              <a:t> (Conservative)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>
                <a:solidFill>
                  <a:schemeClr val="dk1"/>
                </a:solidFill>
              </a:rPr>
              <a:t>Infinite Anchor</a:t>
            </a:r>
            <a:r>
              <a:rPr lang="en-GB">
                <a:solidFill>
                  <a:schemeClr val="dk1"/>
                </a:solidFill>
              </a:rPr>
              <a:t> (Very Conservative)</a:t>
            </a:r>
            <a:endParaRPr/>
          </a:p>
        </p:txBody>
      </p:sp>
      <p:sp>
        <p:nvSpPr>
          <p:cNvPr id="184" name="Google Shape;184;g3b7b2889e8e_0_11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cf649fb848_0_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1" name="Google Shape;221;g3cf649fb848_0_3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b7b2889e8e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9" name="Google Shape;239;g3b7b2889e8e_0_168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Ascend</a:t>
            </a:r>
            <a:r>
              <a:rPr lang="en-GB">
                <a:solidFill>
                  <a:schemeClr val="dk1"/>
                </a:solidFill>
              </a:rPr>
              <a:t> (Very 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Propel</a:t>
            </a:r>
            <a:r>
              <a:rPr lang="en-GB">
                <a:solidFill>
                  <a:schemeClr val="dk1"/>
                </a:solidFill>
              </a:rPr>
              <a:t> (Aggressive)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Core</a:t>
            </a:r>
            <a:r>
              <a:rPr lang="en-GB">
                <a:solidFill>
                  <a:schemeClr val="dk1"/>
                </a:solidFill>
              </a:rPr>
              <a:t> (Balanced)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Secure</a:t>
            </a:r>
            <a:r>
              <a:rPr lang="en-GB">
                <a:solidFill>
                  <a:schemeClr val="dk1"/>
                </a:solidFill>
              </a:rPr>
              <a:t> (Conservative)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>
                <a:solidFill>
                  <a:schemeClr val="dk1"/>
                </a:solidFill>
              </a:rPr>
              <a:t>Infinite Anchor</a:t>
            </a:r>
            <a:r>
              <a:rPr lang="en-GB">
                <a:solidFill>
                  <a:schemeClr val="dk1"/>
                </a:solidFill>
              </a:rPr>
              <a:t> (Very Conservative)</a:t>
            </a:r>
            <a:endParaRPr/>
          </a:p>
        </p:txBody>
      </p:sp>
      <p:sp>
        <p:nvSpPr>
          <p:cNvPr id="240" name="Google Shape;240;g3b7b2889e8e_0_168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f649fb848_0_4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1" name="Google Shape;281;g3cf649fb848_0_4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7b2889e8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9" name="Google Shape;299;g3b7b2889e8e_0_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Ascend</a:t>
            </a:r>
            <a:r>
              <a:rPr lang="en-GB">
                <a:solidFill>
                  <a:schemeClr val="dk1"/>
                </a:solidFill>
              </a:rPr>
              <a:t> (Very 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Propel</a:t>
            </a:r>
            <a:r>
              <a:rPr lang="en-GB">
                <a:solidFill>
                  <a:schemeClr val="dk1"/>
                </a:solidFill>
              </a:rPr>
              <a:t> (Aggressive)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Core</a:t>
            </a:r>
            <a:r>
              <a:rPr lang="en-GB">
                <a:solidFill>
                  <a:schemeClr val="dk1"/>
                </a:solidFill>
              </a:rPr>
              <a:t> (Balanced)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Secure</a:t>
            </a:r>
            <a:r>
              <a:rPr lang="en-GB">
                <a:solidFill>
                  <a:schemeClr val="dk1"/>
                </a:solidFill>
              </a:rPr>
              <a:t> (Conservative)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>
                <a:solidFill>
                  <a:schemeClr val="dk1"/>
                </a:solidFill>
              </a:rPr>
              <a:t>Infinite Anchor</a:t>
            </a:r>
            <a:r>
              <a:rPr lang="en-GB">
                <a:solidFill>
                  <a:schemeClr val="dk1"/>
                </a:solidFill>
              </a:rPr>
              <a:t> (Very Conservative)</a:t>
            </a:r>
            <a:endParaRPr/>
          </a:p>
        </p:txBody>
      </p:sp>
      <p:sp>
        <p:nvSpPr>
          <p:cNvPr id="300" name="Google Shape;300;g3b7b2889e8e_0_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cf649fb848_0_4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3cf649fb848_0_4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b7b2889e8e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6" name="Google Shape;356;g3b7b2889e8e_0_5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Ascend</a:t>
            </a:r>
            <a:r>
              <a:rPr lang="en-GB">
                <a:solidFill>
                  <a:schemeClr val="dk1"/>
                </a:solidFill>
              </a:rPr>
              <a:t> (Very 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Propel</a:t>
            </a:r>
            <a:r>
              <a:rPr lang="en-GB">
                <a:solidFill>
                  <a:schemeClr val="dk1"/>
                </a:solidFill>
              </a:rPr>
              <a:t> (Aggressive)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Core</a:t>
            </a:r>
            <a:r>
              <a:rPr lang="en-GB">
                <a:solidFill>
                  <a:schemeClr val="dk1"/>
                </a:solidFill>
              </a:rPr>
              <a:t> (Balanced)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Secure</a:t>
            </a:r>
            <a:r>
              <a:rPr lang="en-GB">
                <a:solidFill>
                  <a:schemeClr val="dk1"/>
                </a:solidFill>
              </a:rPr>
              <a:t> (Conservative)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>
                <a:solidFill>
                  <a:schemeClr val="dk1"/>
                </a:solidFill>
              </a:rPr>
              <a:t>Infinite Anchor</a:t>
            </a:r>
            <a:r>
              <a:rPr lang="en-GB">
                <a:solidFill>
                  <a:schemeClr val="dk1"/>
                </a:solidFill>
              </a:rPr>
              <a:t> (Very Conservative)</a:t>
            </a:r>
            <a:endParaRPr/>
          </a:p>
        </p:txBody>
      </p:sp>
      <p:sp>
        <p:nvSpPr>
          <p:cNvPr id="357" name="Google Shape;357;g3b7b2889e8e_0_5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3cf649fb848_0_5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9" name="Google Shape;399;g3cf649fb848_0_5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bfc0975d0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7" name="Google Shape;417;g3bfc0975d09_1_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Ascend</a:t>
            </a:r>
            <a:r>
              <a:rPr lang="en-GB">
                <a:solidFill>
                  <a:schemeClr val="dk1"/>
                </a:solidFill>
              </a:rPr>
              <a:t> (Very 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Propel</a:t>
            </a:r>
            <a:r>
              <a:rPr lang="en-GB">
                <a:solidFill>
                  <a:schemeClr val="dk1"/>
                </a:solidFill>
              </a:rPr>
              <a:t> (Aggressive)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Core</a:t>
            </a:r>
            <a:r>
              <a:rPr lang="en-GB">
                <a:solidFill>
                  <a:schemeClr val="dk1"/>
                </a:solidFill>
              </a:rPr>
              <a:t> (Balanced)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Secure</a:t>
            </a:r>
            <a:r>
              <a:rPr lang="en-GB">
                <a:solidFill>
                  <a:schemeClr val="dk1"/>
                </a:solidFill>
              </a:rPr>
              <a:t> (Conservative)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>
                <a:solidFill>
                  <a:schemeClr val="dk1"/>
                </a:solidFill>
              </a:rPr>
              <a:t>Infinite Anchor</a:t>
            </a:r>
            <a:r>
              <a:rPr lang="en-GB">
                <a:solidFill>
                  <a:schemeClr val="dk1"/>
                </a:solidFill>
              </a:rPr>
              <a:t> (Very Conservative)</a:t>
            </a:r>
            <a:endParaRPr/>
          </a:p>
        </p:txBody>
      </p:sp>
      <p:sp>
        <p:nvSpPr>
          <p:cNvPr id="418" name="Google Shape;418;g3bfc0975d09_1_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f649fb848_0_5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4" name="Google Shape;454;g3cf649fb848_0_5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bfc0975d09_1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2" name="Google Shape;472;g3bfc0975d09_1_55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Ascend</a:t>
            </a:r>
            <a:r>
              <a:rPr lang="en-GB">
                <a:solidFill>
                  <a:schemeClr val="dk1"/>
                </a:solidFill>
              </a:rPr>
              <a:t> (Very 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Propel</a:t>
            </a:r>
            <a:r>
              <a:rPr lang="en-GB">
                <a:solidFill>
                  <a:schemeClr val="dk1"/>
                </a:solidFill>
              </a:rPr>
              <a:t> (Aggressive)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Core</a:t>
            </a:r>
            <a:r>
              <a:rPr lang="en-GB">
                <a:solidFill>
                  <a:schemeClr val="dk1"/>
                </a:solidFill>
              </a:rPr>
              <a:t> (Balanced)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b="1">
                <a:solidFill>
                  <a:schemeClr val="dk1"/>
                </a:solidFill>
              </a:rPr>
              <a:t>Infinite Secure</a:t>
            </a:r>
            <a:r>
              <a:rPr lang="en-GB">
                <a:solidFill>
                  <a:schemeClr val="dk1"/>
                </a:solidFill>
              </a:rPr>
              <a:t> (Conservative)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GB" b="1">
                <a:solidFill>
                  <a:schemeClr val="dk1"/>
                </a:solidFill>
              </a:rPr>
              <a:t>Infinite Anchor</a:t>
            </a:r>
            <a:r>
              <a:rPr lang="en-GB">
                <a:solidFill>
                  <a:schemeClr val="dk1"/>
                </a:solidFill>
              </a:rPr>
              <a:t> (Very Conservative)</a:t>
            </a:r>
            <a:endParaRPr/>
          </a:p>
        </p:txBody>
      </p:sp>
      <p:sp>
        <p:nvSpPr>
          <p:cNvPr id="473" name="Google Shape;473;g3bfc0975d09_1_55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3cf649fb848_0_5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3" name="Google Shape;513;g3cf649fb848_0_5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/>
          <p:nvPr/>
        </p:nvSpPr>
        <p:spPr>
          <a:xfrm>
            <a:off x="476250" y="1113693"/>
            <a:ext cx="8481300" cy="3552900"/>
          </a:xfrm>
          <a:prstGeom prst="roundRect">
            <a:avLst>
              <a:gd name="adj" fmla="val 7721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391" y="1517736"/>
            <a:ext cx="4457400" cy="2756163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6"/>
          <p:cNvSpPr/>
          <p:nvPr/>
        </p:nvSpPr>
        <p:spPr>
          <a:xfrm>
            <a:off x="476250" y="476250"/>
            <a:ext cx="3205200" cy="490500"/>
          </a:xfrm>
          <a:prstGeom prst="roundRect">
            <a:avLst>
              <a:gd name="adj" fmla="val 44738"/>
            </a:avLst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6"/>
          <p:cNvSpPr/>
          <p:nvPr/>
        </p:nvSpPr>
        <p:spPr>
          <a:xfrm>
            <a:off x="714375" y="4148137"/>
            <a:ext cx="147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6"/>
          <p:cNvSpPr/>
          <p:nvPr/>
        </p:nvSpPr>
        <p:spPr>
          <a:xfrm>
            <a:off x="6962775" y="320862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6"/>
          <p:cNvSpPr/>
          <p:nvPr/>
        </p:nvSpPr>
        <p:spPr>
          <a:xfrm>
            <a:off x="549519" y="628650"/>
            <a:ext cx="3357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Recommended Portfolio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6"/>
          <p:cNvSpPr/>
          <p:nvPr/>
        </p:nvSpPr>
        <p:spPr>
          <a:xfrm>
            <a:off x="714375" y="1925850"/>
            <a:ext cx="3857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215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Very Aggressive L1</a:t>
            </a:r>
            <a:endParaRPr sz="2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6"/>
          <p:cNvSpPr/>
          <p:nvPr/>
        </p:nvSpPr>
        <p:spPr>
          <a:xfrm>
            <a:off x="714375" y="2313050"/>
            <a:ext cx="33576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high-conviction, growth-oriented portfolio designed to maximise long-term wealth creation</a:t>
            </a:r>
            <a:endParaRPr sz="1125">
              <a:solidFill>
                <a:srgbClr val="93939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9" name="Google Shape;69;p16"/>
          <p:cNvSpPr/>
          <p:nvPr/>
        </p:nvSpPr>
        <p:spPr>
          <a:xfrm>
            <a:off x="735400" y="3215785"/>
            <a:ext cx="19335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{{main_goal}}</a:t>
            </a:r>
            <a:b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{{secondary_goal}}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735390" y="3070562"/>
            <a:ext cx="1933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 Coverage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2349878" y="3070447"/>
            <a:ext cx="1195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Risk Profile Fit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2349878" y="3296710"/>
            <a:ext cx="11955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4823107" y="2773438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6810325" y="3297369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6810375" y="22621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6810325" y="22621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810325" y="25710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6"/>
          <p:cNvSpPr/>
          <p:nvPr/>
        </p:nvSpPr>
        <p:spPr>
          <a:xfrm>
            <a:off x="6831175" y="25710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/>
          <p:nvPr/>
        </p:nvSpPr>
        <p:spPr>
          <a:xfrm>
            <a:off x="6831175" y="27672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6831175" y="29634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6865088" y="29634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6865088" y="27672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6"/>
          <p:cNvSpPr/>
          <p:nvPr/>
        </p:nvSpPr>
        <p:spPr>
          <a:xfrm>
            <a:off x="6865088" y="25710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6810325" y="22621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7015976" y="29681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7983198" y="29681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6991300" y="27719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7983198" y="27719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6991300" y="25757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7983198" y="25757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6978775" y="22703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7899102" y="22703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6816264" y="3262205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6"/>
          <p:cNvSpPr/>
          <p:nvPr/>
        </p:nvSpPr>
        <p:spPr>
          <a:xfrm>
            <a:off x="6810325" y="333686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6"/>
          <p:cNvSpPr/>
          <p:nvPr/>
        </p:nvSpPr>
        <p:spPr>
          <a:xfrm>
            <a:off x="7054975" y="3333844"/>
            <a:ext cx="1163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7887798" y="3333849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6816264" y="3620429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156875" y="747200"/>
            <a:ext cx="8640000" cy="2310000"/>
          </a:xfrm>
          <a:prstGeom prst="roundRect">
            <a:avLst>
              <a:gd name="adj" fmla="val 5327"/>
            </a:avLst>
          </a:prstGeom>
          <a:solidFill>
            <a:srgbClr val="F0F4F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17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084" y="868729"/>
            <a:ext cx="4191750" cy="2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201075" y="13495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of our recommended portfolio (Infinite Very Aggressive L1)</a:t>
            </a:r>
            <a:endParaRPr sz="18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10845800" y="2692400"/>
            <a:ext cx="5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81350" y="4827108"/>
            <a:ext cx="864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**Downside Capture = (Fund return during down markets ÷ Benchmark return during down markets) × 100 | *** 1M 3M and 6M returns are absolute, while 1Y 2Y 3Y and Since 2021 are annualized | Past performance may not be indicative of future results; returns are subject to market risks.</a:t>
            </a:r>
            <a:endParaRPr sz="650" b="0" i="0" u="none" strike="noStrike" cap="none">
              <a:solidFill>
                <a:srgbClr val="0000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107" name="Google Shape;107;p17"/>
          <p:cNvCxnSpPr/>
          <p:nvPr/>
        </p:nvCxnSpPr>
        <p:spPr>
          <a:xfrm>
            <a:off x="625425" y="933625"/>
            <a:ext cx="0" cy="162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" name="Google Shape;108;p17"/>
          <p:cNvCxnSpPr/>
          <p:nvPr/>
        </p:nvCxnSpPr>
        <p:spPr>
          <a:xfrm>
            <a:off x="625425" y="2560068"/>
            <a:ext cx="37335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17"/>
          <p:cNvSpPr txBox="1"/>
          <p:nvPr/>
        </p:nvSpPr>
        <p:spPr>
          <a:xfrm>
            <a:off x="744173" y="933616"/>
            <a:ext cx="777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Benchmark (Nifty 500)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1523623" y="972975"/>
            <a:ext cx="777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Infinite - VA L1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1456223" y="1067775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17"/>
          <p:cNvSpPr/>
          <p:nvPr/>
        </p:nvSpPr>
        <p:spPr>
          <a:xfrm>
            <a:off x="684348" y="1067775"/>
            <a:ext cx="88800" cy="87300"/>
          </a:xfrm>
          <a:prstGeom prst="ellipse">
            <a:avLst/>
          </a:prstGeom>
          <a:solidFill>
            <a:srgbClr val="2E8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13" name="Google Shape;113;p17"/>
          <p:cNvGraphicFramePr/>
          <p:nvPr/>
        </p:nvGraphicFramePr>
        <p:xfrm>
          <a:off x="349675" y="3229167"/>
          <a:ext cx="8223800" cy="1421800"/>
        </p:xfrm>
        <a:graphic>
          <a:graphicData uri="http://schemas.openxmlformats.org/drawingml/2006/table">
            <a:tbl>
              <a:tblPr>
                <a:noFill/>
                <a:tableStyleId>{0459D17D-62DC-4A0E-A9B0-A4B277B70E27}</a:tableStyleId>
              </a:tblPr>
              <a:tblGrid>
                <a:gridCol w="1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Trailing Return*** 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(as on 10th Mar 2026)</a:t>
                      </a:r>
                      <a:endParaRPr sz="8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2021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VA L1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0.94%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-3.40%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-0.09%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17.73%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8.74%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20.43%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20.23%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(Nifty 500)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2.53%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-3.04%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2.27%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17.62%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7.72%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17.56%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15.54%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-1.59%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-0.35%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-2.36%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0.11%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1.03%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2.87%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4.69%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14" name="Google Shape;114;p17"/>
          <p:cNvGraphicFramePr/>
          <p:nvPr/>
        </p:nvGraphicFramePr>
        <p:xfrm>
          <a:off x="4628682" y="898101"/>
          <a:ext cx="3885525" cy="2021584"/>
        </p:xfrm>
        <a:graphic>
          <a:graphicData uri="http://schemas.openxmlformats.org/drawingml/2006/table">
            <a:tbl>
              <a:tblPr>
                <a:noFill/>
                <a:tableStyleId>{1018B992-A05E-4D5A-892B-BA135F09D36C}</a:tableStyleId>
              </a:tblPr>
              <a:tblGrid>
                <a:gridCol w="131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 1Y Avg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 L1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 (Nifty 500)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17.62%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14.77%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2.85%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19.87%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15.93%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3.94%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21.25%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16.97%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4.27%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Downside Capture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90.18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5" name="Google Shape;115;p17"/>
          <p:cNvSpPr txBox="1"/>
          <p:nvPr/>
        </p:nvSpPr>
        <p:spPr>
          <a:xfrm>
            <a:off x="3386629" y="952824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3Y XIRR trend</a:t>
            </a:r>
            <a:endParaRPr sz="9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391" y="1517736"/>
            <a:ext cx="4457400" cy="2756163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/>
          <p:nvPr/>
        </p:nvSpPr>
        <p:spPr>
          <a:xfrm>
            <a:off x="476250" y="485864"/>
            <a:ext cx="3205200" cy="490500"/>
          </a:xfrm>
          <a:prstGeom prst="roundRect">
            <a:avLst>
              <a:gd name="adj" fmla="val 44738"/>
            </a:avLst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8"/>
          <p:cNvSpPr/>
          <p:nvPr/>
        </p:nvSpPr>
        <p:spPr>
          <a:xfrm>
            <a:off x="714375" y="4148137"/>
            <a:ext cx="147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6962775" y="320862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8"/>
          <p:cNvSpPr/>
          <p:nvPr/>
        </p:nvSpPr>
        <p:spPr>
          <a:xfrm>
            <a:off x="549519" y="628650"/>
            <a:ext cx="3357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Recommended Portfolio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714375" y="1925850"/>
            <a:ext cx="3857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215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Very Aggressive S1</a:t>
            </a:r>
            <a:endParaRPr sz="21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714375" y="2313050"/>
            <a:ext cx="33576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high-conviction, growth-oriented portfolio designed to maximise long-term wealth creation</a:t>
            </a:r>
            <a:endParaRPr sz="1125">
              <a:solidFill>
                <a:srgbClr val="93939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735400" y="3215785"/>
            <a:ext cx="19335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Wealth Growth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735390" y="3070562"/>
            <a:ext cx="1933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 Coverage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2349878" y="3070447"/>
            <a:ext cx="1195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Risk Profile Fit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8"/>
          <p:cNvSpPr/>
          <p:nvPr/>
        </p:nvSpPr>
        <p:spPr>
          <a:xfrm>
            <a:off x="2349878" y="3296710"/>
            <a:ext cx="11955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4823107" y="2773438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6810325" y="3297369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6810375" y="22621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6810325" y="22621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6810325" y="25710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6831175" y="25710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6831175" y="27672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6831175" y="29634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6865088" y="29634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6865088" y="27672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6865088" y="25710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6810325" y="22621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7015976" y="29681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7983198" y="29681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6991300" y="27719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7983198" y="27719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6991300" y="25757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7983198" y="25757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6978775" y="22703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7899102" y="22703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90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6816264" y="3262205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6810325" y="333686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7054975" y="3333844"/>
            <a:ext cx="1163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7887798" y="3333849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6816264" y="3620429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7" name="Google Shape;157;p18"/>
          <p:cNvGrpSpPr/>
          <p:nvPr/>
        </p:nvGrpSpPr>
        <p:grpSpPr>
          <a:xfrm>
            <a:off x="6814207" y="3592276"/>
            <a:ext cx="1916218" cy="132339"/>
            <a:chOff x="6897829" y="3260666"/>
            <a:chExt cx="1916218" cy="132339"/>
          </a:xfrm>
        </p:grpSpPr>
        <p:sp>
          <p:nvSpPr>
            <p:cNvPr id="158" name="Google Shape;158;p18"/>
            <p:cNvSpPr/>
            <p:nvPr/>
          </p:nvSpPr>
          <p:spPr>
            <a:xfrm>
              <a:off x="6897829" y="3260666"/>
              <a:ext cx="130800" cy="130800"/>
            </a:xfrm>
            <a:prstGeom prst="roundRect">
              <a:avLst>
                <a:gd name="adj" fmla="val 16667"/>
              </a:avLst>
            </a:prstGeom>
            <a:solidFill>
              <a:srgbClr val="F7CB8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9" name="Google Shape;159;p18"/>
            <p:cNvGrpSpPr/>
            <p:nvPr/>
          </p:nvGrpSpPr>
          <p:grpSpPr>
            <a:xfrm>
              <a:off x="6903768" y="3262205"/>
              <a:ext cx="1910279" cy="130800"/>
              <a:chOff x="6903768" y="3338405"/>
              <a:chExt cx="1910279" cy="130800"/>
            </a:xfrm>
          </p:grpSpPr>
          <p:sp>
            <p:nvSpPr>
              <p:cNvPr id="160" name="Google Shape;160;p18"/>
              <p:cNvSpPr/>
              <p:nvPr/>
            </p:nvSpPr>
            <p:spPr>
              <a:xfrm>
                <a:off x="6903768" y="3338405"/>
                <a:ext cx="1116600" cy="130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8"/>
              <p:cNvSpPr/>
              <p:nvPr/>
            </p:nvSpPr>
            <p:spPr>
              <a:xfrm>
                <a:off x="7142479" y="3345050"/>
                <a:ext cx="11631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32323"/>
                  </a:buClr>
                  <a:buSzPts val="1310"/>
                  <a:buFont typeface="IBM Plex Sans"/>
                  <a:buNone/>
                </a:pPr>
                <a:r>
                  <a:rPr lang="en-GB" sz="1310">
                    <a:solidFill>
                      <a:srgbClr val="232323"/>
                    </a:solidFill>
                    <a:latin typeface="IBM Plex Sans"/>
                    <a:ea typeface="IBM Plex Sans"/>
                    <a:cs typeface="IBM Plex Sans"/>
                    <a:sym typeface="IBM Plex Sans"/>
                  </a:rPr>
                  <a:t>Gold</a:t>
                </a:r>
                <a:endParaRPr sz="131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2" name="Google Shape;162;p18"/>
              <p:cNvSpPr/>
              <p:nvPr/>
            </p:nvSpPr>
            <p:spPr>
              <a:xfrm>
                <a:off x="7999547" y="3345055"/>
                <a:ext cx="814500" cy="11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rtl="0">
                  <a:lnSpc>
                    <a:spcPct val="139923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32323"/>
                  </a:buClr>
                  <a:buSzPts val="1310"/>
                  <a:buFont typeface="IBM Plex Sans"/>
                  <a:buNone/>
                </a:pPr>
                <a:r>
                  <a:rPr lang="en-GB" sz="1310">
                    <a:solidFill>
                      <a:srgbClr val="232323"/>
                    </a:solidFill>
                    <a:latin typeface="IBM Plex Sans Medium"/>
                    <a:ea typeface="IBM Plex Sans Medium"/>
                    <a:cs typeface="IBM Plex Sans Medium"/>
                    <a:sym typeface="IBM Plex Sans Medium"/>
                  </a:rPr>
                  <a:t>5</a:t>
                </a:r>
                <a:r>
                  <a:rPr lang="en-GB" sz="1310" i="0" u="none" strike="noStrike" cap="none">
                    <a:solidFill>
                      <a:srgbClr val="232323"/>
                    </a:solidFill>
                    <a:latin typeface="IBM Plex Sans Medium"/>
                    <a:ea typeface="IBM Plex Sans Medium"/>
                    <a:cs typeface="IBM Plex Sans Medium"/>
                    <a:sym typeface="IBM Plex Sans Medium"/>
                  </a:rPr>
                  <a:t>%</a:t>
                </a:r>
                <a:endParaRPr sz="1310" i="0" u="none" strike="noStrike" cap="none">
                  <a:solidFill>
                    <a:srgbClr val="000000"/>
                  </a:solidFill>
                  <a:latin typeface="IBM Plex Sans Medium"/>
                  <a:ea typeface="IBM Plex Sans Medium"/>
                  <a:cs typeface="IBM Plex Sans Medium"/>
                  <a:sym typeface="IBM Plex Sans Medium"/>
                </a:endParaRPr>
              </a:p>
            </p:txBody>
          </p:sp>
        </p:grpSp>
      </p:grpSp>
      <p:sp>
        <p:nvSpPr>
          <p:cNvPr id="2" name="Google Shape;61;p16">
            <a:extLst>
              <a:ext uri="{FF2B5EF4-FFF2-40B4-BE49-F238E27FC236}">
                <a16:creationId xmlns:a16="http://schemas.microsoft.com/office/drawing/2014/main" id="{AD5C5B35-A94E-D191-5903-B2CE9D51DB6B}"/>
              </a:ext>
            </a:extLst>
          </p:cNvPr>
          <p:cNvSpPr/>
          <p:nvPr/>
        </p:nvSpPr>
        <p:spPr>
          <a:xfrm>
            <a:off x="476250" y="1113693"/>
            <a:ext cx="8481300" cy="3552900"/>
          </a:xfrm>
          <a:prstGeom prst="roundRect">
            <a:avLst>
              <a:gd name="adj" fmla="val 7721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9"/>
          <p:cNvSpPr/>
          <p:nvPr/>
        </p:nvSpPr>
        <p:spPr>
          <a:xfrm>
            <a:off x="156875" y="747200"/>
            <a:ext cx="8640000" cy="2310000"/>
          </a:xfrm>
          <a:prstGeom prst="roundRect">
            <a:avLst>
              <a:gd name="adj" fmla="val 5327"/>
            </a:avLst>
          </a:prstGeom>
          <a:solidFill>
            <a:srgbClr val="F0F4F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19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6084" y="868729"/>
            <a:ext cx="4191750" cy="2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9"/>
          <p:cNvSpPr txBox="1"/>
          <p:nvPr/>
        </p:nvSpPr>
        <p:spPr>
          <a:xfrm>
            <a:off x="201075" y="13495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of our recommended portfolio (Infinite Very Aggressive S1)</a:t>
            </a:r>
            <a:endParaRPr sz="18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70" name="Google Shape;170;p19"/>
          <p:cNvSpPr txBox="1"/>
          <p:nvPr/>
        </p:nvSpPr>
        <p:spPr>
          <a:xfrm>
            <a:off x="10845800" y="2692400"/>
            <a:ext cx="5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 txBox="1"/>
          <p:nvPr/>
        </p:nvSpPr>
        <p:spPr>
          <a:xfrm>
            <a:off x="81350" y="4827108"/>
            <a:ext cx="864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**Downside Capture = (Fund return during down markets ÷ Benchmark return during down markets) × 100 | *** 1M 3M and 6M returns are absolute, while 1Y 2Y 3Y and Since 2021 are annualized | Past performance may not be indicative of future results; returns are subject to market risks.</a:t>
            </a:r>
            <a:endParaRPr sz="650" b="0" i="0" u="none" strike="noStrike" cap="none">
              <a:solidFill>
                <a:srgbClr val="0000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172" name="Google Shape;172;p19"/>
          <p:cNvCxnSpPr/>
          <p:nvPr/>
        </p:nvCxnSpPr>
        <p:spPr>
          <a:xfrm>
            <a:off x="625425" y="933625"/>
            <a:ext cx="0" cy="162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73" name="Google Shape;173;p19"/>
          <p:cNvCxnSpPr/>
          <p:nvPr/>
        </p:nvCxnSpPr>
        <p:spPr>
          <a:xfrm>
            <a:off x="625425" y="2560068"/>
            <a:ext cx="37335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4" name="Google Shape;174;p19"/>
          <p:cNvSpPr txBox="1"/>
          <p:nvPr/>
        </p:nvSpPr>
        <p:spPr>
          <a:xfrm>
            <a:off x="744173" y="933616"/>
            <a:ext cx="777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Benchmark (Nifty 500)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1523623" y="972975"/>
            <a:ext cx="7779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Infinite - VA S1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1456223" y="1067775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84348" y="1067775"/>
            <a:ext cx="88800" cy="87300"/>
          </a:xfrm>
          <a:prstGeom prst="ellipse">
            <a:avLst/>
          </a:prstGeom>
          <a:solidFill>
            <a:srgbClr val="2E8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78" name="Google Shape;178;p19"/>
          <p:cNvGraphicFramePr/>
          <p:nvPr/>
        </p:nvGraphicFramePr>
        <p:xfrm>
          <a:off x="349675" y="3229167"/>
          <a:ext cx="8223800" cy="1421800"/>
        </p:xfrm>
        <a:graphic>
          <a:graphicData uri="http://schemas.openxmlformats.org/drawingml/2006/table">
            <a:tbl>
              <a:tblPr>
                <a:noFill/>
                <a:tableStyleId>{0459D17D-62DC-4A0E-A9B0-A4B277B70E27}</a:tableStyleId>
              </a:tblPr>
              <a:tblGrid>
                <a:gridCol w="1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Trailing Return*** 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(as on 10th Mar 2026)</a:t>
                      </a:r>
                      <a:endParaRPr sz="8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2021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VA S1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0.86%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-2.95%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0.64%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18.82%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9.43%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20.86%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20.37%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(Nifty 500)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2.53%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-3.04%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2.27%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17.62%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7.72%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17.56%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15.54%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-1.67%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0.09%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-1.63%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1.19%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1.71%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3.30%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4.83%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9" name="Google Shape;179;p19"/>
          <p:cNvGraphicFramePr/>
          <p:nvPr/>
        </p:nvGraphicFramePr>
        <p:xfrm>
          <a:off x="4628682" y="898101"/>
          <a:ext cx="3885525" cy="2021584"/>
        </p:xfrm>
        <a:graphic>
          <a:graphicData uri="http://schemas.openxmlformats.org/drawingml/2006/table">
            <a:tbl>
              <a:tblPr>
                <a:noFill/>
                <a:tableStyleId>{1018B992-A05E-4D5A-892B-BA135F09D36C}</a:tableStyleId>
              </a:tblPr>
              <a:tblGrid>
                <a:gridCol w="131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 1Y Avg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VA S1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 (Nifty 500)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17.94%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14.77%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3.17%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20.03%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15.93%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4.10%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21.33%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16.97%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4.35%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Downside Capture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88.65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80" name="Google Shape;180;p19"/>
          <p:cNvSpPr txBox="1"/>
          <p:nvPr/>
        </p:nvSpPr>
        <p:spPr>
          <a:xfrm>
            <a:off x="3386629" y="952824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3Y XIRR trend</a:t>
            </a:r>
            <a:endParaRPr sz="9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0"/>
          <p:cNvSpPr/>
          <p:nvPr/>
        </p:nvSpPr>
        <p:spPr>
          <a:xfrm>
            <a:off x="428700" y="1136406"/>
            <a:ext cx="8481300" cy="3552900"/>
          </a:xfrm>
          <a:prstGeom prst="roundRect">
            <a:avLst>
              <a:gd name="adj" fmla="val 7721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714375" y="4148137"/>
            <a:ext cx="147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0"/>
          <p:cNvSpPr/>
          <p:nvPr/>
        </p:nvSpPr>
        <p:spPr>
          <a:xfrm>
            <a:off x="714375" y="1925850"/>
            <a:ext cx="2948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22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Aggressive- L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714375" y="2313050"/>
            <a:ext cx="3308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Designed for strong capital appreciation while managing risk through disciplined allocation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35390" y="3070562"/>
            <a:ext cx="1933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 Coverage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735400" y="3200941"/>
            <a:ext cx="19335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Financial Freedom</a:t>
            </a:r>
            <a:endParaRPr sz="12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Vacation &amp; 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Lifestyle Expense</a:t>
            </a:r>
            <a:endParaRPr sz="12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6968714" y="3336422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4833810" y="2789642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6810325" y="338477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6810375" y="22621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6810325" y="22621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20"/>
          <p:cNvSpPr/>
          <p:nvPr/>
        </p:nvSpPr>
        <p:spPr>
          <a:xfrm>
            <a:off x="6810325" y="25710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0"/>
          <p:cNvSpPr/>
          <p:nvPr/>
        </p:nvSpPr>
        <p:spPr>
          <a:xfrm>
            <a:off x="6831175" y="25710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6831175" y="27672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20"/>
          <p:cNvSpPr/>
          <p:nvPr/>
        </p:nvSpPr>
        <p:spPr>
          <a:xfrm>
            <a:off x="6831175" y="29634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0"/>
          <p:cNvSpPr/>
          <p:nvPr/>
        </p:nvSpPr>
        <p:spPr>
          <a:xfrm>
            <a:off x="6865088" y="29634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0"/>
          <p:cNvSpPr/>
          <p:nvPr/>
        </p:nvSpPr>
        <p:spPr>
          <a:xfrm>
            <a:off x="6865088" y="27672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0"/>
          <p:cNvSpPr/>
          <p:nvPr/>
        </p:nvSpPr>
        <p:spPr>
          <a:xfrm>
            <a:off x="6865088" y="25710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0"/>
          <p:cNvSpPr/>
          <p:nvPr/>
        </p:nvSpPr>
        <p:spPr>
          <a:xfrm>
            <a:off x="6810325" y="22621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20"/>
          <p:cNvSpPr/>
          <p:nvPr/>
        </p:nvSpPr>
        <p:spPr>
          <a:xfrm>
            <a:off x="6810325" y="3384775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7015976" y="29681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7983198" y="29681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6991300" y="27719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0"/>
          <p:cNvSpPr/>
          <p:nvPr/>
        </p:nvSpPr>
        <p:spPr>
          <a:xfrm>
            <a:off x="7983198" y="27719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10" name="Google Shape;210;p20"/>
          <p:cNvSpPr/>
          <p:nvPr/>
        </p:nvSpPr>
        <p:spPr>
          <a:xfrm>
            <a:off x="6991300" y="25757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1" name="Google Shape;211;p20"/>
          <p:cNvSpPr/>
          <p:nvPr/>
        </p:nvSpPr>
        <p:spPr>
          <a:xfrm>
            <a:off x="7983198" y="25757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12" name="Google Shape;212;p20"/>
          <p:cNvSpPr/>
          <p:nvPr/>
        </p:nvSpPr>
        <p:spPr>
          <a:xfrm>
            <a:off x="6978775" y="22703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13" name="Google Shape;213;p20"/>
          <p:cNvSpPr/>
          <p:nvPr/>
        </p:nvSpPr>
        <p:spPr>
          <a:xfrm>
            <a:off x="7899102" y="22703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80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14" name="Google Shape;214;p20"/>
          <p:cNvSpPr/>
          <p:nvPr/>
        </p:nvSpPr>
        <p:spPr>
          <a:xfrm>
            <a:off x="7054975" y="3392975"/>
            <a:ext cx="11166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7975056" y="3392964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216" name="Google Shape;216;p2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391" y="1517736"/>
            <a:ext cx="4457400" cy="2756163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0"/>
          <p:cNvSpPr/>
          <p:nvPr/>
        </p:nvSpPr>
        <p:spPr>
          <a:xfrm>
            <a:off x="476250" y="476250"/>
            <a:ext cx="3546600" cy="490500"/>
          </a:xfrm>
          <a:prstGeom prst="roundRect">
            <a:avLst>
              <a:gd name="adj" fmla="val 44738"/>
            </a:avLst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0"/>
          <p:cNvSpPr/>
          <p:nvPr/>
        </p:nvSpPr>
        <p:spPr>
          <a:xfrm>
            <a:off x="549519" y="628650"/>
            <a:ext cx="3357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Recommended</a:t>
            </a:r>
            <a:r>
              <a:rPr lang="en-GB" sz="2100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: Lumpsum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1"/>
          <p:cNvSpPr/>
          <p:nvPr/>
        </p:nvSpPr>
        <p:spPr>
          <a:xfrm>
            <a:off x="156875" y="747200"/>
            <a:ext cx="8640000" cy="2310000"/>
          </a:xfrm>
          <a:prstGeom prst="roundRect">
            <a:avLst>
              <a:gd name="adj" fmla="val 5327"/>
            </a:avLst>
          </a:prstGeom>
          <a:solidFill>
            <a:srgbClr val="F0F4F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1"/>
          <p:cNvSpPr txBox="1"/>
          <p:nvPr/>
        </p:nvSpPr>
        <p:spPr>
          <a:xfrm>
            <a:off x="201075" y="13495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of our recommended portfolio (Infinite Aggressive- L)</a:t>
            </a:r>
            <a:endParaRPr sz="18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10845800" y="2692400"/>
            <a:ext cx="5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1"/>
          <p:cNvSpPr txBox="1"/>
          <p:nvPr/>
        </p:nvSpPr>
        <p:spPr>
          <a:xfrm>
            <a:off x="81350" y="4827108"/>
            <a:ext cx="864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**Downside Capture = (Fund return during down markets ÷ Benchmark return during down markets) × 100 | *** 1M 3M and 6M returns are absolute, while 1Y 2Y 3Y and Since 2021 are annualized | Past performance may not be indicative of future results; returns are subject to market risks.</a:t>
            </a:r>
            <a:endParaRPr sz="650" b="0" i="0" u="none" strike="noStrike" cap="none">
              <a:solidFill>
                <a:srgbClr val="0000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227" name="Google Shape;227;p21"/>
          <p:cNvCxnSpPr/>
          <p:nvPr/>
        </p:nvCxnSpPr>
        <p:spPr>
          <a:xfrm>
            <a:off x="625425" y="933625"/>
            <a:ext cx="0" cy="162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8" name="Google Shape;228;p21"/>
          <p:cNvCxnSpPr/>
          <p:nvPr/>
        </p:nvCxnSpPr>
        <p:spPr>
          <a:xfrm>
            <a:off x="625425" y="2560068"/>
            <a:ext cx="37335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9" name="Google Shape;229;p21"/>
          <p:cNvSpPr txBox="1"/>
          <p:nvPr/>
        </p:nvSpPr>
        <p:spPr>
          <a:xfrm>
            <a:off x="744173" y="933616"/>
            <a:ext cx="777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Benchmark (Nifty 500)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1"/>
          <p:cNvSpPr txBox="1"/>
          <p:nvPr/>
        </p:nvSpPr>
        <p:spPr>
          <a:xfrm>
            <a:off x="1523626" y="972975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Infinite Aggressive-L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1456223" y="1067775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84348" y="1067775"/>
            <a:ext cx="88800" cy="87300"/>
          </a:xfrm>
          <a:prstGeom prst="ellipse">
            <a:avLst/>
          </a:prstGeom>
          <a:solidFill>
            <a:srgbClr val="2E8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33" name="Google Shape;233;p21"/>
          <p:cNvGraphicFramePr/>
          <p:nvPr/>
        </p:nvGraphicFramePr>
        <p:xfrm>
          <a:off x="349675" y="3229167"/>
          <a:ext cx="8223800" cy="1421800"/>
        </p:xfrm>
        <a:graphic>
          <a:graphicData uri="http://schemas.openxmlformats.org/drawingml/2006/table">
            <a:tbl>
              <a:tblPr>
                <a:noFill/>
                <a:tableStyleId>{0459D17D-62DC-4A0E-A9B0-A4B277B70E27}</a:tableStyleId>
              </a:tblPr>
              <a:tblGrid>
                <a:gridCol w="1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Trailing Return*** 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(as on 10th Mar 2026)</a:t>
                      </a:r>
                      <a:endParaRPr sz="8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2021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Aggressive-L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0.85%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-3.19%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17.39%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8.67%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19.90%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19.41%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(Nifty 500)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2.53%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-3.04%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2.27%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17.62%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7.72%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17.56%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15.54%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-1.68%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-0.15%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-2.00%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-0.23%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0.95%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2.34%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3.87%</a:t>
                      </a:r>
                      <a:endParaRPr sz="1000" b="1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34" name="Google Shape;234;p21"/>
          <p:cNvGraphicFramePr/>
          <p:nvPr/>
        </p:nvGraphicFramePr>
        <p:xfrm>
          <a:off x="4628682" y="898101"/>
          <a:ext cx="3885525" cy="2123622"/>
        </p:xfrm>
        <a:graphic>
          <a:graphicData uri="http://schemas.openxmlformats.org/drawingml/2006/table">
            <a:tbl>
              <a:tblPr>
                <a:noFill/>
                <a:tableStyleId>{1018B992-A05E-4D5A-892B-BA135F09D36C}</a:tableStyleId>
              </a:tblPr>
              <a:tblGrid>
                <a:gridCol w="11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 1Y Avg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Aggressive- L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 (Nifty 500)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17.19%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14.77%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2.42%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19.17%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15.93%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3.24%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20.36%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16.97%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3.39%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Downside Capture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87.31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5" name="Google Shape;235;p21"/>
          <p:cNvSpPr txBox="1"/>
          <p:nvPr/>
        </p:nvSpPr>
        <p:spPr>
          <a:xfrm>
            <a:off x="3386629" y="952824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3Y XIRR trend</a:t>
            </a:r>
            <a:endParaRPr sz="9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236" name="Google Shape;236;p21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525" y="853266"/>
            <a:ext cx="4191750" cy="20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2"/>
          <p:cNvSpPr/>
          <p:nvPr/>
        </p:nvSpPr>
        <p:spPr>
          <a:xfrm>
            <a:off x="428700" y="1136406"/>
            <a:ext cx="8481300" cy="3552900"/>
          </a:xfrm>
          <a:prstGeom prst="roundRect">
            <a:avLst>
              <a:gd name="adj" fmla="val 7721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2"/>
          <p:cNvSpPr/>
          <p:nvPr/>
        </p:nvSpPr>
        <p:spPr>
          <a:xfrm>
            <a:off x="714375" y="4148137"/>
            <a:ext cx="147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714375" y="1925850"/>
            <a:ext cx="2846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22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Aggressive-S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714375" y="2313050"/>
            <a:ext cx="33084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Designed for strong capital appreciation while managing risk through disciplined allocation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735390" y="3070562"/>
            <a:ext cx="1933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 Coverage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735400" y="3200941"/>
            <a:ext cx="19335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Financial Freedom</a:t>
            </a:r>
            <a:endParaRPr sz="12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Vacation &amp; 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Lifestyle Expense</a:t>
            </a:r>
            <a:endParaRPr sz="12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4833810" y="2789642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9" name="Google Shape;249;p22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391" y="1517736"/>
            <a:ext cx="4457400" cy="2756163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2"/>
          <p:cNvSpPr/>
          <p:nvPr/>
        </p:nvSpPr>
        <p:spPr>
          <a:xfrm>
            <a:off x="6968714" y="3336422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6810325" y="338477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2"/>
          <p:cNvSpPr/>
          <p:nvPr/>
        </p:nvSpPr>
        <p:spPr>
          <a:xfrm>
            <a:off x="6810375" y="22621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22"/>
          <p:cNvSpPr/>
          <p:nvPr/>
        </p:nvSpPr>
        <p:spPr>
          <a:xfrm>
            <a:off x="6810325" y="22621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6810325" y="25710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22"/>
          <p:cNvSpPr/>
          <p:nvPr/>
        </p:nvSpPr>
        <p:spPr>
          <a:xfrm>
            <a:off x="6831175" y="25710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22"/>
          <p:cNvSpPr/>
          <p:nvPr/>
        </p:nvSpPr>
        <p:spPr>
          <a:xfrm>
            <a:off x="6831175" y="27672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2"/>
          <p:cNvSpPr/>
          <p:nvPr/>
        </p:nvSpPr>
        <p:spPr>
          <a:xfrm>
            <a:off x="6831175" y="29634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22"/>
          <p:cNvSpPr/>
          <p:nvPr/>
        </p:nvSpPr>
        <p:spPr>
          <a:xfrm>
            <a:off x="6865088" y="29634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2"/>
          <p:cNvSpPr/>
          <p:nvPr/>
        </p:nvSpPr>
        <p:spPr>
          <a:xfrm>
            <a:off x="6865088" y="27672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2"/>
          <p:cNvSpPr/>
          <p:nvPr/>
        </p:nvSpPr>
        <p:spPr>
          <a:xfrm>
            <a:off x="6865088" y="25710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2"/>
          <p:cNvSpPr/>
          <p:nvPr/>
        </p:nvSpPr>
        <p:spPr>
          <a:xfrm>
            <a:off x="6810325" y="22621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2"/>
          <p:cNvSpPr/>
          <p:nvPr/>
        </p:nvSpPr>
        <p:spPr>
          <a:xfrm>
            <a:off x="6810325" y="3384775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7015976" y="29681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7983198" y="29681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6991300" y="27719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2"/>
          <p:cNvSpPr/>
          <p:nvPr/>
        </p:nvSpPr>
        <p:spPr>
          <a:xfrm>
            <a:off x="7983198" y="27719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6991300" y="25757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7983198" y="25757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6978775" y="22703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7899102" y="22703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80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7054975" y="3392975"/>
            <a:ext cx="11166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7975056" y="3392964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15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6816264" y="3643205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22"/>
          <p:cNvSpPr/>
          <p:nvPr/>
        </p:nvSpPr>
        <p:spPr>
          <a:xfrm>
            <a:off x="6810325" y="364166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7CB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22"/>
          <p:cNvSpPr/>
          <p:nvPr/>
        </p:nvSpPr>
        <p:spPr>
          <a:xfrm>
            <a:off x="7054975" y="3649850"/>
            <a:ext cx="1163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Gold</a:t>
            </a:r>
            <a:endParaRPr sz="13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7887798" y="364985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476250" y="476250"/>
            <a:ext cx="2846400" cy="490500"/>
          </a:xfrm>
          <a:prstGeom prst="roundRect">
            <a:avLst>
              <a:gd name="adj" fmla="val 44738"/>
            </a:avLst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2"/>
          <p:cNvSpPr/>
          <p:nvPr/>
        </p:nvSpPr>
        <p:spPr>
          <a:xfrm>
            <a:off x="549519" y="628650"/>
            <a:ext cx="33576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Recommended</a:t>
            </a:r>
            <a:r>
              <a:rPr lang="en-GB" sz="2100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: SIP</a:t>
            </a:r>
            <a:endParaRPr sz="21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"/>
          <p:cNvSpPr/>
          <p:nvPr/>
        </p:nvSpPr>
        <p:spPr>
          <a:xfrm>
            <a:off x="156875" y="747200"/>
            <a:ext cx="8640000" cy="2310000"/>
          </a:xfrm>
          <a:prstGeom prst="roundRect">
            <a:avLst>
              <a:gd name="adj" fmla="val 5327"/>
            </a:avLst>
          </a:prstGeom>
          <a:solidFill>
            <a:srgbClr val="F0F4F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3"/>
          <p:cNvSpPr txBox="1"/>
          <p:nvPr/>
        </p:nvSpPr>
        <p:spPr>
          <a:xfrm>
            <a:off x="201075" y="13495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of our recommended portfolio (Infinite Aggressive-S)</a:t>
            </a:r>
            <a:endParaRPr sz="18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85" name="Google Shape;285;p23"/>
          <p:cNvSpPr txBox="1"/>
          <p:nvPr/>
        </p:nvSpPr>
        <p:spPr>
          <a:xfrm>
            <a:off x="10845800" y="2692400"/>
            <a:ext cx="5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3"/>
          <p:cNvSpPr txBox="1"/>
          <p:nvPr/>
        </p:nvSpPr>
        <p:spPr>
          <a:xfrm>
            <a:off x="81350" y="4827108"/>
            <a:ext cx="864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**Downside Capture = (Fund return during down markets ÷ Benchmark return during down markets) × 100 | *** 1M 3M and 6M returns are absolute, while 1Y 2Y 3Y and Since 2021 are annualized | Past performance may not be indicative of future results; returns are subject to market risks.</a:t>
            </a:r>
            <a:endParaRPr sz="650" b="0" i="0" u="none" strike="noStrike" cap="none">
              <a:solidFill>
                <a:srgbClr val="0000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287" name="Google Shape;287;p23"/>
          <p:cNvCxnSpPr/>
          <p:nvPr/>
        </p:nvCxnSpPr>
        <p:spPr>
          <a:xfrm>
            <a:off x="625425" y="933625"/>
            <a:ext cx="0" cy="162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8" name="Google Shape;288;p23"/>
          <p:cNvCxnSpPr/>
          <p:nvPr/>
        </p:nvCxnSpPr>
        <p:spPr>
          <a:xfrm>
            <a:off x="625425" y="2560068"/>
            <a:ext cx="37335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9" name="Google Shape;289;p23"/>
          <p:cNvSpPr txBox="1"/>
          <p:nvPr/>
        </p:nvSpPr>
        <p:spPr>
          <a:xfrm>
            <a:off x="744173" y="933616"/>
            <a:ext cx="777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Benchmark (Nifty 500)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1523626" y="972975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Infinite Aggressiv-S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1456223" y="1067775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3"/>
          <p:cNvSpPr/>
          <p:nvPr/>
        </p:nvSpPr>
        <p:spPr>
          <a:xfrm>
            <a:off x="684348" y="1067775"/>
            <a:ext cx="88800" cy="87300"/>
          </a:xfrm>
          <a:prstGeom prst="ellipse">
            <a:avLst/>
          </a:prstGeom>
          <a:solidFill>
            <a:srgbClr val="2E8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93" name="Google Shape;293;p23"/>
          <p:cNvGraphicFramePr/>
          <p:nvPr/>
        </p:nvGraphicFramePr>
        <p:xfrm>
          <a:off x="349675" y="3229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{0459D17D-62DC-4A0E-A9B0-A4B277B70E27}</a:tableStyleId>
              </a:tblPr>
              <a:tblGrid>
                <a:gridCol w="1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Trailing Return*** 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(as on 10th Mar 2026)</a:t>
                      </a:r>
                      <a:endParaRPr sz="8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2021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Aggressive-S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0.77%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-2.71%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1.06%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18.57%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9.41%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20.36%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19.56%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(Nifty 500)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2.53%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-3.04%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2.27%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17.62%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7.72%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17.56%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15.54%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-1.77%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0.33%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-1.21%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0.94%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1.69%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2.80%</a:t>
                      </a:r>
                      <a:endParaRPr sz="1000" u="none" strike="noStrike" cap="none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4.01%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94" name="Google Shape;294;p23"/>
          <p:cNvGraphicFramePr/>
          <p:nvPr/>
        </p:nvGraphicFramePr>
        <p:xfrm>
          <a:off x="4628682" y="864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{1018B992-A05E-4D5A-892B-BA135F09D36C}</a:tableStyleId>
              </a:tblPr>
              <a:tblGrid>
                <a:gridCol w="1186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4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 1Y Avg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Aggressive-S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 (Nifty 500)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17.53%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14.77%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2.76%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19.34%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15.93%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3.41%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20.44%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16.97%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3.47%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Downside Capture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85.63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5" name="Google Shape;295;p23"/>
          <p:cNvSpPr txBox="1"/>
          <p:nvPr/>
        </p:nvSpPr>
        <p:spPr>
          <a:xfrm>
            <a:off x="3386629" y="952824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3Y XIRR trend</a:t>
            </a:r>
            <a:endParaRPr sz="9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296" name="Google Shape;296;p23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525" y="853266"/>
            <a:ext cx="4191750" cy="20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4"/>
          <p:cNvSpPr/>
          <p:nvPr/>
        </p:nvSpPr>
        <p:spPr>
          <a:xfrm>
            <a:off x="428700" y="1136406"/>
            <a:ext cx="8481300" cy="3552900"/>
          </a:xfrm>
          <a:prstGeom prst="roundRect">
            <a:avLst>
              <a:gd name="adj" fmla="val 7721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4"/>
          <p:cNvSpPr/>
          <p:nvPr/>
        </p:nvSpPr>
        <p:spPr>
          <a:xfrm>
            <a:off x="714375" y="4148137"/>
            <a:ext cx="147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24"/>
          <p:cNvSpPr/>
          <p:nvPr/>
        </p:nvSpPr>
        <p:spPr>
          <a:xfrm>
            <a:off x="714375" y="1925850"/>
            <a:ext cx="2870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22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Balanced- L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/>
          <p:nvPr/>
        </p:nvSpPr>
        <p:spPr>
          <a:xfrm>
            <a:off x="714375" y="2313049"/>
            <a:ext cx="31098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25"/>
              <a:buFont typeface="IBM Plex Sans"/>
              <a:buNone/>
            </a:pPr>
            <a:r>
              <a:rPr lang="en-GB" sz="1125" b="0" i="0" u="none" strike="noStrike" cap="none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balanced, steady plan that focuses on capital protection and predictable progress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735390" y="3070562"/>
            <a:ext cx="1933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 Coverage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4"/>
          <p:cNvSpPr/>
          <p:nvPr/>
        </p:nvSpPr>
        <p:spPr>
          <a:xfrm>
            <a:off x="4823107" y="2773438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/>
          <p:nvPr/>
        </p:nvSpPr>
        <p:spPr>
          <a:xfrm>
            <a:off x="6810325" y="338477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6810375" y="22621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6810325" y="22621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6810325" y="25710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24"/>
          <p:cNvSpPr/>
          <p:nvPr/>
        </p:nvSpPr>
        <p:spPr>
          <a:xfrm>
            <a:off x="6831175" y="25710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24"/>
          <p:cNvSpPr/>
          <p:nvPr/>
        </p:nvSpPr>
        <p:spPr>
          <a:xfrm>
            <a:off x="6831175" y="27672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4"/>
          <p:cNvSpPr/>
          <p:nvPr/>
        </p:nvSpPr>
        <p:spPr>
          <a:xfrm>
            <a:off x="6831175" y="29634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24"/>
          <p:cNvSpPr/>
          <p:nvPr/>
        </p:nvSpPr>
        <p:spPr>
          <a:xfrm>
            <a:off x="6865088" y="29634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24"/>
          <p:cNvSpPr/>
          <p:nvPr/>
        </p:nvSpPr>
        <p:spPr>
          <a:xfrm>
            <a:off x="6865088" y="27672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24"/>
          <p:cNvSpPr/>
          <p:nvPr/>
        </p:nvSpPr>
        <p:spPr>
          <a:xfrm>
            <a:off x="6865088" y="25710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4"/>
          <p:cNvSpPr/>
          <p:nvPr/>
        </p:nvSpPr>
        <p:spPr>
          <a:xfrm>
            <a:off x="6810325" y="22621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24"/>
          <p:cNvSpPr/>
          <p:nvPr/>
        </p:nvSpPr>
        <p:spPr>
          <a:xfrm>
            <a:off x="6810325" y="3384775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24"/>
          <p:cNvSpPr/>
          <p:nvPr/>
        </p:nvSpPr>
        <p:spPr>
          <a:xfrm>
            <a:off x="7015976" y="29681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4"/>
          <p:cNvSpPr/>
          <p:nvPr/>
        </p:nvSpPr>
        <p:spPr>
          <a:xfrm>
            <a:off x="7983198" y="29681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22" name="Google Shape;322;p24"/>
          <p:cNvSpPr/>
          <p:nvPr/>
        </p:nvSpPr>
        <p:spPr>
          <a:xfrm>
            <a:off x="6991300" y="27719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4"/>
          <p:cNvSpPr/>
          <p:nvPr/>
        </p:nvSpPr>
        <p:spPr>
          <a:xfrm>
            <a:off x="7983198" y="27719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24" name="Google Shape;324;p24"/>
          <p:cNvSpPr/>
          <p:nvPr/>
        </p:nvSpPr>
        <p:spPr>
          <a:xfrm>
            <a:off x="6991300" y="25757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5" name="Google Shape;325;p24"/>
          <p:cNvSpPr/>
          <p:nvPr/>
        </p:nvSpPr>
        <p:spPr>
          <a:xfrm>
            <a:off x="7983198" y="25757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26" name="Google Shape;326;p24"/>
          <p:cNvSpPr/>
          <p:nvPr/>
        </p:nvSpPr>
        <p:spPr>
          <a:xfrm>
            <a:off x="6978775" y="22703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7899102" y="22703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80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7054975" y="3392975"/>
            <a:ext cx="11166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7975056" y="3392964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30" name="Google Shape;330;p24"/>
          <p:cNvSpPr/>
          <p:nvPr/>
        </p:nvSpPr>
        <p:spPr>
          <a:xfrm>
            <a:off x="735400" y="3200950"/>
            <a:ext cx="23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Financial Freedom</a:t>
            </a:r>
            <a:endParaRPr sz="12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Vacation &amp; 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Lifestyle Expense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1" name="Google Shape;331;p24"/>
          <p:cNvSpPr/>
          <p:nvPr/>
        </p:nvSpPr>
        <p:spPr>
          <a:xfrm>
            <a:off x="476250" y="466636"/>
            <a:ext cx="4785900" cy="490500"/>
          </a:xfrm>
          <a:prstGeom prst="roundRect">
            <a:avLst>
              <a:gd name="adj" fmla="val 44738"/>
            </a:avLst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549525" y="619036"/>
            <a:ext cx="46608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Recommended Portfolio: Lump</a:t>
            </a:r>
            <a:r>
              <a:rPr lang="en-GB" sz="2100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s</a:t>
            </a:r>
            <a:r>
              <a:rPr lang="en-GB" sz="2100" b="0" i="0" u="none" strike="noStrike" cap="none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um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2349878" y="3070447"/>
            <a:ext cx="1195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Risk Profile Fit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2349878" y="3308014"/>
            <a:ext cx="11955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2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391" y="1517736"/>
            <a:ext cx="4457400" cy="2756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5"/>
          <p:cNvSpPr/>
          <p:nvPr/>
        </p:nvSpPr>
        <p:spPr>
          <a:xfrm>
            <a:off x="156875" y="747200"/>
            <a:ext cx="8640000" cy="2310000"/>
          </a:xfrm>
          <a:prstGeom prst="roundRect">
            <a:avLst>
              <a:gd name="adj" fmla="val 5327"/>
            </a:avLst>
          </a:prstGeom>
          <a:solidFill>
            <a:srgbClr val="F0F4F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1" name="Google Shape;341;p25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525" y="875875"/>
            <a:ext cx="4191750" cy="2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25"/>
          <p:cNvSpPr txBox="1"/>
          <p:nvPr/>
        </p:nvSpPr>
        <p:spPr>
          <a:xfrm>
            <a:off x="201075" y="13495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of our recommended portfolio (Infinite Balanced- L)</a:t>
            </a:r>
            <a:endParaRPr sz="18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43" name="Google Shape;343;p25"/>
          <p:cNvSpPr txBox="1"/>
          <p:nvPr/>
        </p:nvSpPr>
        <p:spPr>
          <a:xfrm>
            <a:off x="10845800" y="2692400"/>
            <a:ext cx="5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25"/>
          <p:cNvSpPr txBox="1"/>
          <p:nvPr/>
        </p:nvSpPr>
        <p:spPr>
          <a:xfrm>
            <a:off x="81350" y="4827108"/>
            <a:ext cx="864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**Downside Capture = (Fund return during down markets ÷ Benchmark return during down markets) × 100 | *** 1M 3M and 6M returns are absolute, while 1Y 2Y 3Y and Since 2021 are annualized | Past performance may not be indicative of future results; returns are subject to market risks.</a:t>
            </a:r>
            <a:endParaRPr sz="650" b="0" i="0" u="none" strike="noStrike" cap="none">
              <a:solidFill>
                <a:srgbClr val="0000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345" name="Google Shape;345;p25"/>
          <p:cNvCxnSpPr/>
          <p:nvPr/>
        </p:nvCxnSpPr>
        <p:spPr>
          <a:xfrm>
            <a:off x="625425" y="933625"/>
            <a:ext cx="0" cy="162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46" name="Google Shape;346;p25"/>
          <p:cNvCxnSpPr/>
          <p:nvPr/>
        </p:nvCxnSpPr>
        <p:spPr>
          <a:xfrm>
            <a:off x="625425" y="2560068"/>
            <a:ext cx="37335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7" name="Google Shape;347;p25"/>
          <p:cNvSpPr txBox="1"/>
          <p:nvPr/>
        </p:nvSpPr>
        <p:spPr>
          <a:xfrm>
            <a:off x="744173" y="933616"/>
            <a:ext cx="777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Benchmark (Nifty 50)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5"/>
          <p:cNvSpPr txBox="1"/>
          <p:nvPr/>
        </p:nvSpPr>
        <p:spPr>
          <a:xfrm>
            <a:off x="1523626" y="972975"/>
            <a:ext cx="109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Infinite - Balanced- 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25"/>
          <p:cNvSpPr/>
          <p:nvPr/>
        </p:nvSpPr>
        <p:spPr>
          <a:xfrm>
            <a:off x="1456223" y="1067775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684348" y="1067775"/>
            <a:ext cx="88800" cy="87300"/>
          </a:xfrm>
          <a:prstGeom prst="ellipse">
            <a:avLst/>
          </a:prstGeom>
          <a:solidFill>
            <a:srgbClr val="2E8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1" name="Google Shape;351;p25"/>
          <p:cNvGraphicFramePr/>
          <p:nvPr/>
        </p:nvGraphicFramePr>
        <p:xfrm>
          <a:off x="4628682" y="898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{1018B992-A05E-4D5A-892B-BA135F09D36C}</a:tableStyleId>
              </a:tblPr>
              <a:tblGrid>
                <a:gridCol w="131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5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 1Y Avg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Balanced- L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 (Nifty 50)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16.81%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12.92%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3.88%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18.48%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13.87%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4.60%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19.51%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15.01%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4.50%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Downside Capture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86.05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2" name="Google Shape;352;p25"/>
          <p:cNvSpPr txBox="1"/>
          <p:nvPr/>
        </p:nvSpPr>
        <p:spPr>
          <a:xfrm>
            <a:off x="3386629" y="952824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3Y XIRR trend</a:t>
            </a:r>
            <a:endParaRPr sz="9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353" name="Google Shape;353;p25"/>
          <p:cNvGraphicFramePr/>
          <p:nvPr/>
        </p:nvGraphicFramePr>
        <p:xfrm>
          <a:off x="349675" y="3229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{0459D17D-62DC-4A0E-A9B0-A4B277B70E27}</a:tableStyleId>
              </a:tblPr>
              <a:tblGrid>
                <a:gridCol w="1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Trailing Return*** 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(as on 10th Mar 2026)</a:t>
                      </a:r>
                      <a:endParaRPr sz="8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2021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Balanced- L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0.72%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-3.04%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0.66%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17.16%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8.56%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19.45%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18.55%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(Nifty 50)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-4.90%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1.26%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13.64%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6.75%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13.83%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13.05%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0.51%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1.86%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-0.60%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3.52%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1.81%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5.63%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5.50%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6"/>
          <p:cNvSpPr/>
          <p:nvPr/>
        </p:nvSpPr>
        <p:spPr>
          <a:xfrm>
            <a:off x="428700" y="1136406"/>
            <a:ext cx="8481300" cy="3552900"/>
          </a:xfrm>
          <a:prstGeom prst="roundRect">
            <a:avLst>
              <a:gd name="adj" fmla="val 7721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6"/>
          <p:cNvSpPr/>
          <p:nvPr/>
        </p:nvSpPr>
        <p:spPr>
          <a:xfrm>
            <a:off x="714375" y="4148137"/>
            <a:ext cx="147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6"/>
          <p:cNvSpPr/>
          <p:nvPr/>
        </p:nvSpPr>
        <p:spPr>
          <a:xfrm>
            <a:off x="714375" y="1925850"/>
            <a:ext cx="28311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22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Balanced- S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714375" y="2313049"/>
            <a:ext cx="31098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25"/>
              <a:buFont typeface="IBM Plex Sans"/>
              <a:buNone/>
            </a:pPr>
            <a:r>
              <a:rPr lang="en-GB" sz="1125" b="0" i="0" u="none" strike="noStrike" cap="none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balanced, steady plan that focuses on capital protection and predictable progress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/>
          <p:nvPr/>
        </p:nvSpPr>
        <p:spPr>
          <a:xfrm>
            <a:off x="735390" y="3070562"/>
            <a:ext cx="1933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 Coverage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6"/>
          <p:cNvSpPr/>
          <p:nvPr/>
        </p:nvSpPr>
        <p:spPr>
          <a:xfrm>
            <a:off x="4823107" y="2773438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6"/>
          <p:cNvSpPr/>
          <p:nvPr/>
        </p:nvSpPr>
        <p:spPr>
          <a:xfrm>
            <a:off x="6810325" y="338477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26"/>
          <p:cNvSpPr/>
          <p:nvPr/>
        </p:nvSpPr>
        <p:spPr>
          <a:xfrm>
            <a:off x="6810375" y="22621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6810325" y="22621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6810325" y="25710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6831175" y="25710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6831175" y="27672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6"/>
          <p:cNvSpPr/>
          <p:nvPr/>
        </p:nvSpPr>
        <p:spPr>
          <a:xfrm>
            <a:off x="6831175" y="29634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6"/>
          <p:cNvSpPr/>
          <p:nvPr/>
        </p:nvSpPr>
        <p:spPr>
          <a:xfrm>
            <a:off x="6865088" y="29634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26"/>
          <p:cNvSpPr/>
          <p:nvPr/>
        </p:nvSpPr>
        <p:spPr>
          <a:xfrm>
            <a:off x="6865088" y="27672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6"/>
          <p:cNvSpPr/>
          <p:nvPr/>
        </p:nvSpPr>
        <p:spPr>
          <a:xfrm>
            <a:off x="6865088" y="25710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26"/>
          <p:cNvSpPr/>
          <p:nvPr/>
        </p:nvSpPr>
        <p:spPr>
          <a:xfrm>
            <a:off x="6810325" y="22621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26"/>
          <p:cNvSpPr/>
          <p:nvPr/>
        </p:nvSpPr>
        <p:spPr>
          <a:xfrm>
            <a:off x="6810325" y="3384775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6"/>
          <p:cNvSpPr/>
          <p:nvPr/>
        </p:nvSpPr>
        <p:spPr>
          <a:xfrm>
            <a:off x="7015976" y="29681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6"/>
          <p:cNvSpPr/>
          <p:nvPr/>
        </p:nvSpPr>
        <p:spPr>
          <a:xfrm>
            <a:off x="7983198" y="29681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6991300" y="27719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7983198" y="27719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6991300" y="25757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7983198" y="25757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6978775" y="22703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7899102" y="22703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80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7054975" y="3392975"/>
            <a:ext cx="11166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7975056" y="3392964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15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2349878" y="3070447"/>
            <a:ext cx="1195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Risk Profile Fit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2349878" y="3308014"/>
            <a:ext cx="11955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9" name="Google Shape;389;p26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391" y="1517736"/>
            <a:ext cx="4457400" cy="2756163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26"/>
          <p:cNvSpPr/>
          <p:nvPr/>
        </p:nvSpPr>
        <p:spPr>
          <a:xfrm>
            <a:off x="6816264" y="3643205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26"/>
          <p:cNvSpPr/>
          <p:nvPr/>
        </p:nvSpPr>
        <p:spPr>
          <a:xfrm>
            <a:off x="6810325" y="364166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7CB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6"/>
          <p:cNvSpPr/>
          <p:nvPr/>
        </p:nvSpPr>
        <p:spPr>
          <a:xfrm>
            <a:off x="7054975" y="3649850"/>
            <a:ext cx="1163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Gold</a:t>
            </a:r>
            <a:endParaRPr sz="13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6"/>
          <p:cNvSpPr/>
          <p:nvPr/>
        </p:nvSpPr>
        <p:spPr>
          <a:xfrm>
            <a:off x="7887798" y="364985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94" name="Google Shape;394;p26"/>
          <p:cNvSpPr/>
          <p:nvPr/>
        </p:nvSpPr>
        <p:spPr>
          <a:xfrm>
            <a:off x="476250" y="476250"/>
            <a:ext cx="3850800" cy="490500"/>
          </a:xfrm>
          <a:prstGeom prst="roundRect">
            <a:avLst>
              <a:gd name="adj" fmla="val 44738"/>
            </a:avLst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6"/>
          <p:cNvSpPr/>
          <p:nvPr/>
        </p:nvSpPr>
        <p:spPr>
          <a:xfrm>
            <a:off x="549525" y="628650"/>
            <a:ext cx="46608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661D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Recommended Portfolio: </a:t>
            </a:r>
            <a:r>
              <a:rPr lang="en-GB" sz="2100">
                <a:solidFill>
                  <a:srgbClr val="00661D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6"/>
          <p:cNvSpPr/>
          <p:nvPr/>
        </p:nvSpPr>
        <p:spPr>
          <a:xfrm>
            <a:off x="735400" y="3200950"/>
            <a:ext cx="2349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Financial Freedom</a:t>
            </a:r>
            <a:endParaRPr sz="12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Vacation &amp; 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Lifestyle Expense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/>
          <p:nvPr/>
        </p:nvSpPr>
        <p:spPr>
          <a:xfrm>
            <a:off x="156875" y="747200"/>
            <a:ext cx="8640000" cy="2310000"/>
          </a:xfrm>
          <a:prstGeom prst="roundRect">
            <a:avLst>
              <a:gd name="adj" fmla="val 5327"/>
            </a:avLst>
          </a:prstGeom>
          <a:solidFill>
            <a:srgbClr val="F0F4F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2" name="Google Shape;402;p27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525" y="890719"/>
            <a:ext cx="4191750" cy="2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7"/>
          <p:cNvSpPr txBox="1"/>
          <p:nvPr/>
        </p:nvSpPr>
        <p:spPr>
          <a:xfrm>
            <a:off x="201075" y="13495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of our recommended portfolio (Infinite Balanced- S)</a:t>
            </a:r>
            <a:endParaRPr sz="18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04" name="Google Shape;404;p27"/>
          <p:cNvSpPr txBox="1"/>
          <p:nvPr/>
        </p:nvSpPr>
        <p:spPr>
          <a:xfrm>
            <a:off x="10845800" y="2692400"/>
            <a:ext cx="5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7"/>
          <p:cNvSpPr txBox="1"/>
          <p:nvPr/>
        </p:nvSpPr>
        <p:spPr>
          <a:xfrm>
            <a:off x="81350" y="4827108"/>
            <a:ext cx="864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**Downside Capture = (Fund return during down markets ÷ Benchmark return during down markets) × 100 | *** 1M 3M and 6M returns are absolute, while 1Y 2Y 3Y and Since 2021 are annualized | Past performance may not be indicative of future results; returns are subject to market risks.</a:t>
            </a:r>
            <a:endParaRPr sz="650" b="0" i="0" u="none" strike="noStrike" cap="none">
              <a:solidFill>
                <a:srgbClr val="0000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406" name="Google Shape;406;p27"/>
          <p:cNvCxnSpPr/>
          <p:nvPr/>
        </p:nvCxnSpPr>
        <p:spPr>
          <a:xfrm>
            <a:off x="625425" y="933625"/>
            <a:ext cx="0" cy="162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07" name="Google Shape;407;p27"/>
          <p:cNvCxnSpPr/>
          <p:nvPr/>
        </p:nvCxnSpPr>
        <p:spPr>
          <a:xfrm>
            <a:off x="625425" y="2560068"/>
            <a:ext cx="37335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08" name="Google Shape;408;p27"/>
          <p:cNvSpPr txBox="1"/>
          <p:nvPr/>
        </p:nvSpPr>
        <p:spPr>
          <a:xfrm>
            <a:off x="744173" y="933616"/>
            <a:ext cx="777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Benchmark (Nifty 50)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27"/>
          <p:cNvSpPr txBox="1"/>
          <p:nvPr/>
        </p:nvSpPr>
        <p:spPr>
          <a:xfrm>
            <a:off x="1523626" y="972975"/>
            <a:ext cx="1093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Infinite - Balanced- 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27"/>
          <p:cNvSpPr/>
          <p:nvPr/>
        </p:nvSpPr>
        <p:spPr>
          <a:xfrm>
            <a:off x="1456223" y="1067775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27"/>
          <p:cNvSpPr/>
          <p:nvPr/>
        </p:nvSpPr>
        <p:spPr>
          <a:xfrm>
            <a:off x="684348" y="1067775"/>
            <a:ext cx="88800" cy="87300"/>
          </a:xfrm>
          <a:prstGeom prst="ellipse">
            <a:avLst/>
          </a:prstGeom>
          <a:solidFill>
            <a:srgbClr val="2E8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12" name="Google Shape;412;p27"/>
          <p:cNvGraphicFramePr/>
          <p:nvPr/>
        </p:nvGraphicFramePr>
        <p:xfrm>
          <a:off x="4628682" y="898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{1018B992-A05E-4D5A-892B-BA135F09D36C}</a:tableStyleId>
              </a:tblPr>
              <a:tblGrid>
                <a:gridCol w="131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3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 1Y Avg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Balanced- S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 (Nifty 50)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17.17%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12.92%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4.25%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18.66%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13.87%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4.78%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19.59%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15.01%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4.58%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Downside Capture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84.21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13" name="Google Shape;413;p27"/>
          <p:cNvSpPr txBox="1"/>
          <p:nvPr/>
        </p:nvSpPr>
        <p:spPr>
          <a:xfrm>
            <a:off x="3386629" y="952824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3Y XIRR trend</a:t>
            </a:r>
            <a:endParaRPr sz="9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414" name="Google Shape;414;p27"/>
          <p:cNvGraphicFramePr/>
          <p:nvPr/>
        </p:nvGraphicFramePr>
        <p:xfrm>
          <a:off x="349675" y="3229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{0459D17D-62DC-4A0E-A9B0-A4B277B70E27}</a:tableStyleId>
              </a:tblPr>
              <a:tblGrid>
                <a:gridCol w="1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Trailing Return*** 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(as on 10th Mar 2026)</a:t>
                      </a:r>
                      <a:endParaRPr sz="8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2021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Balanced- S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0.63%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-2.52%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1.51%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18.42%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9.35%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19.94%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18.70%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(Nifty 50)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-4.90%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1.26%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13.64%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6.75%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13.83%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13.05%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0.41%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2.38%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4.77%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2.60%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6.11%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5.65%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8"/>
          <p:cNvSpPr/>
          <p:nvPr/>
        </p:nvSpPr>
        <p:spPr>
          <a:xfrm>
            <a:off x="428700" y="1136406"/>
            <a:ext cx="8481300" cy="3552900"/>
          </a:xfrm>
          <a:prstGeom prst="roundRect">
            <a:avLst>
              <a:gd name="adj" fmla="val 7721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8"/>
          <p:cNvSpPr/>
          <p:nvPr/>
        </p:nvSpPr>
        <p:spPr>
          <a:xfrm>
            <a:off x="714375" y="4148137"/>
            <a:ext cx="147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8"/>
          <p:cNvSpPr/>
          <p:nvPr/>
        </p:nvSpPr>
        <p:spPr>
          <a:xfrm>
            <a:off x="714375" y="1925850"/>
            <a:ext cx="32274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22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Conservative- L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8"/>
          <p:cNvSpPr/>
          <p:nvPr/>
        </p:nvSpPr>
        <p:spPr>
          <a:xfrm>
            <a:off x="714375" y="2345097"/>
            <a:ext cx="33876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capital-first plan designed to minimise downside risk while delivering predictable, low-volatility returns.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8"/>
          <p:cNvSpPr/>
          <p:nvPr/>
        </p:nvSpPr>
        <p:spPr>
          <a:xfrm>
            <a:off x="735390" y="3070562"/>
            <a:ext cx="1933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 Coverage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8"/>
          <p:cNvSpPr/>
          <p:nvPr/>
        </p:nvSpPr>
        <p:spPr>
          <a:xfrm>
            <a:off x="4823107" y="2773438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8"/>
          <p:cNvSpPr/>
          <p:nvPr/>
        </p:nvSpPr>
        <p:spPr>
          <a:xfrm>
            <a:off x="6810325" y="338477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28"/>
          <p:cNvSpPr/>
          <p:nvPr/>
        </p:nvSpPr>
        <p:spPr>
          <a:xfrm>
            <a:off x="6810375" y="22621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28"/>
          <p:cNvSpPr/>
          <p:nvPr/>
        </p:nvSpPr>
        <p:spPr>
          <a:xfrm>
            <a:off x="6810325" y="22621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8"/>
          <p:cNvSpPr/>
          <p:nvPr/>
        </p:nvSpPr>
        <p:spPr>
          <a:xfrm>
            <a:off x="6810325" y="25710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28"/>
          <p:cNvSpPr/>
          <p:nvPr/>
        </p:nvSpPr>
        <p:spPr>
          <a:xfrm>
            <a:off x="6831175" y="25710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8"/>
          <p:cNvSpPr/>
          <p:nvPr/>
        </p:nvSpPr>
        <p:spPr>
          <a:xfrm>
            <a:off x="6831175" y="27672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28"/>
          <p:cNvSpPr/>
          <p:nvPr/>
        </p:nvSpPr>
        <p:spPr>
          <a:xfrm>
            <a:off x="6831175" y="29634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28"/>
          <p:cNvSpPr/>
          <p:nvPr/>
        </p:nvSpPr>
        <p:spPr>
          <a:xfrm>
            <a:off x="6865088" y="29634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28"/>
          <p:cNvSpPr/>
          <p:nvPr/>
        </p:nvSpPr>
        <p:spPr>
          <a:xfrm>
            <a:off x="6865088" y="27672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8"/>
          <p:cNvSpPr/>
          <p:nvPr/>
        </p:nvSpPr>
        <p:spPr>
          <a:xfrm>
            <a:off x="6865088" y="25710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8"/>
          <p:cNvSpPr/>
          <p:nvPr/>
        </p:nvSpPr>
        <p:spPr>
          <a:xfrm>
            <a:off x="6810325" y="22621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28"/>
          <p:cNvSpPr/>
          <p:nvPr/>
        </p:nvSpPr>
        <p:spPr>
          <a:xfrm>
            <a:off x="6810325" y="3384775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"/>
          <p:cNvSpPr/>
          <p:nvPr/>
        </p:nvSpPr>
        <p:spPr>
          <a:xfrm>
            <a:off x="7015976" y="29681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8"/>
          <p:cNvSpPr/>
          <p:nvPr/>
        </p:nvSpPr>
        <p:spPr>
          <a:xfrm>
            <a:off x="7983198" y="29681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40" name="Google Shape;440;p28"/>
          <p:cNvSpPr/>
          <p:nvPr/>
        </p:nvSpPr>
        <p:spPr>
          <a:xfrm>
            <a:off x="6991300" y="27719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8"/>
          <p:cNvSpPr/>
          <p:nvPr/>
        </p:nvSpPr>
        <p:spPr>
          <a:xfrm>
            <a:off x="7983198" y="27719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42" name="Google Shape;442;p28"/>
          <p:cNvSpPr/>
          <p:nvPr/>
        </p:nvSpPr>
        <p:spPr>
          <a:xfrm>
            <a:off x="6991300" y="25757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3" name="Google Shape;443;p28"/>
          <p:cNvSpPr/>
          <p:nvPr/>
        </p:nvSpPr>
        <p:spPr>
          <a:xfrm>
            <a:off x="7983198" y="25757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44" name="Google Shape;444;p28"/>
          <p:cNvSpPr/>
          <p:nvPr/>
        </p:nvSpPr>
        <p:spPr>
          <a:xfrm>
            <a:off x="6978775" y="22703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45" name="Google Shape;445;p28"/>
          <p:cNvSpPr/>
          <p:nvPr/>
        </p:nvSpPr>
        <p:spPr>
          <a:xfrm>
            <a:off x="7899102" y="22703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46" name="Google Shape;446;p28"/>
          <p:cNvSpPr/>
          <p:nvPr/>
        </p:nvSpPr>
        <p:spPr>
          <a:xfrm>
            <a:off x="7054975" y="3392975"/>
            <a:ext cx="11166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8"/>
          <p:cNvSpPr/>
          <p:nvPr/>
        </p:nvSpPr>
        <p:spPr>
          <a:xfrm>
            <a:off x="7975056" y="3392964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448" name="Google Shape;448;p2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391" y="1517736"/>
            <a:ext cx="4457400" cy="2756163"/>
          </a:xfrm>
          <a:prstGeom prst="rect">
            <a:avLst/>
          </a:prstGeom>
          <a:noFill/>
          <a:ln>
            <a:noFill/>
          </a:ln>
        </p:spPr>
      </p:pic>
      <p:sp>
        <p:nvSpPr>
          <p:cNvPr id="449" name="Google Shape;449;p28"/>
          <p:cNvSpPr/>
          <p:nvPr/>
        </p:nvSpPr>
        <p:spPr>
          <a:xfrm>
            <a:off x="735400" y="3215785"/>
            <a:ext cx="19335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{{main_goal}}</a:t>
            </a:r>
            <a:b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{{secondary_goal}}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0" name="Google Shape;450;p28"/>
          <p:cNvSpPr/>
          <p:nvPr/>
        </p:nvSpPr>
        <p:spPr>
          <a:xfrm>
            <a:off x="487549" y="487731"/>
            <a:ext cx="3109800" cy="490500"/>
          </a:xfrm>
          <a:prstGeom prst="roundRect">
            <a:avLst>
              <a:gd name="adj" fmla="val 44738"/>
            </a:avLst>
          </a:prstGeom>
          <a:solidFill>
            <a:srgbClr val="F0F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28"/>
          <p:cNvSpPr/>
          <p:nvPr/>
        </p:nvSpPr>
        <p:spPr>
          <a:xfrm>
            <a:off x="560825" y="640131"/>
            <a:ext cx="32244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3D3D3D"/>
                </a:solidFill>
                <a:latin typeface="IBM Plex Sans"/>
                <a:ea typeface="IBM Plex Sans"/>
                <a:cs typeface="IBM Plex Sans"/>
                <a:sym typeface="IBM Plex Sans"/>
              </a:rPr>
              <a:t>Alternative: L</a:t>
            </a:r>
            <a:r>
              <a:rPr lang="en-GB" sz="2100">
                <a:solidFill>
                  <a:srgbClr val="3D3D3D"/>
                </a:solidFill>
                <a:latin typeface="IBM Plex Sans"/>
                <a:ea typeface="IBM Plex Sans"/>
                <a:cs typeface="IBM Plex Sans"/>
                <a:sym typeface="IBM Plex Sans"/>
              </a:rPr>
              <a:t>umpsum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"/>
          <p:cNvSpPr/>
          <p:nvPr/>
        </p:nvSpPr>
        <p:spPr>
          <a:xfrm>
            <a:off x="156875" y="747200"/>
            <a:ext cx="8640000" cy="2310000"/>
          </a:xfrm>
          <a:prstGeom prst="roundRect">
            <a:avLst>
              <a:gd name="adj" fmla="val 5327"/>
            </a:avLst>
          </a:prstGeom>
          <a:solidFill>
            <a:srgbClr val="F0F4F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7" name="Google Shape;457;p29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525" y="875875"/>
            <a:ext cx="4191750" cy="2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29"/>
          <p:cNvSpPr txBox="1"/>
          <p:nvPr/>
        </p:nvSpPr>
        <p:spPr>
          <a:xfrm>
            <a:off x="201075" y="13495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of our recommended portfolio (Infinite Conservative- L)</a:t>
            </a:r>
            <a:endParaRPr sz="18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59" name="Google Shape;459;p29"/>
          <p:cNvSpPr txBox="1"/>
          <p:nvPr/>
        </p:nvSpPr>
        <p:spPr>
          <a:xfrm>
            <a:off x="10845800" y="2692400"/>
            <a:ext cx="5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29"/>
          <p:cNvSpPr txBox="1"/>
          <p:nvPr/>
        </p:nvSpPr>
        <p:spPr>
          <a:xfrm>
            <a:off x="81350" y="4827108"/>
            <a:ext cx="864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**Downside Capture = (Fund return during down markets ÷ Benchmark return during down markets) × 100 | *** 1M 3M and 6M returns are absolute, while 1Y 2Y 3Y and Since 2021 are annualized | Past performance may not be indicative of future results; returns are subject to market risks.</a:t>
            </a:r>
            <a:endParaRPr sz="650" b="0" i="0" u="none" strike="noStrike" cap="none">
              <a:solidFill>
                <a:srgbClr val="0000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461" name="Google Shape;461;p29"/>
          <p:cNvCxnSpPr/>
          <p:nvPr/>
        </p:nvCxnSpPr>
        <p:spPr>
          <a:xfrm>
            <a:off x="625425" y="933625"/>
            <a:ext cx="0" cy="162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62" name="Google Shape;462;p29"/>
          <p:cNvCxnSpPr/>
          <p:nvPr/>
        </p:nvCxnSpPr>
        <p:spPr>
          <a:xfrm>
            <a:off x="625425" y="2560068"/>
            <a:ext cx="37335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3" name="Google Shape;463;p29"/>
          <p:cNvSpPr txBox="1"/>
          <p:nvPr/>
        </p:nvSpPr>
        <p:spPr>
          <a:xfrm>
            <a:off x="744173" y="933616"/>
            <a:ext cx="777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Benchmark (Nifty 50)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29"/>
          <p:cNvSpPr txBox="1"/>
          <p:nvPr/>
        </p:nvSpPr>
        <p:spPr>
          <a:xfrm>
            <a:off x="1523625" y="972975"/>
            <a:ext cx="12405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Infinite - Conservative- L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1456223" y="1067775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684348" y="1067775"/>
            <a:ext cx="88800" cy="87300"/>
          </a:xfrm>
          <a:prstGeom prst="ellipse">
            <a:avLst/>
          </a:prstGeom>
          <a:solidFill>
            <a:srgbClr val="2E8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67" name="Google Shape;467;p29"/>
          <p:cNvGraphicFramePr/>
          <p:nvPr/>
        </p:nvGraphicFramePr>
        <p:xfrm>
          <a:off x="4628682" y="898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{1018B992-A05E-4D5A-892B-BA135F09D36C}</a:tableStyleId>
              </a:tblPr>
              <a:tblGrid>
                <a:gridCol w="99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6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4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 1Y Avg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Conservative- L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 (Nifty 50)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15.54%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12.92%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2.62%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16.10%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13.87%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2.23%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16.62%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15.01%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1.62%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Downside Capture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74.39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68" name="Google Shape;468;p29"/>
          <p:cNvSpPr txBox="1"/>
          <p:nvPr/>
        </p:nvSpPr>
        <p:spPr>
          <a:xfrm>
            <a:off x="3386629" y="952824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3Y XIRR trend</a:t>
            </a:r>
            <a:endParaRPr sz="9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469" name="Google Shape;469;p29"/>
          <p:cNvGraphicFramePr/>
          <p:nvPr/>
        </p:nvGraphicFramePr>
        <p:xfrm>
          <a:off x="349675" y="3229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{0459D17D-62DC-4A0E-A9B0-A4B277B70E27}</a:tableStyleId>
              </a:tblPr>
              <a:tblGrid>
                <a:gridCol w="1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Trailing Return*** 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(as on 10th Mar 2026)</a:t>
                      </a:r>
                      <a:endParaRPr sz="8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2021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Conservative- L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0.09%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-1.67%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2.97%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16.71%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8.85%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17.93%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15.90%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(Nifty 50)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-4.90%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1.26%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13.64%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6.75%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13.83%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13.05%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-0.12%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3.23%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1.71%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3.07%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2.10%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4.10%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2.85%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0"/>
          <p:cNvSpPr/>
          <p:nvPr/>
        </p:nvSpPr>
        <p:spPr>
          <a:xfrm>
            <a:off x="428700" y="1136406"/>
            <a:ext cx="8481300" cy="3552900"/>
          </a:xfrm>
          <a:prstGeom prst="roundRect">
            <a:avLst>
              <a:gd name="adj" fmla="val 7721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30"/>
          <p:cNvSpPr/>
          <p:nvPr/>
        </p:nvSpPr>
        <p:spPr>
          <a:xfrm>
            <a:off x="714375" y="1925850"/>
            <a:ext cx="3443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250"/>
              <a:buFont typeface="IBM Plex Sans"/>
              <a:buNone/>
            </a:pPr>
            <a:r>
              <a:rPr lang="en-GB" sz="225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Infinite Conservative- S</a:t>
            </a:r>
            <a:endParaRPr sz="225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7" name="Google Shape;477;p30"/>
          <p:cNvSpPr/>
          <p:nvPr/>
        </p:nvSpPr>
        <p:spPr>
          <a:xfrm>
            <a:off x="714375" y="4148137"/>
            <a:ext cx="1476300" cy="2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30"/>
          <p:cNvSpPr/>
          <p:nvPr/>
        </p:nvSpPr>
        <p:spPr>
          <a:xfrm>
            <a:off x="714375" y="2313049"/>
            <a:ext cx="3109800" cy="58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939393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A capital-first plan designed to minimise downside risk while delivering predictable, low-volatility returns.</a:t>
            </a:r>
            <a:endParaRPr sz="1125">
              <a:solidFill>
                <a:srgbClr val="93939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79" name="Google Shape;479;p30"/>
          <p:cNvSpPr/>
          <p:nvPr/>
        </p:nvSpPr>
        <p:spPr>
          <a:xfrm>
            <a:off x="735390" y="3070562"/>
            <a:ext cx="1933500" cy="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900"/>
              <a:buFont typeface="IBM Plex Sans"/>
              <a:buNone/>
            </a:pPr>
            <a:r>
              <a:rPr lang="en-GB" sz="90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Goal Coverage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/>
          <p:nvPr/>
        </p:nvSpPr>
        <p:spPr>
          <a:xfrm>
            <a:off x="4823107" y="2773438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/>
          <p:nvPr/>
        </p:nvSpPr>
        <p:spPr>
          <a:xfrm>
            <a:off x="6810325" y="338477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0"/>
          <p:cNvSpPr/>
          <p:nvPr/>
        </p:nvSpPr>
        <p:spPr>
          <a:xfrm>
            <a:off x="6810375" y="22621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0"/>
          <p:cNvSpPr/>
          <p:nvPr/>
        </p:nvSpPr>
        <p:spPr>
          <a:xfrm>
            <a:off x="6810325" y="22621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0"/>
          <p:cNvSpPr/>
          <p:nvPr/>
        </p:nvSpPr>
        <p:spPr>
          <a:xfrm>
            <a:off x="6810325" y="25710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30"/>
          <p:cNvSpPr/>
          <p:nvPr/>
        </p:nvSpPr>
        <p:spPr>
          <a:xfrm>
            <a:off x="6831175" y="25710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30"/>
          <p:cNvSpPr/>
          <p:nvPr/>
        </p:nvSpPr>
        <p:spPr>
          <a:xfrm>
            <a:off x="6831175" y="27672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30"/>
          <p:cNvSpPr/>
          <p:nvPr/>
        </p:nvSpPr>
        <p:spPr>
          <a:xfrm>
            <a:off x="6831175" y="29634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30"/>
          <p:cNvSpPr/>
          <p:nvPr/>
        </p:nvSpPr>
        <p:spPr>
          <a:xfrm>
            <a:off x="6865088" y="29634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0"/>
          <p:cNvSpPr/>
          <p:nvPr/>
        </p:nvSpPr>
        <p:spPr>
          <a:xfrm>
            <a:off x="6865088" y="27672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30"/>
          <p:cNvSpPr/>
          <p:nvPr/>
        </p:nvSpPr>
        <p:spPr>
          <a:xfrm>
            <a:off x="6865088" y="25710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30"/>
          <p:cNvSpPr/>
          <p:nvPr/>
        </p:nvSpPr>
        <p:spPr>
          <a:xfrm>
            <a:off x="6810325" y="22621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0"/>
          <p:cNvSpPr/>
          <p:nvPr/>
        </p:nvSpPr>
        <p:spPr>
          <a:xfrm>
            <a:off x="6810325" y="3384775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0"/>
          <p:cNvSpPr/>
          <p:nvPr/>
        </p:nvSpPr>
        <p:spPr>
          <a:xfrm>
            <a:off x="7015976" y="29681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0"/>
          <p:cNvSpPr/>
          <p:nvPr/>
        </p:nvSpPr>
        <p:spPr>
          <a:xfrm>
            <a:off x="7983198" y="29681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95" name="Google Shape;495;p30"/>
          <p:cNvSpPr/>
          <p:nvPr/>
        </p:nvSpPr>
        <p:spPr>
          <a:xfrm>
            <a:off x="6991300" y="27719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0"/>
          <p:cNvSpPr/>
          <p:nvPr/>
        </p:nvSpPr>
        <p:spPr>
          <a:xfrm>
            <a:off x="7983198" y="27719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97" name="Google Shape;497;p30"/>
          <p:cNvSpPr/>
          <p:nvPr/>
        </p:nvSpPr>
        <p:spPr>
          <a:xfrm>
            <a:off x="6991300" y="25757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98" name="Google Shape;498;p30"/>
          <p:cNvSpPr/>
          <p:nvPr/>
        </p:nvSpPr>
        <p:spPr>
          <a:xfrm>
            <a:off x="7983198" y="25757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-</a:t>
            </a:r>
            <a:endParaRPr sz="954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99" name="Google Shape;499;p30"/>
          <p:cNvSpPr/>
          <p:nvPr/>
        </p:nvSpPr>
        <p:spPr>
          <a:xfrm>
            <a:off x="6978775" y="22703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0" name="Google Shape;500;p30"/>
          <p:cNvSpPr/>
          <p:nvPr/>
        </p:nvSpPr>
        <p:spPr>
          <a:xfrm>
            <a:off x="7899102" y="22703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01" name="Google Shape;501;p30"/>
          <p:cNvSpPr/>
          <p:nvPr/>
        </p:nvSpPr>
        <p:spPr>
          <a:xfrm>
            <a:off x="7054975" y="3392975"/>
            <a:ext cx="11166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0"/>
          <p:cNvSpPr/>
          <p:nvPr/>
        </p:nvSpPr>
        <p:spPr>
          <a:xfrm>
            <a:off x="7975056" y="3392964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chemeClr val="dk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503" name="Google Shape;503;p30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4391" y="1517736"/>
            <a:ext cx="4457400" cy="2756163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0"/>
          <p:cNvSpPr/>
          <p:nvPr/>
        </p:nvSpPr>
        <p:spPr>
          <a:xfrm>
            <a:off x="6816264" y="3643205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30"/>
          <p:cNvSpPr/>
          <p:nvPr/>
        </p:nvSpPr>
        <p:spPr>
          <a:xfrm>
            <a:off x="6810325" y="364166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7CB8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30"/>
          <p:cNvSpPr/>
          <p:nvPr/>
        </p:nvSpPr>
        <p:spPr>
          <a:xfrm>
            <a:off x="7054975" y="3649850"/>
            <a:ext cx="1163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Gold</a:t>
            </a:r>
            <a:endParaRPr sz="13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0"/>
          <p:cNvSpPr/>
          <p:nvPr/>
        </p:nvSpPr>
        <p:spPr>
          <a:xfrm>
            <a:off x="7887798" y="364985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08" name="Google Shape;508;p30"/>
          <p:cNvSpPr/>
          <p:nvPr/>
        </p:nvSpPr>
        <p:spPr>
          <a:xfrm>
            <a:off x="735400" y="3215785"/>
            <a:ext cx="1933500" cy="7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{{main_goal}}</a:t>
            </a:r>
            <a:b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-GB" sz="10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{{secondary_goal}}</a:t>
            </a:r>
            <a:endParaRPr sz="10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9" name="Google Shape;509;p30"/>
          <p:cNvSpPr/>
          <p:nvPr/>
        </p:nvSpPr>
        <p:spPr>
          <a:xfrm>
            <a:off x="487547" y="476250"/>
            <a:ext cx="2347200" cy="490500"/>
          </a:xfrm>
          <a:prstGeom prst="roundRect">
            <a:avLst>
              <a:gd name="adj" fmla="val 44738"/>
            </a:avLst>
          </a:prstGeom>
          <a:solidFill>
            <a:srgbClr val="F0F4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0"/>
          <p:cNvSpPr/>
          <p:nvPr/>
        </p:nvSpPr>
        <p:spPr>
          <a:xfrm>
            <a:off x="560826" y="628650"/>
            <a:ext cx="2608500" cy="1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D3D3D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3D3D3D"/>
                </a:solidFill>
                <a:latin typeface="IBM Plex Sans"/>
                <a:ea typeface="IBM Plex Sans"/>
                <a:cs typeface="IBM Plex Sans"/>
                <a:sym typeface="IBM Plex Sans"/>
              </a:rPr>
              <a:t>Alternative: SIP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1"/>
          <p:cNvSpPr/>
          <p:nvPr/>
        </p:nvSpPr>
        <p:spPr>
          <a:xfrm>
            <a:off x="156875" y="747200"/>
            <a:ext cx="8640000" cy="2310000"/>
          </a:xfrm>
          <a:prstGeom prst="roundRect">
            <a:avLst>
              <a:gd name="adj" fmla="val 5327"/>
            </a:avLst>
          </a:prstGeom>
          <a:solidFill>
            <a:srgbClr val="F0F4F7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6" name="Google Shape;516;p31" title="Char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9525" y="890719"/>
            <a:ext cx="4191750" cy="2033575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1"/>
          <p:cNvSpPr txBox="1"/>
          <p:nvPr/>
        </p:nvSpPr>
        <p:spPr>
          <a:xfrm>
            <a:off x="201075" y="134950"/>
            <a:ext cx="864000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Performance of our recommended portfolio (Infinite Conservative - S)</a:t>
            </a:r>
            <a:endParaRPr sz="18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8" name="Google Shape;518;p31"/>
          <p:cNvSpPr txBox="1"/>
          <p:nvPr/>
        </p:nvSpPr>
        <p:spPr>
          <a:xfrm>
            <a:off x="10845800" y="2692400"/>
            <a:ext cx="5961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1"/>
          <p:cNvSpPr txBox="1"/>
          <p:nvPr/>
        </p:nvSpPr>
        <p:spPr>
          <a:xfrm>
            <a:off x="81350" y="4827108"/>
            <a:ext cx="86400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-GB" sz="650" b="0" i="0" u="none" strike="noStrike" cap="none">
                <a:solidFill>
                  <a:srgbClr val="000000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**Downside Capture = (Fund return during down markets ÷ Benchmark return during down markets) × 100 | *** 1M 3M and 6M returns are absolute, while 1Y 2Y 3Y and Since 2021 are annualized | Past performance may not be indicative of future results; returns are subject to market risks.</a:t>
            </a:r>
            <a:endParaRPr sz="650" b="0" i="0" u="none" strike="noStrike" cap="none">
              <a:solidFill>
                <a:srgbClr val="000000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520" name="Google Shape;520;p31"/>
          <p:cNvCxnSpPr/>
          <p:nvPr/>
        </p:nvCxnSpPr>
        <p:spPr>
          <a:xfrm>
            <a:off x="625425" y="933625"/>
            <a:ext cx="0" cy="162810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1" name="Google Shape;521;p31"/>
          <p:cNvCxnSpPr/>
          <p:nvPr/>
        </p:nvCxnSpPr>
        <p:spPr>
          <a:xfrm>
            <a:off x="625425" y="2560068"/>
            <a:ext cx="3733500" cy="0"/>
          </a:xfrm>
          <a:prstGeom prst="straightConnector1">
            <a:avLst/>
          </a:prstGeom>
          <a:noFill/>
          <a:ln w="9525" cap="flat" cmpd="sng">
            <a:solidFill>
              <a:srgbClr val="9E9E9E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2" name="Google Shape;522;p31"/>
          <p:cNvSpPr txBox="1"/>
          <p:nvPr/>
        </p:nvSpPr>
        <p:spPr>
          <a:xfrm>
            <a:off x="744173" y="933616"/>
            <a:ext cx="777900" cy="3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Benchmark (Nifty 50)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31"/>
          <p:cNvSpPr txBox="1"/>
          <p:nvPr/>
        </p:nvSpPr>
        <p:spPr>
          <a:xfrm>
            <a:off x="1523625" y="972975"/>
            <a:ext cx="1224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GB" sz="600" b="1" i="0" u="none" strike="noStrike" cap="non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Infinite - Conservative- 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31"/>
          <p:cNvSpPr/>
          <p:nvPr/>
        </p:nvSpPr>
        <p:spPr>
          <a:xfrm>
            <a:off x="1456223" y="1067775"/>
            <a:ext cx="88800" cy="87300"/>
          </a:xfrm>
          <a:prstGeom prst="ellipse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31"/>
          <p:cNvSpPr/>
          <p:nvPr/>
        </p:nvSpPr>
        <p:spPr>
          <a:xfrm>
            <a:off x="684348" y="1067775"/>
            <a:ext cx="88800" cy="87300"/>
          </a:xfrm>
          <a:prstGeom prst="ellipse">
            <a:avLst/>
          </a:prstGeom>
          <a:solidFill>
            <a:srgbClr val="2E8AE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26" name="Google Shape;526;p31"/>
          <p:cNvGraphicFramePr/>
          <p:nvPr/>
        </p:nvGraphicFramePr>
        <p:xfrm>
          <a:off x="4628682" y="89810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{1018B992-A05E-4D5A-892B-BA135F09D36C}</a:tableStyleId>
              </a:tblPr>
              <a:tblGrid>
                <a:gridCol w="112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5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4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2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Last 1Y Avg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Conservative- S</a:t>
                      </a:r>
                      <a:endParaRPr sz="1000" b="1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 (Nifty 50)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16.42%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12.92%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3.49%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16.45%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13.87%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2.58%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7Y XIRR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16.71%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15.01%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1.70%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9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Downside Capture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B0B45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68.69</a:t>
                      </a:r>
                      <a:endParaRPr sz="1000" u="none" strike="noStrike" cap="none">
                        <a:solidFill>
                          <a:srgbClr val="0B0B45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100.0</a:t>
                      </a: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endParaRPr sz="1000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1E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27" name="Google Shape;527;p31"/>
          <p:cNvSpPr txBox="1"/>
          <p:nvPr/>
        </p:nvSpPr>
        <p:spPr>
          <a:xfrm>
            <a:off x="3386629" y="952824"/>
            <a:ext cx="9723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GB" sz="900" b="0" i="0" u="none" strike="noStrike" cap="none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3Y XIRR trend</a:t>
            </a:r>
            <a:endParaRPr sz="900" b="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528" name="Google Shape;528;p31"/>
          <p:cNvGraphicFramePr/>
          <p:nvPr/>
        </p:nvGraphicFramePr>
        <p:xfrm>
          <a:off x="349675" y="32291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{0459D17D-62DC-4A0E-A9B0-A4B277B70E27}</a:tableStyleId>
              </a:tblPr>
              <a:tblGrid>
                <a:gridCol w="167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7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3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4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35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279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630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Trailing Return*** 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8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(as on 10th Mar 2026)</a:t>
                      </a:r>
                      <a:endParaRPr sz="8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6M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3Y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Since 2021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Infinite Conservative- S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-0.17%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-0.25%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5.38%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19.96%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10.94%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19.08%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16.17%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Benchmark (Nifty 50)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0.21%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-4.90%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1.26%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13.64%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6.75%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13.83%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13.05%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7E6E6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6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Alpha</a:t>
                      </a:r>
                      <a:endParaRPr sz="1000" b="1" u="none" strike="noStrike" cap="none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-0.38%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4.65%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4.12%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solidFill>
                            <a:srgbClr val="000000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6.32%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4.19%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5.25%</a:t>
                      </a:r>
                      <a:endParaRPr sz="1000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GB" sz="1000" b="1" u="none" strike="noStrike" cap="none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3.12%</a:t>
                      </a:r>
                      <a:endParaRPr sz="1000" b="1"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2165</Words>
  <Application>Microsoft Office PowerPoint</Application>
  <PresentationFormat>On-screen Show (16:9)</PresentationFormat>
  <Paragraphs>670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DM Sans</vt:lpstr>
      <vt:lpstr>IBM Plex Sans</vt:lpstr>
      <vt:lpstr>Calibri</vt:lpstr>
      <vt:lpstr>Arial</vt:lpstr>
      <vt:lpstr>IBM Plex Sans Light</vt:lpstr>
      <vt:lpstr>IBM Plex Sans Medium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Krutang Thakor</cp:lastModifiedBy>
  <cp:revision>1</cp:revision>
  <dcterms:modified xsi:type="dcterms:W3CDTF">2026-03-28T12:42:59Z</dcterms:modified>
</cp:coreProperties>
</file>